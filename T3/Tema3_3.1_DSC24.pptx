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8" r:id="rId1"/>
  </p:sldMasterIdLst>
  <p:notesMasterIdLst>
    <p:notesMasterId r:id="rId70"/>
  </p:notesMasterIdLst>
  <p:handoutMasterIdLst>
    <p:handoutMasterId r:id="rId71"/>
  </p:handoutMasterIdLst>
  <p:sldIdLst>
    <p:sldId id="256" r:id="rId2"/>
    <p:sldId id="516" r:id="rId3"/>
    <p:sldId id="782" r:id="rId4"/>
    <p:sldId id="783" r:id="rId5"/>
    <p:sldId id="594" r:id="rId6"/>
    <p:sldId id="784" r:id="rId7"/>
    <p:sldId id="429" r:id="rId8"/>
    <p:sldId id="259" r:id="rId9"/>
    <p:sldId id="261" r:id="rId10"/>
    <p:sldId id="262" r:id="rId11"/>
    <p:sldId id="263" r:id="rId12"/>
    <p:sldId id="264" r:id="rId13"/>
    <p:sldId id="265" r:id="rId14"/>
    <p:sldId id="266" r:id="rId15"/>
    <p:sldId id="430" r:id="rId16"/>
    <p:sldId id="431" r:id="rId17"/>
    <p:sldId id="257" r:id="rId18"/>
    <p:sldId id="258" r:id="rId19"/>
    <p:sldId id="788" r:id="rId20"/>
    <p:sldId id="790" r:id="rId21"/>
    <p:sldId id="267" r:id="rId22"/>
    <p:sldId id="802" r:id="rId23"/>
    <p:sldId id="803" r:id="rId24"/>
    <p:sldId id="804" r:id="rId25"/>
    <p:sldId id="809" r:id="rId26"/>
    <p:sldId id="805" r:id="rId27"/>
    <p:sldId id="806" r:id="rId28"/>
    <p:sldId id="807" r:id="rId29"/>
    <p:sldId id="808" r:id="rId30"/>
    <p:sldId id="275" r:id="rId31"/>
    <p:sldId id="276" r:id="rId32"/>
    <p:sldId id="277" r:id="rId33"/>
    <p:sldId id="278" r:id="rId34"/>
    <p:sldId id="279" r:id="rId35"/>
    <p:sldId id="280" r:id="rId36"/>
    <p:sldId id="281" r:id="rId37"/>
    <p:sldId id="283" r:id="rId38"/>
    <p:sldId id="282" r:id="rId39"/>
    <p:sldId id="304" r:id="rId40"/>
    <p:sldId id="325" r:id="rId41"/>
    <p:sldId id="326" r:id="rId42"/>
    <p:sldId id="318" r:id="rId43"/>
    <p:sldId id="319" r:id="rId44"/>
    <p:sldId id="320" r:id="rId45"/>
    <p:sldId id="322" r:id="rId46"/>
    <p:sldId id="323" r:id="rId47"/>
    <p:sldId id="324" r:id="rId48"/>
    <p:sldId id="328" r:id="rId49"/>
    <p:sldId id="286" r:id="rId50"/>
    <p:sldId id="287" r:id="rId51"/>
    <p:sldId id="295" r:id="rId52"/>
    <p:sldId id="296" r:id="rId53"/>
    <p:sldId id="297" r:id="rId54"/>
    <p:sldId id="298" r:id="rId55"/>
    <p:sldId id="299" r:id="rId56"/>
    <p:sldId id="317" r:id="rId57"/>
    <p:sldId id="305" r:id="rId58"/>
    <p:sldId id="306" r:id="rId59"/>
    <p:sldId id="307" r:id="rId60"/>
    <p:sldId id="308" r:id="rId61"/>
    <p:sldId id="432" r:id="rId62"/>
    <p:sldId id="787" r:id="rId63"/>
    <p:sldId id="611" r:id="rId64"/>
    <p:sldId id="613" r:id="rId65"/>
    <p:sldId id="614" r:id="rId66"/>
    <p:sldId id="615" r:id="rId67"/>
    <p:sldId id="616" r:id="rId68"/>
    <p:sldId id="617" r:id="rId6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 id="{FC2C48A8-0C3E-4F85-B520-FE592C579225}">
          <p14:sldIdLst>
            <p14:sldId id="256"/>
            <p14:sldId id="516"/>
            <p14:sldId id="782"/>
            <p14:sldId id="783"/>
            <p14:sldId id="594"/>
            <p14:sldId id="784"/>
            <p14:sldId id="429"/>
            <p14:sldId id="259"/>
            <p14:sldId id="261"/>
            <p14:sldId id="262"/>
            <p14:sldId id="263"/>
            <p14:sldId id="264"/>
            <p14:sldId id="265"/>
            <p14:sldId id="266"/>
            <p14:sldId id="430"/>
            <p14:sldId id="431"/>
            <p14:sldId id="257"/>
            <p14:sldId id="258"/>
            <p14:sldId id="788"/>
            <p14:sldId id="790"/>
            <p14:sldId id="267"/>
            <p14:sldId id="802"/>
            <p14:sldId id="803"/>
            <p14:sldId id="804"/>
            <p14:sldId id="809"/>
            <p14:sldId id="805"/>
            <p14:sldId id="806"/>
            <p14:sldId id="807"/>
            <p14:sldId id="808"/>
            <p14:sldId id="275"/>
            <p14:sldId id="276"/>
            <p14:sldId id="277"/>
            <p14:sldId id="278"/>
            <p14:sldId id="279"/>
            <p14:sldId id="280"/>
            <p14:sldId id="281"/>
            <p14:sldId id="283"/>
            <p14:sldId id="282"/>
            <p14:sldId id="304"/>
            <p14:sldId id="325"/>
            <p14:sldId id="326"/>
            <p14:sldId id="318"/>
            <p14:sldId id="319"/>
            <p14:sldId id="320"/>
            <p14:sldId id="322"/>
            <p14:sldId id="323"/>
            <p14:sldId id="324"/>
            <p14:sldId id="328"/>
            <p14:sldId id="286"/>
            <p14:sldId id="287"/>
            <p14:sldId id="295"/>
            <p14:sldId id="296"/>
            <p14:sldId id="297"/>
            <p14:sldId id="298"/>
            <p14:sldId id="299"/>
            <p14:sldId id="317"/>
            <p14:sldId id="305"/>
            <p14:sldId id="306"/>
            <p14:sldId id="307"/>
            <p14:sldId id="308"/>
            <p14:sldId id="432"/>
            <p14:sldId id="787"/>
            <p14:sldId id="611"/>
            <p14:sldId id="613"/>
            <p14:sldId id="614"/>
            <p14:sldId id="615"/>
            <p14:sldId id="616"/>
            <p14:sldId id="617"/>
          </p14:sldIdLst>
        </p14:section>
        <p14:section name="Introduction" id="{380D269F-7B28-4CEC-9DB8-BD4926B12276}">
          <p14:sldIdLst/>
        </p14:section>
        <p14:section name="PSQUASAR" id="{E9EBA62B-0130-414D-AF97-4085C53C25D4}">
          <p14:sldIdLst/>
        </p14:section>
        <p14:section name="PQS" id="{741A0E5B-9068-4218-B105-EAF972A3F687}">
          <p14:sldIdLst/>
        </p14:section>
        <p14:section name="Case study" id="{21E85042-12F4-45E3-AFDE-18AE39D1A6E7}">
          <p14:sldIdLst/>
        </p14:section>
        <p14:section name="SCADA" id="{E94301D7-6E71-4E5B-B4F3-0B27FF0911E3}">
          <p14:sldIdLst/>
        </p14:section>
        <p14:section name="Conclusions" id="{93B19ED0-4245-45AF-8DD7-8CC7CC3DBB80}">
          <p14:sldIdLst/>
        </p14:section>
        <p14:section name="Otros" id="{1972AB1D-CD80-40BC-9B63-3C01CB42247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364ABE-EAC8-AF46-A335-CAF4771E0394}" v="275" dt="2024-10-27T09:35:44.93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94684"/>
  </p:normalViewPr>
  <p:slideViewPr>
    <p:cSldViewPr snapToGrid="0">
      <p:cViewPr varScale="1">
        <p:scale>
          <a:sx n="114" d="100"/>
          <a:sy n="114" d="100"/>
        </p:scale>
        <p:origin x="1016" y="17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uel Díaz Rodríguez" userId="ad3297c4-a1d0-4ef3-804a-cf14fe12b873" providerId="ADAL" clId="{22DABCAE-A5B7-7348-BA65-0B4A900A9617}"/>
    <pc:docChg chg="undo custSel addSld modSld modSection">
      <pc:chgData name="Manuel Díaz Rodríguez" userId="ad3297c4-a1d0-4ef3-804a-cf14fe12b873" providerId="ADAL" clId="{22DABCAE-A5B7-7348-BA65-0B4A900A9617}" dt="2024-10-24T07:17:29.348" v="105" actId="404"/>
      <pc:docMkLst>
        <pc:docMk/>
      </pc:docMkLst>
      <pc:sldChg chg="addSp delSp modSp add mod">
        <pc:chgData name="Manuel Díaz Rodríguez" userId="ad3297c4-a1d0-4ef3-804a-cf14fe12b873" providerId="ADAL" clId="{22DABCAE-A5B7-7348-BA65-0B4A900A9617}" dt="2024-10-24T07:17:29.348" v="105" actId="404"/>
        <pc:sldMkLst>
          <pc:docMk/>
          <pc:sldMk cId="3710052723" sldId="809"/>
        </pc:sldMkLst>
        <pc:spChg chg="mod">
          <ac:chgData name="Manuel Díaz Rodríguez" userId="ad3297c4-a1d0-4ef3-804a-cf14fe12b873" providerId="ADAL" clId="{22DABCAE-A5B7-7348-BA65-0B4A900A9617}" dt="2024-10-24T07:17:29.348" v="105" actId="404"/>
          <ac:spMkLst>
            <pc:docMk/>
            <pc:sldMk cId="3710052723" sldId="809"/>
            <ac:spMk id="3" creationId="{F7877D0B-0AEE-212C-07E1-E6CEA0EF7644}"/>
          </ac:spMkLst>
        </pc:spChg>
        <pc:spChg chg="add mod">
          <ac:chgData name="Manuel Díaz Rodríguez" userId="ad3297c4-a1d0-4ef3-804a-cf14fe12b873" providerId="ADAL" clId="{22DABCAE-A5B7-7348-BA65-0B4A900A9617}" dt="2024-10-24T07:17:12.404" v="103" actId="404"/>
          <ac:spMkLst>
            <pc:docMk/>
            <pc:sldMk cId="3710052723" sldId="809"/>
            <ac:spMk id="4" creationId="{683B622E-2C87-2050-839E-078840180CC6}"/>
          </ac:spMkLst>
        </pc:spChg>
        <pc:spChg chg="del">
          <ac:chgData name="Manuel Díaz Rodríguez" userId="ad3297c4-a1d0-4ef3-804a-cf14fe12b873" providerId="ADAL" clId="{22DABCAE-A5B7-7348-BA65-0B4A900A9617}" dt="2024-10-24T06:40:45.188" v="31" actId="478"/>
          <ac:spMkLst>
            <pc:docMk/>
            <pc:sldMk cId="3710052723" sldId="809"/>
            <ac:spMk id="9" creationId="{ABDA498B-0DCA-1B48-92DE-DDD2E7759020}"/>
          </ac:spMkLst>
        </pc:spChg>
        <pc:picChg chg="add mod">
          <ac:chgData name="Manuel Díaz Rodríguez" userId="ad3297c4-a1d0-4ef3-804a-cf14fe12b873" providerId="ADAL" clId="{22DABCAE-A5B7-7348-BA65-0B4A900A9617}" dt="2024-10-24T07:17:17.131" v="104" actId="1076"/>
          <ac:picMkLst>
            <pc:docMk/>
            <pc:sldMk cId="3710052723" sldId="809"/>
            <ac:picMk id="5" creationId="{1464CA8E-C0B3-EBF8-20C9-C61EB1908D41}"/>
          </ac:picMkLst>
        </pc:picChg>
        <pc:picChg chg="del mod">
          <ac:chgData name="Manuel Díaz Rodríguez" userId="ad3297c4-a1d0-4ef3-804a-cf14fe12b873" providerId="ADAL" clId="{22DABCAE-A5B7-7348-BA65-0B4A900A9617}" dt="2024-10-24T06:40:41.712" v="30" actId="478"/>
          <ac:picMkLst>
            <pc:docMk/>
            <pc:sldMk cId="3710052723" sldId="809"/>
            <ac:picMk id="6" creationId="{59964B9D-CB32-8AAF-5B76-44DE1A9E7C58}"/>
          </ac:picMkLst>
        </pc:picChg>
        <pc:picChg chg="del mod">
          <ac:chgData name="Manuel Díaz Rodríguez" userId="ad3297c4-a1d0-4ef3-804a-cf14fe12b873" providerId="ADAL" clId="{22DABCAE-A5B7-7348-BA65-0B4A900A9617}" dt="2024-10-24T07:16:16.950" v="93" actId="478"/>
          <ac:picMkLst>
            <pc:docMk/>
            <pc:sldMk cId="3710052723" sldId="809"/>
            <ac:picMk id="8" creationId="{2E82643C-6D1A-5874-F085-49E1D2E435E8}"/>
          </ac:picMkLst>
        </pc:picChg>
      </pc:sldChg>
    </pc:docChg>
  </pc:docChgLst>
  <pc:docChgLst>
    <pc:chgData name="Manuel Díaz Rodríguez" userId="ad3297c4-a1d0-4ef3-804a-cf14fe12b873" providerId="ADAL" clId="{EF364ABE-EAC8-AF46-A335-CAF4771E0394}"/>
    <pc:docChg chg="undo redo custSel addSld delSld modSld modSection">
      <pc:chgData name="Manuel Díaz Rodríguez" userId="ad3297c4-a1d0-4ef3-804a-cf14fe12b873" providerId="ADAL" clId="{EF364ABE-EAC8-AF46-A335-CAF4771E0394}" dt="2024-10-27T09:35:44.937" v="274" actId="1076"/>
      <pc:docMkLst>
        <pc:docMk/>
      </pc:docMkLst>
      <pc:sldChg chg="modSp mod">
        <pc:chgData name="Manuel Díaz Rodríguez" userId="ad3297c4-a1d0-4ef3-804a-cf14fe12b873" providerId="ADAL" clId="{EF364ABE-EAC8-AF46-A335-CAF4771E0394}" dt="2024-10-27T08:52:50.975" v="9" actId="27636"/>
        <pc:sldMkLst>
          <pc:docMk/>
          <pc:sldMk cId="0" sldId="611"/>
        </pc:sldMkLst>
        <pc:spChg chg="mod">
          <ac:chgData name="Manuel Díaz Rodríguez" userId="ad3297c4-a1d0-4ef3-804a-cf14fe12b873" providerId="ADAL" clId="{EF364ABE-EAC8-AF46-A335-CAF4771E0394}" dt="2024-10-27T08:52:50.975" v="9" actId="27636"/>
          <ac:spMkLst>
            <pc:docMk/>
            <pc:sldMk cId="0" sldId="611"/>
            <ac:spMk id="21505" creationId="{00000000-0000-0000-0000-000000000000}"/>
          </ac:spMkLst>
        </pc:spChg>
      </pc:sldChg>
      <pc:sldChg chg="modSp mod">
        <pc:chgData name="Manuel Díaz Rodríguez" userId="ad3297c4-a1d0-4ef3-804a-cf14fe12b873" providerId="ADAL" clId="{EF364ABE-EAC8-AF46-A335-CAF4771E0394}" dt="2024-10-27T08:53:20.891" v="11" actId="14100"/>
        <pc:sldMkLst>
          <pc:docMk/>
          <pc:sldMk cId="0" sldId="613"/>
        </pc:sldMkLst>
        <pc:spChg chg="mod">
          <ac:chgData name="Manuel Díaz Rodríguez" userId="ad3297c4-a1d0-4ef3-804a-cf14fe12b873" providerId="ADAL" clId="{EF364ABE-EAC8-AF46-A335-CAF4771E0394}" dt="2024-10-27T08:53:20.891" v="11" actId="14100"/>
          <ac:spMkLst>
            <pc:docMk/>
            <pc:sldMk cId="0" sldId="613"/>
            <ac:spMk id="25603" creationId="{00000000-0000-0000-0000-000000000000}"/>
          </ac:spMkLst>
        </pc:spChg>
      </pc:sldChg>
      <pc:sldChg chg="addSp modSp mod">
        <pc:chgData name="Manuel Díaz Rodríguez" userId="ad3297c4-a1d0-4ef3-804a-cf14fe12b873" providerId="ADAL" clId="{EF364ABE-EAC8-AF46-A335-CAF4771E0394}" dt="2024-10-27T08:54:47.278" v="16" actId="1076"/>
        <pc:sldMkLst>
          <pc:docMk/>
          <pc:sldMk cId="0" sldId="614"/>
        </pc:sldMkLst>
        <pc:spChg chg="add mod">
          <ac:chgData name="Manuel Díaz Rodríguez" userId="ad3297c4-a1d0-4ef3-804a-cf14fe12b873" providerId="ADAL" clId="{EF364ABE-EAC8-AF46-A335-CAF4771E0394}" dt="2024-10-27T08:54:47.278" v="16" actId="1076"/>
          <ac:spMkLst>
            <pc:docMk/>
            <pc:sldMk cId="0" sldId="614"/>
            <ac:spMk id="2" creationId="{F7B3CF9F-9C8B-B507-6284-0D950E08DC32}"/>
          </ac:spMkLst>
        </pc:spChg>
        <pc:spChg chg="mod">
          <ac:chgData name="Manuel Díaz Rodríguez" userId="ad3297c4-a1d0-4ef3-804a-cf14fe12b873" providerId="ADAL" clId="{EF364ABE-EAC8-AF46-A335-CAF4771E0394}" dt="2024-10-27T08:54:12.409" v="13" actId="207"/>
          <ac:spMkLst>
            <pc:docMk/>
            <pc:sldMk cId="0" sldId="614"/>
            <ac:spMk id="27656" creationId="{00000000-0000-0000-0000-000000000000}"/>
          </ac:spMkLst>
        </pc:spChg>
        <pc:spChg chg="mod">
          <ac:chgData name="Manuel Díaz Rodríguez" userId="ad3297c4-a1d0-4ef3-804a-cf14fe12b873" providerId="ADAL" clId="{EF364ABE-EAC8-AF46-A335-CAF4771E0394}" dt="2024-10-27T08:54:17.557" v="14" actId="207"/>
          <ac:spMkLst>
            <pc:docMk/>
            <pc:sldMk cId="0" sldId="614"/>
            <ac:spMk id="27657" creationId="{00000000-0000-0000-0000-000000000000}"/>
          </ac:spMkLst>
        </pc:spChg>
        <pc:spChg chg="mod">
          <ac:chgData name="Manuel Díaz Rodríguez" userId="ad3297c4-a1d0-4ef3-804a-cf14fe12b873" providerId="ADAL" clId="{EF364ABE-EAC8-AF46-A335-CAF4771E0394}" dt="2024-10-27T08:53:55.803" v="12" actId="947"/>
          <ac:spMkLst>
            <pc:docMk/>
            <pc:sldMk cId="0" sldId="614"/>
            <ac:spMk id="27665" creationId="{00000000-0000-0000-0000-000000000000}"/>
          </ac:spMkLst>
        </pc:spChg>
      </pc:sldChg>
      <pc:sldChg chg="modSp mod">
        <pc:chgData name="Manuel Díaz Rodríguez" userId="ad3297c4-a1d0-4ef3-804a-cf14fe12b873" providerId="ADAL" clId="{EF364ABE-EAC8-AF46-A335-CAF4771E0394}" dt="2024-10-27T08:56:01.137" v="20" actId="14100"/>
        <pc:sldMkLst>
          <pc:docMk/>
          <pc:sldMk cId="0" sldId="616"/>
        </pc:sldMkLst>
        <pc:spChg chg="mod">
          <ac:chgData name="Manuel Díaz Rodríguez" userId="ad3297c4-a1d0-4ef3-804a-cf14fe12b873" providerId="ADAL" clId="{EF364ABE-EAC8-AF46-A335-CAF4771E0394}" dt="2024-10-27T08:55:38.053" v="17" actId="947"/>
          <ac:spMkLst>
            <pc:docMk/>
            <pc:sldMk cId="0" sldId="616"/>
            <ac:spMk id="31747" creationId="{00000000-0000-0000-0000-000000000000}"/>
          </ac:spMkLst>
        </pc:spChg>
        <pc:spChg chg="mod">
          <ac:chgData name="Manuel Díaz Rodríguez" userId="ad3297c4-a1d0-4ef3-804a-cf14fe12b873" providerId="ADAL" clId="{EF364ABE-EAC8-AF46-A335-CAF4771E0394}" dt="2024-10-27T08:56:01.137" v="20" actId="14100"/>
          <ac:spMkLst>
            <pc:docMk/>
            <pc:sldMk cId="0" sldId="616"/>
            <ac:spMk id="31759" creationId="{00000000-0000-0000-0000-000000000000}"/>
          </ac:spMkLst>
        </pc:spChg>
      </pc:sldChg>
      <pc:sldChg chg="modSp mod">
        <pc:chgData name="Manuel Díaz Rodríguez" userId="ad3297c4-a1d0-4ef3-804a-cf14fe12b873" providerId="ADAL" clId="{EF364ABE-EAC8-AF46-A335-CAF4771E0394}" dt="2024-10-27T08:56:57.826" v="24" actId="1076"/>
        <pc:sldMkLst>
          <pc:docMk/>
          <pc:sldMk cId="0" sldId="660"/>
        </pc:sldMkLst>
        <pc:spChg chg="mod">
          <ac:chgData name="Manuel Díaz Rodríguez" userId="ad3297c4-a1d0-4ef3-804a-cf14fe12b873" providerId="ADAL" clId="{EF364ABE-EAC8-AF46-A335-CAF4771E0394}" dt="2024-10-27T08:56:57.826" v="24" actId="1076"/>
          <ac:spMkLst>
            <pc:docMk/>
            <pc:sldMk cId="0" sldId="660"/>
            <ac:spMk id="19458" creationId="{00000000-0000-0000-0000-000000000000}"/>
          </ac:spMkLst>
        </pc:spChg>
      </pc:sldChg>
      <pc:sldChg chg="modSp mod">
        <pc:chgData name="Manuel Díaz Rodríguez" userId="ad3297c4-a1d0-4ef3-804a-cf14fe12b873" providerId="ADAL" clId="{EF364ABE-EAC8-AF46-A335-CAF4771E0394}" dt="2024-10-27T08:57:35.038" v="29" actId="207"/>
        <pc:sldMkLst>
          <pc:docMk/>
          <pc:sldMk cId="0" sldId="661"/>
        </pc:sldMkLst>
        <pc:spChg chg="mod">
          <ac:chgData name="Manuel Díaz Rodríguez" userId="ad3297c4-a1d0-4ef3-804a-cf14fe12b873" providerId="ADAL" clId="{EF364ABE-EAC8-AF46-A335-CAF4771E0394}" dt="2024-10-27T08:57:35.038" v="29" actId="207"/>
          <ac:spMkLst>
            <pc:docMk/>
            <pc:sldMk cId="0" sldId="661"/>
            <ac:spMk id="16387" creationId="{00000000-0000-0000-0000-000000000000}"/>
          </ac:spMkLst>
        </pc:spChg>
      </pc:sldChg>
      <pc:sldChg chg="modSp mod">
        <pc:chgData name="Manuel Díaz Rodríguez" userId="ad3297c4-a1d0-4ef3-804a-cf14fe12b873" providerId="ADAL" clId="{EF364ABE-EAC8-AF46-A335-CAF4771E0394}" dt="2024-10-27T08:58:39.736" v="59" actId="20577"/>
        <pc:sldMkLst>
          <pc:docMk/>
          <pc:sldMk cId="0" sldId="663"/>
        </pc:sldMkLst>
        <pc:spChg chg="mod">
          <ac:chgData name="Manuel Díaz Rodríguez" userId="ad3297c4-a1d0-4ef3-804a-cf14fe12b873" providerId="ADAL" clId="{EF364ABE-EAC8-AF46-A335-CAF4771E0394}" dt="2024-10-27T08:58:39.736" v="59" actId="20577"/>
          <ac:spMkLst>
            <pc:docMk/>
            <pc:sldMk cId="0" sldId="663"/>
            <ac:spMk id="18435" creationId="{00000000-0000-0000-0000-000000000000}"/>
          </ac:spMkLst>
        </pc:spChg>
      </pc:sldChg>
      <pc:sldChg chg="modSp mod">
        <pc:chgData name="Manuel Díaz Rodríguez" userId="ad3297c4-a1d0-4ef3-804a-cf14fe12b873" providerId="ADAL" clId="{EF364ABE-EAC8-AF46-A335-CAF4771E0394}" dt="2024-10-27T09:05:41.873" v="102" actId="1076"/>
        <pc:sldMkLst>
          <pc:docMk/>
          <pc:sldMk cId="0" sldId="664"/>
        </pc:sldMkLst>
        <pc:spChg chg="mod">
          <ac:chgData name="Manuel Díaz Rodríguez" userId="ad3297c4-a1d0-4ef3-804a-cf14fe12b873" providerId="ADAL" clId="{EF364ABE-EAC8-AF46-A335-CAF4771E0394}" dt="2024-10-27T09:05:35.024" v="101" actId="1076"/>
          <ac:spMkLst>
            <pc:docMk/>
            <pc:sldMk cId="0" sldId="664"/>
            <ac:spMk id="4" creationId="{00000000-0000-0000-0000-000000000000}"/>
          </ac:spMkLst>
        </pc:spChg>
        <pc:spChg chg="mod">
          <ac:chgData name="Manuel Díaz Rodríguez" userId="ad3297c4-a1d0-4ef3-804a-cf14fe12b873" providerId="ADAL" clId="{EF364ABE-EAC8-AF46-A335-CAF4771E0394}" dt="2024-10-27T09:05:41.873" v="102" actId="1076"/>
          <ac:spMkLst>
            <pc:docMk/>
            <pc:sldMk cId="0" sldId="664"/>
            <ac:spMk id="27649" creationId="{00000000-0000-0000-0000-000000000000}"/>
          </ac:spMkLst>
        </pc:spChg>
      </pc:sldChg>
      <pc:sldChg chg="modSp mod">
        <pc:chgData name="Manuel Díaz Rodríguez" userId="ad3297c4-a1d0-4ef3-804a-cf14fe12b873" providerId="ADAL" clId="{EF364ABE-EAC8-AF46-A335-CAF4771E0394}" dt="2024-10-27T09:01:09.809" v="75" actId="27636"/>
        <pc:sldMkLst>
          <pc:docMk/>
          <pc:sldMk cId="0" sldId="665"/>
        </pc:sldMkLst>
        <pc:spChg chg="mod">
          <ac:chgData name="Manuel Díaz Rodríguez" userId="ad3297c4-a1d0-4ef3-804a-cf14fe12b873" providerId="ADAL" clId="{EF364ABE-EAC8-AF46-A335-CAF4771E0394}" dt="2024-10-27T09:01:09.809" v="75" actId="27636"/>
          <ac:spMkLst>
            <pc:docMk/>
            <pc:sldMk cId="0" sldId="665"/>
            <ac:spMk id="29697" creationId="{00000000-0000-0000-0000-000000000000}"/>
          </ac:spMkLst>
        </pc:spChg>
      </pc:sldChg>
      <pc:sldChg chg="modSp mod">
        <pc:chgData name="Manuel Díaz Rodríguez" userId="ad3297c4-a1d0-4ef3-804a-cf14fe12b873" providerId="ADAL" clId="{EF364ABE-EAC8-AF46-A335-CAF4771E0394}" dt="2024-10-27T09:01:38.747" v="77" actId="14100"/>
        <pc:sldMkLst>
          <pc:docMk/>
          <pc:sldMk cId="0" sldId="666"/>
        </pc:sldMkLst>
        <pc:spChg chg="mod">
          <ac:chgData name="Manuel Díaz Rodríguez" userId="ad3297c4-a1d0-4ef3-804a-cf14fe12b873" providerId="ADAL" clId="{EF364ABE-EAC8-AF46-A335-CAF4771E0394}" dt="2024-10-27T09:01:38.747" v="77" actId="14100"/>
          <ac:spMkLst>
            <pc:docMk/>
            <pc:sldMk cId="0" sldId="666"/>
            <ac:spMk id="31745" creationId="{00000000-0000-0000-0000-000000000000}"/>
          </ac:spMkLst>
        </pc:spChg>
      </pc:sldChg>
      <pc:sldChg chg="modSp mod">
        <pc:chgData name="Manuel Díaz Rodríguez" userId="ad3297c4-a1d0-4ef3-804a-cf14fe12b873" providerId="ADAL" clId="{EF364ABE-EAC8-AF46-A335-CAF4771E0394}" dt="2024-10-27T09:03:32.725" v="90" actId="207"/>
        <pc:sldMkLst>
          <pc:docMk/>
          <pc:sldMk cId="0" sldId="667"/>
        </pc:sldMkLst>
        <pc:spChg chg="mod">
          <ac:chgData name="Manuel Díaz Rodríguez" userId="ad3297c4-a1d0-4ef3-804a-cf14fe12b873" providerId="ADAL" clId="{EF364ABE-EAC8-AF46-A335-CAF4771E0394}" dt="2024-10-27T09:02:13.196" v="79" actId="1076"/>
          <ac:spMkLst>
            <pc:docMk/>
            <pc:sldMk cId="0" sldId="667"/>
            <ac:spMk id="68609" creationId="{00000000-0000-0000-0000-000000000000}"/>
          </ac:spMkLst>
        </pc:spChg>
        <pc:spChg chg="mod">
          <ac:chgData name="Manuel Díaz Rodríguez" userId="ad3297c4-a1d0-4ef3-804a-cf14fe12b873" providerId="ADAL" clId="{EF364ABE-EAC8-AF46-A335-CAF4771E0394}" dt="2024-10-27T09:02:41.883" v="84" actId="403"/>
          <ac:spMkLst>
            <pc:docMk/>
            <pc:sldMk cId="0" sldId="667"/>
            <ac:spMk id="68610" creationId="{00000000-0000-0000-0000-000000000000}"/>
          </ac:spMkLst>
        </pc:spChg>
        <pc:spChg chg="mod">
          <ac:chgData name="Manuel Díaz Rodríguez" userId="ad3297c4-a1d0-4ef3-804a-cf14fe12b873" providerId="ADAL" clId="{EF364ABE-EAC8-AF46-A335-CAF4771E0394}" dt="2024-10-27T09:03:32.725" v="90" actId="207"/>
          <ac:spMkLst>
            <pc:docMk/>
            <pc:sldMk cId="0" sldId="667"/>
            <ac:spMk id="68611" creationId="{00000000-0000-0000-0000-000000000000}"/>
          </ac:spMkLst>
        </pc:spChg>
      </pc:sldChg>
      <pc:sldChg chg="modSp mod">
        <pc:chgData name="Manuel Díaz Rodríguez" userId="ad3297c4-a1d0-4ef3-804a-cf14fe12b873" providerId="ADAL" clId="{EF364ABE-EAC8-AF46-A335-CAF4771E0394}" dt="2024-10-27T09:06:24.042" v="106" actId="14100"/>
        <pc:sldMkLst>
          <pc:docMk/>
          <pc:sldMk cId="0" sldId="668"/>
        </pc:sldMkLst>
        <pc:spChg chg="mod">
          <ac:chgData name="Manuel Díaz Rodríguez" userId="ad3297c4-a1d0-4ef3-804a-cf14fe12b873" providerId="ADAL" clId="{EF364ABE-EAC8-AF46-A335-CAF4771E0394}" dt="2024-10-27T09:06:14.014" v="104" actId="1076"/>
          <ac:spMkLst>
            <pc:docMk/>
            <pc:sldMk cId="0" sldId="668"/>
            <ac:spMk id="70657" creationId="{00000000-0000-0000-0000-000000000000}"/>
          </ac:spMkLst>
        </pc:spChg>
        <pc:spChg chg="mod">
          <ac:chgData name="Manuel Díaz Rodríguez" userId="ad3297c4-a1d0-4ef3-804a-cf14fe12b873" providerId="ADAL" clId="{EF364ABE-EAC8-AF46-A335-CAF4771E0394}" dt="2024-10-27T09:06:24.042" v="106" actId="14100"/>
          <ac:spMkLst>
            <pc:docMk/>
            <pc:sldMk cId="0" sldId="668"/>
            <ac:spMk id="70658" creationId="{00000000-0000-0000-0000-000000000000}"/>
          </ac:spMkLst>
        </pc:spChg>
      </pc:sldChg>
      <pc:sldChg chg="modSp mod">
        <pc:chgData name="Manuel Díaz Rodríguez" userId="ad3297c4-a1d0-4ef3-804a-cf14fe12b873" providerId="ADAL" clId="{EF364ABE-EAC8-AF46-A335-CAF4771E0394}" dt="2024-10-27T09:07:47.005" v="114" actId="207"/>
        <pc:sldMkLst>
          <pc:docMk/>
          <pc:sldMk cId="0" sldId="669"/>
        </pc:sldMkLst>
        <pc:spChg chg="mod">
          <ac:chgData name="Manuel Díaz Rodríguez" userId="ad3297c4-a1d0-4ef3-804a-cf14fe12b873" providerId="ADAL" clId="{EF364ABE-EAC8-AF46-A335-CAF4771E0394}" dt="2024-10-27T09:07:47.005" v="114" actId="207"/>
          <ac:spMkLst>
            <pc:docMk/>
            <pc:sldMk cId="0" sldId="669"/>
            <ac:spMk id="3" creationId="{00000000-0000-0000-0000-000000000000}"/>
          </ac:spMkLst>
        </pc:spChg>
        <pc:spChg chg="mod">
          <ac:chgData name="Manuel Díaz Rodríguez" userId="ad3297c4-a1d0-4ef3-804a-cf14fe12b873" providerId="ADAL" clId="{EF364ABE-EAC8-AF46-A335-CAF4771E0394}" dt="2024-10-27T09:06:33.967" v="107" actId="1076"/>
          <ac:spMkLst>
            <pc:docMk/>
            <pc:sldMk cId="0" sldId="669"/>
            <ac:spMk id="72705" creationId="{00000000-0000-0000-0000-000000000000}"/>
          </ac:spMkLst>
        </pc:spChg>
      </pc:sldChg>
      <pc:sldChg chg="modSp mod">
        <pc:chgData name="Manuel Díaz Rodríguez" userId="ad3297c4-a1d0-4ef3-804a-cf14fe12b873" providerId="ADAL" clId="{EF364ABE-EAC8-AF46-A335-CAF4771E0394}" dt="2024-10-27T09:07:44.189" v="112" actId="1076"/>
        <pc:sldMkLst>
          <pc:docMk/>
          <pc:sldMk cId="0" sldId="670"/>
        </pc:sldMkLst>
        <pc:grpChg chg="mod">
          <ac:chgData name="Manuel Díaz Rodríguez" userId="ad3297c4-a1d0-4ef3-804a-cf14fe12b873" providerId="ADAL" clId="{EF364ABE-EAC8-AF46-A335-CAF4771E0394}" dt="2024-10-27T09:07:44.189" v="112" actId="1076"/>
          <ac:grpSpMkLst>
            <pc:docMk/>
            <pc:sldMk cId="0" sldId="670"/>
            <ac:grpSpMk id="27" creationId="{00000000-0000-0000-0000-000000000000}"/>
          </ac:grpSpMkLst>
        </pc:grpChg>
      </pc:sldChg>
      <pc:sldChg chg="modSp mod">
        <pc:chgData name="Manuel Díaz Rodríguez" userId="ad3297c4-a1d0-4ef3-804a-cf14fe12b873" providerId="ADAL" clId="{EF364ABE-EAC8-AF46-A335-CAF4771E0394}" dt="2024-10-27T09:08:48.168" v="123" actId="207"/>
        <pc:sldMkLst>
          <pc:docMk/>
          <pc:sldMk cId="0" sldId="673"/>
        </pc:sldMkLst>
        <pc:spChg chg="mod">
          <ac:chgData name="Manuel Díaz Rodríguez" userId="ad3297c4-a1d0-4ef3-804a-cf14fe12b873" providerId="ADAL" clId="{EF364ABE-EAC8-AF46-A335-CAF4771E0394}" dt="2024-10-27T09:08:48.168" v="123" actId="207"/>
          <ac:spMkLst>
            <pc:docMk/>
            <pc:sldMk cId="0" sldId="673"/>
            <ac:spMk id="3" creationId="{00000000-0000-0000-0000-000000000000}"/>
          </ac:spMkLst>
        </pc:spChg>
        <pc:spChg chg="mod">
          <ac:chgData name="Manuel Díaz Rodríguez" userId="ad3297c4-a1d0-4ef3-804a-cf14fe12b873" providerId="ADAL" clId="{EF364ABE-EAC8-AF46-A335-CAF4771E0394}" dt="2024-10-27T09:08:11.626" v="116" actId="1076"/>
          <ac:spMkLst>
            <pc:docMk/>
            <pc:sldMk cId="0" sldId="673"/>
            <ac:spMk id="80897" creationId="{00000000-0000-0000-0000-000000000000}"/>
          </ac:spMkLst>
        </pc:spChg>
      </pc:sldChg>
      <pc:sldChg chg="modSp mod">
        <pc:chgData name="Manuel Díaz Rodríguez" userId="ad3297c4-a1d0-4ef3-804a-cf14fe12b873" providerId="ADAL" clId="{EF364ABE-EAC8-AF46-A335-CAF4771E0394}" dt="2024-10-27T09:11:23.548" v="128" actId="20577"/>
        <pc:sldMkLst>
          <pc:docMk/>
          <pc:sldMk cId="0" sldId="684"/>
        </pc:sldMkLst>
        <pc:spChg chg="mod">
          <ac:chgData name="Manuel Díaz Rodríguez" userId="ad3297c4-a1d0-4ef3-804a-cf14fe12b873" providerId="ADAL" clId="{EF364ABE-EAC8-AF46-A335-CAF4771E0394}" dt="2024-10-27T09:10:39.113" v="125" actId="1076"/>
          <ac:spMkLst>
            <pc:docMk/>
            <pc:sldMk cId="0" sldId="684"/>
            <ac:spMk id="103425" creationId="{00000000-0000-0000-0000-000000000000}"/>
          </ac:spMkLst>
        </pc:spChg>
        <pc:spChg chg="mod">
          <ac:chgData name="Manuel Díaz Rodríguez" userId="ad3297c4-a1d0-4ef3-804a-cf14fe12b873" providerId="ADAL" clId="{EF364ABE-EAC8-AF46-A335-CAF4771E0394}" dt="2024-10-27T09:11:23.548" v="128" actId="20577"/>
          <ac:spMkLst>
            <pc:docMk/>
            <pc:sldMk cId="0" sldId="684"/>
            <ac:spMk id="103426" creationId="{00000000-0000-0000-0000-000000000000}"/>
          </ac:spMkLst>
        </pc:spChg>
      </pc:sldChg>
      <pc:sldChg chg="addSp delSp modSp mod modAnim">
        <pc:chgData name="Manuel Díaz Rodríguez" userId="ad3297c4-a1d0-4ef3-804a-cf14fe12b873" providerId="ADAL" clId="{EF364ABE-EAC8-AF46-A335-CAF4771E0394}" dt="2024-10-27T09:35:44.937" v="274" actId="1076"/>
        <pc:sldMkLst>
          <pc:docMk/>
          <pc:sldMk cId="0" sldId="685"/>
        </pc:sldMkLst>
        <pc:spChg chg="add del mod">
          <ac:chgData name="Manuel Díaz Rodríguez" userId="ad3297c4-a1d0-4ef3-804a-cf14fe12b873" providerId="ADAL" clId="{EF364ABE-EAC8-AF46-A335-CAF4771E0394}" dt="2024-10-27T09:35:15.316" v="266" actId="478"/>
          <ac:spMkLst>
            <pc:docMk/>
            <pc:sldMk cId="0" sldId="685"/>
            <ac:spMk id="4" creationId="{48F09BDA-23AF-E50E-56E8-7E70A553A410}"/>
          </ac:spMkLst>
        </pc:spChg>
        <pc:spChg chg="mod">
          <ac:chgData name="Manuel Díaz Rodríguez" userId="ad3297c4-a1d0-4ef3-804a-cf14fe12b873" providerId="ADAL" clId="{EF364ABE-EAC8-AF46-A335-CAF4771E0394}" dt="2024-10-27T09:35:36.997" v="271" actId="20577"/>
          <ac:spMkLst>
            <pc:docMk/>
            <pc:sldMk cId="0" sldId="685"/>
            <ac:spMk id="105473" creationId="{00000000-0000-0000-0000-000000000000}"/>
          </ac:spMkLst>
        </pc:spChg>
        <pc:spChg chg="del mod">
          <ac:chgData name="Manuel Díaz Rodríguez" userId="ad3297c4-a1d0-4ef3-804a-cf14fe12b873" providerId="ADAL" clId="{EF364ABE-EAC8-AF46-A335-CAF4771E0394}" dt="2024-10-27T09:35:10.448" v="265" actId="478"/>
          <ac:spMkLst>
            <pc:docMk/>
            <pc:sldMk cId="0" sldId="685"/>
            <ac:spMk id="105474" creationId="{00000000-0000-0000-0000-000000000000}"/>
          </ac:spMkLst>
        </pc:spChg>
        <pc:picChg chg="add mod">
          <ac:chgData name="Manuel Díaz Rodríguez" userId="ad3297c4-a1d0-4ef3-804a-cf14fe12b873" providerId="ADAL" clId="{EF364ABE-EAC8-AF46-A335-CAF4771E0394}" dt="2024-10-27T09:35:44.937" v="274" actId="1076"/>
          <ac:picMkLst>
            <pc:docMk/>
            <pc:sldMk cId="0" sldId="685"/>
            <ac:picMk id="2" creationId="{B65C35C6-11F8-BF50-A571-0BC157430EB6}"/>
          </ac:picMkLst>
        </pc:picChg>
      </pc:sldChg>
      <pc:sldChg chg="modSp mod">
        <pc:chgData name="Manuel Díaz Rodríguez" userId="ad3297c4-a1d0-4ef3-804a-cf14fe12b873" providerId="ADAL" clId="{EF364ABE-EAC8-AF46-A335-CAF4771E0394}" dt="2024-10-27T09:13:05.327" v="141" actId="5793"/>
        <pc:sldMkLst>
          <pc:docMk/>
          <pc:sldMk cId="0" sldId="687"/>
        </pc:sldMkLst>
        <pc:spChg chg="mod">
          <ac:chgData name="Manuel Díaz Rodríguez" userId="ad3297c4-a1d0-4ef3-804a-cf14fe12b873" providerId="ADAL" clId="{EF364ABE-EAC8-AF46-A335-CAF4771E0394}" dt="2024-10-27T09:12:21.256" v="135" actId="122"/>
          <ac:spMkLst>
            <pc:docMk/>
            <pc:sldMk cId="0" sldId="687"/>
            <ac:spMk id="109569" creationId="{00000000-0000-0000-0000-000000000000}"/>
          </ac:spMkLst>
        </pc:spChg>
        <pc:spChg chg="mod">
          <ac:chgData name="Manuel Díaz Rodríguez" userId="ad3297c4-a1d0-4ef3-804a-cf14fe12b873" providerId="ADAL" clId="{EF364ABE-EAC8-AF46-A335-CAF4771E0394}" dt="2024-10-27T09:13:05.327" v="141" actId="5793"/>
          <ac:spMkLst>
            <pc:docMk/>
            <pc:sldMk cId="0" sldId="687"/>
            <ac:spMk id="109570" creationId="{00000000-0000-0000-0000-000000000000}"/>
          </ac:spMkLst>
        </pc:spChg>
      </pc:sldChg>
      <pc:sldChg chg="modSp mod">
        <pc:chgData name="Manuel Díaz Rodríguez" userId="ad3297c4-a1d0-4ef3-804a-cf14fe12b873" providerId="ADAL" clId="{EF364ABE-EAC8-AF46-A335-CAF4771E0394}" dt="2024-10-27T09:14:05.860" v="148" actId="20577"/>
        <pc:sldMkLst>
          <pc:docMk/>
          <pc:sldMk cId="0" sldId="688"/>
        </pc:sldMkLst>
        <pc:spChg chg="mod">
          <ac:chgData name="Manuel Díaz Rodríguez" userId="ad3297c4-a1d0-4ef3-804a-cf14fe12b873" providerId="ADAL" clId="{EF364ABE-EAC8-AF46-A335-CAF4771E0394}" dt="2024-10-27T09:14:05.860" v="148" actId="20577"/>
          <ac:spMkLst>
            <pc:docMk/>
            <pc:sldMk cId="0" sldId="688"/>
            <ac:spMk id="111618" creationId="{00000000-0000-0000-0000-000000000000}"/>
          </ac:spMkLst>
        </pc:spChg>
      </pc:sldChg>
      <pc:sldChg chg="modSp mod">
        <pc:chgData name="Manuel Díaz Rodríguez" userId="ad3297c4-a1d0-4ef3-804a-cf14fe12b873" providerId="ADAL" clId="{EF364ABE-EAC8-AF46-A335-CAF4771E0394}" dt="2024-10-27T09:15:36.538" v="149" actId="1076"/>
        <pc:sldMkLst>
          <pc:docMk/>
          <pc:sldMk cId="0" sldId="695"/>
        </pc:sldMkLst>
        <pc:spChg chg="mod">
          <ac:chgData name="Manuel Díaz Rodríguez" userId="ad3297c4-a1d0-4ef3-804a-cf14fe12b873" providerId="ADAL" clId="{EF364ABE-EAC8-AF46-A335-CAF4771E0394}" dt="2024-10-27T09:15:36.538" v="149" actId="1076"/>
          <ac:spMkLst>
            <pc:docMk/>
            <pc:sldMk cId="0" sldId="695"/>
            <ac:spMk id="125953" creationId="{00000000-0000-0000-0000-000000000000}"/>
          </ac:spMkLst>
        </pc:spChg>
      </pc:sldChg>
      <pc:sldChg chg="modSp mod">
        <pc:chgData name="Manuel Díaz Rodríguez" userId="ad3297c4-a1d0-4ef3-804a-cf14fe12b873" providerId="ADAL" clId="{EF364ABE-EAC8-AF46-A335-CAF4771E0394}" dt="2024-10-27T09:16:49.238" v="152" actId="1076"/>
        <pc:sldMkLst>
          <pc:docMk/>
          <pc:sldMk cId="0" sldId="696"/>
        </pc:sldMkLst>
        <pc:spChg chg="mod">
          <ac:chgData name="Manuel Díaz Rodríguez" userId="ad3297c4-a1d0-4ef3-804a-cf14fe12b873" providerId="ADAL" clId="{EF364ABE-EAC8-AF46-A335-CAF4771E0394}" dt="2024-10-27T09:16:49.238" v="152" actId="1076"/>
          <ac:spMkLst>
            <pc:docMk/>
            <pc:sldMk cId="0" sldId="696"/>
            <ac:spMk id="128001" creationId="{00000000-0000-0000-0000-000000000000}"/>
          </ac:spMkLst>
        </pc:spChg>
      </pc:sldChg>
      <pc:sldChg chg="modSp mod">
        <pc:chgData name="Manuel Díaz Rodríguez" userId="ad3297c4-a1d0-4ef3-804a-cf14fe12b873" providerId="ADAL" clId="{EF364ABE-EAC8-AF46-A335-CAF4771E0394}" dt="2024-10-27T09:05:13.206" v="99" actId="404"/>
        <pc:sldMkLst>
          <pc:docMk/>
          <pc:sldMk cId="2890081837" sldId="770"/>
        </pc:sldMkLst>
        <pc:spChg chg="mod">
          <ac:chgData name="Manuel Díaz Rodríguez" userId="ad3297c4-a1d0-4ef3-804a-cf14fe12b873" providerId="ADAL" clId="{EF364ABE-EAC8-AF46-A335-CAF4771E0394}" dt="2024-10-27T09:04:15.234" v="97" actId="1076"/>
          <ac:spMkLst>
            <pc:docMk/>
            <pc:sldMk cId="2890081837" sldId="770"/>
            <ac:spMk id="19459" creationId="{00000000-0000-0000-0000-000000000000}"/>
          </ac:spMkLst>
        </pc:spChg>
        <pc:spChg chg="mod">
          <ac:chgData name="Manuel Díaz Rodríguez" userId="ad3297c4-a1d0-4ef3-804a-cf14fe12b873" providerId="ADAL" clId="{EF364ABE-EAC8-AF46-A335-CAF4771E0394}" dt="2024-10-27T09:05:13.206" v="99" actId="404"/>
          <ac:spMkLst>
            <pc:docMk/>
            <pc:sldMk cId="2890081837" sldId="770"/>
            <ac:spMk id="19460" creationId="{00000000-0000-0000-0000-000000000000}"/>
          </ac:spMkLst>
        </pc:spChg>
        <pc:graphicFrameChg chg="mod">
          <ac:chgData name="Manuel Díaz Rodríguez" userId="ad3297c4-a1d0-4ef3-804a-cf14fe12b873" providerId="ADAL" clId="{EF364ABE-EAC8-AF46-A335-CAF4771E0394}" dt="2024-10-27T08:59:28.112" v="67" actId="1076"/>
          <ac:graphicFrameMkLst>
            <pc:docMk/>
            <pc:sldMk cId="2890081837" sldId="770"/>
            <ac:graphicFrameMk id="19458" creationId="{00000000-0000-0000-0000-000000000000}"/>
          </ac:graphicFrameMkLst>
        </pc:graphicFrameChg>
      </pc:sldChg>
      <pc:sldChg chg="del">
        <pc:chgData name="Manuel Díaz Rodríguez" userId="ad3297c4-a1d0-4ef3-804a-cf14fe12b873" providerId="ADAL" clId="{EF364ABE-EAC8-AF46-A335-CAF4771E0394}" dt="2024-10-27T09:02:08.368" v="78" actId="2696"/>
        <pc:sldMkLst>
          <pc:docMk/>
          <pc:sldMk cId="0" sldId="778"/>
        </pc:sldMkLst>
      </pc:sldChg>
      <pc:sldChg chg="delSp modSp add mod delAnim">
        <pc:chgData name="Manuel Díaz Rodríguez" userId="ad3297c4-a1d0-4ef3-804a-cf14fe12b873" providerId="ADAL" clId="{EF364ABE-EAC8-AF46-A335-CAF4771E0394}" dt="2024-10-27T09:33:36.059" v="195" actId="20577"/>
        <pc:sldMkLst>
          <pc:docMk/>
          <pc:sldMk cId="1857420039" sldId="810"/>
        </pc:sldMkLst>
        <pc:spChg chg="mod">
          <ac:chgData name="Manuel Díaz Rodríguez" userId="ad3297c4-a1d0-4ef3-804a-cf14fe12b873" providerId="ADAL" clId="{EF364ABE-EAC8-AF46-A335-CAF4771E0394}" dt="2024-10-27T09:33:36.059" v="195" actId="20577"/>
          <ac:spMkLst>
            <pc:docMk/>
            <pc:sldMk cId="1857420039" sldId="810"/>
            <ac:spMk id="105474" creationId="{00000000-0000-0000-0000-000000000000}"/>
          </ac:spMkLst>
        </pc:spChg>
        <pc:picChg chg="del">
          <ac:chgData name="Manuel Díaz Rodríguez" userId="ad3297c4-a1d0-4ef3-804a-cf14fe12b873" providerId="ADAL" clId="{EF364ABE-EAC8-AF46-A335-CAF4771E0394}" dt="2024-10-27T09:33:31.409" v="194" actId="478"/>
          <ac:picMkLst>
            <pc:docMk/>
            <pc:sldMk cId="1857420039" sldId="810"/>
            <ac:picMk id="2" creationId="{B65C35C6-11F8-BF50-A571-0BC157430EB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latin typeface="Calibri Light" pitchFamily="34" charset="0"/>
            </a:endParaRPr>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79FEE6-2C53-42C9-88B1-B10B092B6581}" type="datetimeFigureOut">
              <a:rPr lang="es-ES" smtClean="0">
                <a:latin typeface="Calibri Light" pitchFamily="34" charset="0"/>
              </a:rPr>
              <a:pPr/>
              <a:t>8/11/25</a:t>
            </a:fld>
            <a:endParaRPr lang="es-ES">
              <a:latin typeface="Calibri Light" pitchFamily="34" charset="0"/>
            </a:endParaRPr>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latin typeface="Calibri Light" pitchFamily="34" charset="0"/>
            </a:endParaRPr>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F74F8A1-E22A-4DB6-8530-06A7D846EDD5}" type="slidenum">
              <a:rPr lang="es-ES" smtClean="0">
                <a:latin typeface="Calibri Light" pitchFamily="34" charset="0"/>
              </a:rPr>
              <a:pPr/>
              <a:t>‹Nº›</a:t>
            </a:fld>
            <a:endParaRPr lang="es-ES">
              <a:latin typeface="Calibri Light" pitchFamily="34" charset="0"/>
            </a:endParaRPr>
          </a:p>
        </p:txBody>
      </p:sp>
    </p:spTree>
    <p:extLst>
      <p:ext uri="{BB962C8B-B14F-4D97-AF65-F5344CB8AC3E}">
        <p14:creationId xmlns:p14="http://schemas.microsoft.com/office/powerpoint/2010/main" val="33389171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Light" pitchFamily="34" charset="0"/>
              </a:defRPr>
            </a:lvl1pPr>
          </a:lstStyle>
          <a:p>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Light" pitchFamily="34" charset="0"/>
              </a:defRPr>
            </a:lvl1pPr>
          </a:lstStyle>
          <a:p>
            <a:fld id="{61F71A35-421D-4CD8-BA81-F9EAA9961A4C}" type="datetimeFigureOut">
              <a:rPr lang="es-ES_tradnl" smtClean="0"/>
              <a:pPr/>
              <a:t>8/11/25</a:t>
            </a:fld>
            <a:endParaRPr lang="es-ES_tradnl"/>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Light" pitchFamily="34" charset="0"/>
              </a:defRPr>
            </a:lvl1pPr>
          </a:lstStyle>
          <a:p>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Light" pitchFamily="34" charset="0"/>
              </a:defRPr>
            </a:lvl1pPr>
          </a:lstStyle>
          <a:p>
            <a:fld id="{E1D0B40E-497C-46EE-8B99-C165F32C9EB4}" type="slidenum">
              <a:rPr lang="es-ES_tradnl" smtClean="0"/>
              <a:pPr/>
              <a:t>‹Nº›</a:t>
            </a:fld>
            <a:endParaRPr lang="es-ES_tradnl"/>
          </a:p>
        </p:txBody>
      </p:sp>
    </p:spTree>
    <p:extLst>
      <p:ext uri="{BB962C8B-B14F-4D97-AF65-F5344CB8AC3E}">
        <p14:creationId xmlns:p14="http://schemas.microsoft.com/office/powerpoint/2010/main" val="55753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Light" pitchFamily="34" charset="0"/>
        <a:ea typeface="+mn-ea"/>
        <a:cs typeface="+mn-cs"/>
      </a:defRPr>
    </a:lvl1pPr>
    <a:lvl2pPr marL="457200" algn="l" defTabSz="914400" rtl="0" eaLnBrk="1" latinLnBrk="0" hangingPunct="1">
      <a:defRPr sz="1200" kern="1200">
        <a:solidFill>
          <a:schemeClr val="tx1"/>
        </a:solidFill>
        <a:latin typeface="Calibri Light" pitchFamily="34" charset="0"/>
        <a:ea typeface="+mn-ea"/>
        <a:cs typeface="+mn-cs"/>
      </a:defRPr>
    </a:lvl2pPr>
    <a:lvl3pPr marL="914400" algn="l" defTabSz="914400" rtl="0" eaLnBrk="1" latinLnBrk="0" hangingPunct="1">
      <a:defRPr sz="1200" kern="1200">
        <a:solidFill>
          <a:schemeClr val="tx1"/>
        </a:solidFill>
        <a:latin typeface="Calibri Light" pitchFamily="34" charset="0"/>
        <a:ea typeface="+mn-ea"/>
        <a:cs typeface="+mn-cs"/>
      </a:defRPr>
    </a:lvl3pPr>
    <a:lvl4pPr marL="1371600" algn="l" defTabSz="914400" rtl="0" eaLnBrk="1" latinLnBrk="0" hangingPunct="1">
      <a:defRPr sz="1200" kern="1200">
        <a:solidFill>
          <a:schemeClr val="tx1"/>
        </a:solidFill>
        <a:latin typeface="Calibri Light" pitchFamily="34" charset="0"/>
        <a:ea typeface="+mn-ea"/>
        <a:cs typeface="+mn-cs"/>
      </a:defRPr>
    </a:lvl4pPr>
    <a:lvl5pPr marL="1828800" algn="l" defTabSz="914400" rtl="0" eaLnBrk="1" latinLnBrk="0" hangingPunct="1">
      <a:defRPr sz="1200" kern="1200">
        <a:solidFill>
          <a:schemeClr val="tx1"/>
        </a:solidFill>
        <a:latin typeface="Calibri Light"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1</a:t>
            </a:fld>
            <a:endParaRPr lang="es-ES_tradnl"/>
          </a:p>
        </p:txBody>
      </p:sp>
    </p:spTree>
    <p:extLst>
      <p:ext uri="{BB962C8B-B14F-4D97-AF65-F5344CB8AC3E}">
        <p14:creationId xmlns:p14="http://schemas.microsoft.com/office/powerpoint/2010/main" val="2996068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In fact, almost nothing scaled.  Jim studied this and tried to understand root causes.</a:t>
            </a:r>
          </a:p>
        </p:txBody>
      </p:sp>
      <p:sp>
        <p:nvSpPr>
          <p:cNvPr id="4" name="Slide Number Placeholder 3"/>
          <p:cNvSpPr>
            <a:spLocks noGrp="1"/>
          </p:cNvSpPr>
          <p:nvPr>
            <p:ph type="sldNum" sz="quarter" idx="10"/>
          </p:nvPr>
        </p:nvSpPr>
        <p:spPr/>
        <p:txBody>
          <a:bodyPr/>
          <a:lstStyle/>
          <a:p>
            <a:fld id="{DACDC88A-CD66-4609-884B-39722DAC333B}" type="slidenum">
              <a:rPr lang="en-US" smtClean="0"/>
              <a:t>8</a:t>
            </a:fld>
            <a:endParaRPr lang="en-US"/>
          </a:p>
        </p:txBody>
      </p:sp>
    </p:spTree>
    <p:extLst>
      <p:ext uri="{BB962C8B-B14F-4D97-AF65-F5344CB8AC3E}">
        <p14:creationId xmlns:p14="http://schemas.microsoft.com/office/powerpoint/2010/main" val="318730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He posed his analysis as an asymptotic cost question, like in an algorithms class where you study complexity.  But here we have more moving parts.</a:t>
            </a:r>
          </a:p>
        </p:txBody>
      </p:sp>
      <p:sp>
        <p:nvSpPr>
          <p:cNvPr id="4" name="Slide Number Placeholder 3"/>
          <p:cNvSpPr>
            <a:spLocks noGrp="1"/>
          </p:cNvSpPr>
          <p:nvPr>
            <p:ph type="sldNum" sz="quarter" idx="10"/>
          </p:nvPr>
        </p:nvSpPr>
        <p:spPr/>
        <p:txBody>
          <a:bodyPr/>
          <a:lstStyle/>
          <a:p>
            <a:fld id="{DACDC88A-CD66-4609-884B-39722DAC333B}" type="slidenum">
              <a:rPr lang="en-US" smtClean="0"/>
              <a:t>9</a:t>
            </a:fld>
            <a:endParaRPr lang="en-US"/>
          </a:p>
        </p:txBody>
      </p:sp>
    </p:spTree>
    <p:extLst>
      <p:ext uri="{BB962C8B-B14F-4D97-AF65-F5344CB8AC3E}">
        <p14:creationId xmlns:p14="http://schemas.microsoft.com/office/powerpoint/2010/main" val="1241111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The model starts with clients talking to a database.  There are T transactions that need to run.    They won’t run all at the same time, of course.  Here, three are active.</a:t>
            </a:r>
          </a:p>
        </p:txBody>
      </p:sp>
      <p:sp>
        <p:nvSpPr>
          <p:cNvPr id="4" name="Slide Number Placeholder 3"/>
          <p:cNvSpPr>
            <a:spLocks noGrp="1"/>
          </p:cNvSpPr>
          <p:nvPr>
            <p:ph type="sldNum" sz="quarter" idx="10"/>
          </p:nvPr>
        </p:nvSpPr>
        <p:spPr/>
        <p:txBody>
          <a:bodyPr/>
          <a:lstStyle/>
          <a:p>
            <a:fld id="{DACDC88A-CD66-4609-884B-39722DAC333B}" type="slidenum">
              <a:rPr lang="en-US" smtClean="0"/>
              <a:t>10</a:t>
            </a:fld>
            <a:endParaRPr lang="en-US"/>
          </a:p>
        </p:txBody>
      </p:sp>
    </p:spTree>
    <p:extLst>
      <p:ext uri="{BB962C8B-B14F-4D97-AF65-F5344CB8AC3E}">
        <p14:creationId xmlns:p14="http://schemas.microsoft.com/office/powerpoint/2010/main" val="3343207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And there are N servers.  We want to have N x the capacity, so the goal is to scale well and be able to throw more servers at the problem if the system overloads.</a:t>
            </a:r>
          </a:p>
        </p:txBody>
      </p:sp>
      <p:sp>
        <p:nvSpPr>
          <p:cNvPr id="4" name="Slide Number Placeholder 3"/>
          <p:cNvSpPr>
            <a:spLocks noGrp="1"/>
          </p:cNvSpPr>
          <p:nvPr>
            <p:ph type="sldNum" sz="quarter" idx="10"/>
          </p:nvPr>
        </p:nvSpPr>
        <p:spPr/>
        <p:txBody>
          <a:bodyPr/>
          <a:lstStyle/>
          <a:p>
            <a:fld id="{DACDC88A-CD66-4609-884B-39722DAC333B}" type="slidenum">
              <a:rPr lang="en-US" smtClean="0"/>
              <a:t>11</a:t>
            </a:fld>
            <a:endParaRPr lang="en-US"/>
          </a:p>
        </p:txBody>
      </p:sp>
    </p:spTree>
    <p:extLst>
      <p:ext uri="{BB962C8B-B14F-4D97-AF65-F5344CB8AC3E}">
        <p14:creationId xmlns:p14="http://schemas.microsoft.com/office/powerpoint/2010/main" val="2309890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12</a:t>
            </a:fld>
            <a:endParaRPr lang="en-US"/>
          </a:p>
        </p:txBody>
      </p:sp>
    </p:spTree>
    <p:extLst>
      <p:ext uri="{BB962C8B-B14F-4D97-AF65-F5344CB8AC3E}">
        <p14:creationId xmlns:p14="http://schemas.microsoft.com/office/powerpoint/2010/main" val="3736834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Basically, you see higher and higher rates of transactions banging into each other and either waiting (which can be slow), or deadlocking (which causes a rollback), or in some “optimistic” scenarios, aborting.</a:t>
            </a:r>
          </a:p>
          <a:p>
            <a:endParaRPr lang="en-US"/>
          </a:p>
          <a:p>
            <a:r>
              <a:rPr lang="en-US"/>
              <a:t>The rate of growth of overhead is a polynomial, like the number of servers or the number of transactions raised to an exponent like 2 or 3.</a:t>
            </a:r>
          </a:p>
          <a:p>
            <a:endParaRPr lang="en-US"/>
          </a:p>
          <a:p>
            <a:r>
              <a:rPr lang="en-US"/>
              <a:t>Now this may sound very database-specific but in fact the same issues arise in any consistent cloud service because Jim’s model was so general it could apply even if you have never thought about databases in your life!</a:t>
            </a:r>
          </a:p>
        </p:txBody>
      </p:sp>
      <p:sp>
        <p:nvSpPr>
          <p:cNvPr id="4" name="Slide Number Placeholder 3"/>
          <p:cNvSpPr>
            <a:spLocks noGrp="1"/>
          </p:cNvSpPr>
          <p:nvPr>
            <p:ph type="sldNum" sz="quarter" idx="10"/>
          </p:nvPr>
        </p:nvSpPr>
        <p:spPr/>
        <p:txBody>
          <a:bodyPr/>
          <a:lstStyle/>
          <a:p>
            <a:fld id="{DACDC88A-CD66-4609-884B-39722DAC333B}" type="slidenum">
              <a:rPr lang="en-US" smtClean="0"/>
              <a:t>13</a:t>
            </a:fld>
            <a:endParaRPr lang="en-US"/>
          </a:p>
        </p:txBody>
      </p:sp>
    </p:spTree>
    <p:extLst>
      <p:ext uri="{BB962C8B-B14F-4D97-AF65-F5344CB8AC3E}">
        <p14:creationId xmlns:p14="http://schemas.microsoft.com/office/powerpoint/2010/main" val="2710339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What they argue for has a ton in common with our key-value  </a:t>
            </a:r>
            <a:r>
              <a:rPr lang="en-US">
                <a:sym typeface="Symbol" panose="05050102010706020507" pitchFamily="18" charset="2"/>
              </a:rPr>
              <a:t>-service story from the other day.  The only real change is that in Lecture 2, we said “replicate to make your shard more reliable” but didn’t say how.</a:t>
            </a:r>
          </a:p>
          <a:p>
            <a:endParaRPr lang="en-US">
              <a:sym typeface="Symbol" panose="05050102010706020507" pitchFamily="18" charset="2"/>
            </a:endParaRPr>
          </a:p>
          <a:p>
            <a:r>
              <a:rPr lang="en-US">
                <a:sym typeface="Symbol" panose="05050102010706020507" pitchFamily="18" charset="2"/>
              </a:rPr>
              <a:t>Jim is arguing for a form of consistent replication in which the replicas definitely follow the identical histories.  There are many terms for this, and we will see some later – state machine replication is perhaps the most general one.</a:t>
            </a:r>
          </a:p>
          <a:p>
            <a:endParaRPr lang="en-US">
              <a:sym typeface="Symbol" panose="05050102010706020507" pitchFamily="18" charset="2"/>
            </a:endParaRPr>
          </a:p>
          <a:p>
            <a:r>
              <a:rPr lang="en-US">
                <a:sym typeface="Symbol" panose="05050102010706020507" pitchFamily="18" charset="2"/>
              </a:rPr>
              <a:t>Transactional databases with replication at a </a:t>
            </a:r>
            <a:r>
              <a:rPr lang="en-US" err="1">
                <a:sym typeface="Symbol" panose="05050102010706020507" pitchFamily="18" charset="2"/>
              </a:rPr>
              <a:t>sharding</a:t>
            </a:r>
            <a:r>
              <a:rPr lang="en-US">
                <a:sym typeface="Symbol" panose="05050102010706020507" pitchFamily="18" charset="2"/>
              </a:rPr>
              <a:t> level work EXACTLY this way.  The terminology may sound different but the ideas are the same.</a:t>
            </a:r>
          </a:p>
          <a:p>
            <a:endParaRPr lang="en-US">
              <a:sym typeface="Symbol" panose="05050102010706020507" pitchFamily="18" charset="2"/>
            </a:endParaRPr>
          </a:p>
          <a:p>
            <a:r>
              <a:rPr lang="en-US">
                <a:sym typeface="Symbol" panose="05050102010706020507" pitchFamily="18" charset="2"/>
              </a:rPr>
              <a:t>But one thing to realize is that in Jim’s world we often have long transactions that do many things and end with a 2-phase commit.  In the cloud, updates that perform just a single operation on a single shard would be far more common, like an event handler fetching some data, modifying it, and writing it back.</a:t>
            </a:r>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14</a:t>
            </a:fld>
            <a:endParaRPr lang="en-US"/>
          </a:p>
        </p:txBody>
      </p:sp>
    </p:spTree>
    <p:extLst>
      <p:ext uri="{BB962C8B-B14F-4D97-AF65-F5344CB8AC3E}">
        <p14:creationId xmlns:p14="http://schemas.microsoft.com/office/powerpoint/2010/main" val="389164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15</a:t>
            </a:fld>
            <a:endParaRPr lang="en-US"/>
          </a:p>
        </p:txBody>
      </p:sp>
    </p:spTree>
    <p:extLst>
      <p:ext uri="{BB962C8B-B14F-4D97-AF65-F5344CB8AC3E}">
        <p14:creationId xmlns:p14="http://schemas.microsoft.com/office/powerpoint/2010/main" val="242834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ACDC88A-CD66-4609-884B-39722DAC333B}" type="slidenum">
              <a:rPr lang="en-US" smtClean="0"/>
              <a:t>16</a:t>
            </a:fld>
            <a:endParaRPr lang="en-US"/>
          </a:p>
        </p:txBody>
      </p:sp>
    </p:spTree>
    <p:extLst>
      <p:ext uri="{BB962C8B-B14F-4D97-AF65-F5344CB8AC3E}">
        <p14:creationId xmlns:p14="http://schemas.microsoft.com/office/powerpoint/2010/main" val="1184511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30</a:t>
            </a:fld>
            <a:endParaRPr lang="es-ES_tradnl"/>
          </a:p>
        </p:txBody>
      </p:sp>
    </p:spTree>
    <p:extLst>
      <p:ext uri="{BB962C8B-B14F-4D97-AF65-F5344CB8AC3E}">
        <p14:creationId xmlns:p14="http://schemas.microsoft.com/office/powerpoint/2010/main" val="3965714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33</a:t>
            </a:fld>
            <a:endParaRPr lang="en-US"/>
          </a:p>
        </p:txBody>
      </p:sp>
    </p:spTree>
    <p:extLst>
      <p:ext uri="{BB962C8B-B14F-4D97-AF65-F5344CB8AC3E}">
        <p14:creationId xmlns:p14="http://schemas.microsoft.com/office/powerpoint/2010/main" val="27578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36</a:t>
            </a:fld>
            <a:endParaRPr lang="en-US"/>
          </a:p>
        </p:txBody>
      </p:sp>
    </p:spTree>
    <p:extLst>
      <p:ext uri="{BB962C8B-B14F-4D97-AF65-F5344CB8AC3E}">
        <p14:creationId xmlns:p14="http://schemas.microsoft.com/office/powerpoint/2010/main" val="2215464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39</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40</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41</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44</a:t>
            </a:fld>
            <a:endParaRPr lang="en-US"/>
          </a:p>
        </p:txBody>
      </p:sp>
    </p:spTree>
    <p:extLst>
      <p:ext uri="{BB962C8B-B14F-4D97-AF65-F5344CB8AC3E}">
        <p14:creationId xmlns:p14="http://schemas.microsoft.com/office/powerpoint/2010/main" val="3108606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54</a:t>
            </a:fld>
            <a:endParaRPr lang="en-US"/>
          </a:p>
        </p:txBody>
      </p:sp>
    </p:spTree>
    <p:extLst>
      <p:ext uri="{BB962C8B-B14F-4D97-AF65-F5344CB8AC3E}">
        <p14:creationId xmlns:p14="http://schemas.microsoft.com/office/powerpoint/2010/main" val="974958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57</a:t>
            </a:fld>
            <a:endParaRPr lang="en-US"/>
          </a:p>
        </p:txBody>
      </p:sp>
    </p:spTree>
    <p:extLst>
      <p:ext uri="{BB962C8B-B14F-4D97-AF65-F5344CB8AC3E}">
        <p14:creationId xmlns:p14="http://schemas.microsoft.com/office/powerpoint/2010/main" val="2277257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58</a:t>
            </a:fld>
            <a:endParaRPr lang="en-US"/>
          </a:p>
        </p:txBody>
      </p:sp>
    </p:spTree>
    <p:extLst>
      <p:ext uri="{BB962C8B-B14F-4D97-AF65-F5344CB8AC3E}">
        <p14:creationId xmlns:p14="http://schemas.microsoft.com/office/powerpoint/2010/main" val="394388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ACFB50-42D6-B240-B801-3F9B7FDC6464}" type="slidenum">
              <a:rPr lang="en-US" smtClean="0"/>
              <a:t>60</a:t>
            </a:fld>
            <a:endParaRPr lang="en-US"/>
          </a:p>
        </p:txBody>
      </p:sp>
    </p:spTree>
    <p:extLst>
      <p:ext uri="{BB962C8B-B14F-4D97-AF65-F5344CB8AC3E}">
        <p14:creationId xmlns:p14="http://schemas.microsoft.com/office/powerpoint/2010/main" val="661529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With state machine replication we don’t have full transactions, so Jim’s issues don’t arise: there aren’t any locks, or any notion of deadlock/abort/retry.</a:t>
            </a:r>
          </a:p>
        </p:txBody>
      </p:sp>
      <p:sp>
        <p:nvSpPr>
          <p:cNvPr id="4" name="Slide Number Placeholder 3"/>
          <p:cNvSpPr>
            <a:spLocks noGrp="1"/>
          </p:cNvSpPr>
          <p:nvPr>
            <p:ph type="sldNum" sz="quarter" idx="10"/>
          </p:nvPr>
        </p:nvSpPr>
        <p:spPr/>
        <p:txBody>
          <a:bodyPr/>
          <a:lstStyle/>
          <a:p>
            <a:fld id="{DACDC88A-CD66-4609-884B-39722DAC333B}" type="slidenum">
              <a:rPr lang="en-US" smtClean="0"/>
              <a:t>61</a:t>
            </a:fld>
            <a:endParaRPr lang="en-US"/>
          </a:p>
        </p:txBody>
      </p:sp>
    </p:spTree>
    <p:extLst>
      <p:ext uri="{BB962C8B-B14F-4D97-AF65-F5344CB8AC3E}">
        <p14:creationId xmlns:p14="http://schemas.microsoft.com/office/powerpoint/2010/main" val="24771862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a:xfrm>
            <a:off x="381000" y="685800"/>
            <a:ext cx="6096000" cy="3429000"/>
          </a:xfrm>
          <a:ln/>
        </p:spPr>
      </p:sp>
      <p:sp>
        <p:nvSpPr>
          <p:cNvPr id="2253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ChangeArrowheads="1" noTextEdit="1"/>
          </p:cNvSpPr>
          <p:nvPr>
            <p:ph type="sldImg"/>
          </p:nvPr>
        </p:nvSpPr>
        <p:spPr>
          <a:xfrm>
            <a:off x="381000" y="685800"/>
            <a:ext cx="6096000" cy="3429000"/>
          </a:xfrm>
          <a:ln/>
        </p:spPr>
      </p:sp>
      <p:sp>
        <p:nvSpPr>
          <p:cNvPr id="2662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Rot="1" noChangeAspect="1" noChangeArrowheads="1" noTextEdit="1"/>
          </p:cNvSpPr>
          <p:nvPr>
            <p:ph type="sldImg"/>
          </p:nvPr>
        </p:nvSpPr>
        <p:spPr>
          <a:xfrm>
            <a:off x="382588" y="685800"/>
            <a:ext cx="6096000" cy="3429000"/>
          </a:xfrm>
          <a:ln/>
        </p:spPr>
      </p:sp>
      <p:sp>
        <p:nvSpPr>
          <p:cNvPr id="2867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177" tIns="45089" rIns="90177" bIns="45089"/>
          <a:lstStyle/>
          <a:p>
            <a:pPr eaLnBrk="1" hangingPunct="1"/>
            <a:r>
              <a:rPr lang="en-US">
                <a:ea typeface="ＭＳ Ｐゴシック" charset="0"/>
                <a:cs typeface="ＭＳ Ｐゴシック" charset="0"/>
              </a:rPr>
              <a:t>	- say </a:t>
            </a:r>
            <a:r>
              <a:rPr lang="ja-JP" altLang="en-US">
                <a:ea typeface="ＭＳ Ｐゴシック" charset="0"/>
                <a:cs typeface="ＭＳ Ｐゴシック" charset="0"/>
              </a:rPr>
              <a:t>“</a:t>
            </a:r>
            <a:r>
              <a:rPr lang="en-US" altLang="ja-JP">
                <a:ea typeface="ＭＳ Ｐゴシック" charset="0"/>
                <a:cs typeface="ＭＳ Ｐゴシック" charset="0"/>
              </a:rPr>
              <a:t>non-byzantine</a:t>
            </a:r>
            <a:r>
              <a:rPr lang="ja-JP" altLang="en-US">
                <a:ea typeface="ＭＳ Ｐゴシック" charset="0"/>
                <a:cs typeface="ＭＳ Ｐゴシック" charset="0"/>
              </a:rPr>
              <a:t>”</a:t>
            </a:r>
            <a:endParaRPr lang="en-US" altLang="ja-JP">
              <a:ea typeface="ＭＳ Ｐゴシック" charset="0"/>
              <a:cs typeface="ＭＳ Ｐゴシック" charset="0"/>
            </a:endParaRPr>
          </a:p>
          <a:p>
            <a:pPr eaLnBrk="1" hangingPunct="1"/>
            <a:endParaRPr lang="en-US">
              <a:ea typeface="ＭＳ Ｐゴシック" charset="0"/>
              <a:cs typeface="ＭＳ Ｐゴシック" charset="0"/>
            </a:endParaRPr>
          </a:p>
          <a:p>
            <a:pPr eaLnBrk="1" hangingPunct="1"/>
            <a:r>
              <a:rPr lang="en-US">
                <a:ea typeface="ＭＳ Ｐゴシック" charset="0"/>
                <a:cs typeface="ＭＳ Ｐゴシック" charset="0"/>
              </a:rPr>
              <a:t>ANIMATE!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Rot="1" noChangeAspect="1" noChangeArrowheads="1" noTextEdit="1"/>
          </p:cNvSpPr>
          <p:nvPr>
            <p:ph type="sldImg"/>
          </p:nvPr>
        </p:nvSpPr>
        <p:spPr>
          <a:xfrm>
            <a:off x="382588" y="685800"/>
            <a:ext cx="6096000" cy="3429000"/>
          </a:xfrm>
          <a:ln/>
        </p:spPr>
      </p:sp>
      <p:sp>
        <p:nvSpPr>
          <p:cNvPr id="3072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177" tIns="45089" rIns="90177" bIns="45089"/>
          <a:lstStyle/>
          <a:p>
            <a:pPr eaLnBrk="1" hangingPunct="1"/>
            <a:r>
              <a:rPr lang="en-US">
                <a:ea typeface="ＭＳ Ｐゴシック" charset="0"/>
                <a:cs typeface="ＭＳ Ｐゴシック" charset="0"/>
              </a:rPr>
              <a:t>	- say </a:t>
            </a:r>
            <a:r>
              <a:rPr lang="ja-JP" altLang="en-US">
                <a:ea typeface="ＭＳ Ｐゴシック" charset="0"/>
                <a:cs typeface="ＭＳ Ｐゴシック" charset="0"/>
              </a:rPr>
              <a:t>“</a:t>
            </a:r>
            <a:r>
              <a:rPr lang="en-US" altLang="ja-JP">
                <a:ea typeface="ＭＳ Ｐゴシック" charset="0"/>
                <a:cs typeface="ＭＳ Ｐゴシック" charset="0"/>
              </a:rPr>
              <a:t>non-byzantine</a:t>
            </a:r>
            <a:r>
              <a:rPr lang="ja-JP" altLang="en-US">
                <a:ea typeface="ＭＳ Ｐゴシック" charset="0"/>
                <a:cs typeface="ＭＳ Ｐゴシック" charset="0"/>
              </a:rPr>
              <a:t>”</a:t>
            </a:r>
            <a:endParaRPr lang="en-US">
              <a:ea typeface="ＭＳ Ｐゴシック" charset="0"/>
              <a:cs typeface="ＭＳ Ｐゴシック"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Rot="1" noChangeAspect="1" noChangeArrowheads="1" noTextEdit="1"/>
          </p:cNvSpPr>
          <p:nvPr>
            <p:ph type="sldImg"/>
          </p:nvPr>
        </p:nvSpPr>
        <p:spPr>
          <a:xfrm>
            <a:off x="382588" y="685800"/>
            <a:ext cx="6096000" cy="3429000"/>
          </a:xfrm>
          <a:ln/>
        </p:spPr>
      </p:sp>
      <p:sp>
        <p:nvSpPr>
          <p:cNvPr id="3277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177" tIns="45089" rIns="90177" bIns="45089"/>
          <a:lstStyle/>
          <a:p>
            <a:pPr eaLnBrk="1" hangingPunct="1"/>
            <a:r>
              <a:rPr lang="en-US">
                <a:ea typeface="ＭＳ Ｐゴシック" charset="0"/>
                <a:cs typeface="ＭＳ Ｐゴシック" charset="0"/>
              </a:rPr>
              <a:t>	- say </a:t>
            </a:r>
            <a:r>
              <a:rPr lang="ja-JP" altLang="en-US">
                <a:ea typeface="ＭＳ Ｐゴシック" charset="0"/>
                <a:cs typeface="ＭＳ Ｐゴシック" charset="0"/>
              </a:rPr>
              <a:t>“</a:t>
            </a:r>
            <a:r>
              <a:rPr lang="en-US" altLang="ja-JP">
                <a:ea typeface="ＭＳ Ｐゴシック" charset="0"/>
                <a:cs typeface="ＭＳ Ｐゴシック" charset="0"/>
              </a:rPr>
              <a:t>non-byzantine</a:t>
            </a:r>
            <a:r>
              <a:rPr lang="ja-JP" altLang="en-US">
                <a:ea typeface="ＭＳ Ｐゴシック" charset="0"/>
                <a:cs typeface="ＭＳ Ｐゴシック" charset="0"/>
              </a:rPr>
              <a:t>”</a:t>
            </a:r>
            <a:endParaRPr lang="en-US">
              <a:ea typeface="ＭＳ Ｐゴシック" charset="0"/>
              <a:cs typeface="ＭＳ Ｐゴシック"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a:xfrm>
            <a:off x="382588" y="685800"/>
            <a:ext cx="6096000" cy="3429000"/>
          </a:xfrm>
          <a:ln/>
        </p:spPr>
      </p:sp>
      <p:sp>
        <p:nvSpPr>
          <p:cNvPr id="3481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177" tIns="45089" rIns="90177" bIns="45089"/>
          <a:lstStyle/>
          <a:p>
            <a:pPr eaLnBrk="1" hangingPunct="1"/>
            <a:r>
              <a:rPr lang="en-US">
                <a:ea typeface="ＭＳ Ｐゴシック" charset="0"/>
                <a:cs typeface="ＭＳ Ｐゴシック" charset="0"/>
              </a:rPr>
              <a:t>- animate f-d and then dissemination?</a:t>
            </a:r>
          </a:p>
          <a:p>
            <a:pPr eaLnBrk="1" hangingPunct="1"/>
            <a:endParaRPr lang="en-US">
              <a:ea typeface="ＭＳ Ｐゴシック" charset="0"/>
              <a:cs typeface="ＭＳ Ｐゴシック" charset="0"/>
            </a:endParaRPr>
          </a:p>
          <a:p>
            <a:pPr eaLnBrk="1" hangingPunct="1"/>
            <a:endParaRPr lang="en-US">
              <a:ea typeface="ＭＳ Ｐゴシック" charset="0"/>
              <a:cs typeface="ＭＳ Ｐゴシック" charset="0"/>
            </a:endParaRPr>
          </a:p>
          <a:p>
            <a:pPr eaLnBrk="1" hangingPunct="1"/>
            <a:r>
              <a:rPr lang="en-US">
                <a:ea typeface="ＭＳ Ｐゴシック" charset="0"/>
                <a:cs typeface="ＭＳ Ｐゴシック" charset="0"/>
              </a:rPr>
              <a:t>	- say </a:t>
            </a:r>
            <a:r>
              <a:rPr lang="ja-JP" altLang="en-US">
                <a:ea typeface="ＭＳ Ｐゴシック" charset="0"/>
                <a:cs typeface="ＭＳ Ｐゴシック" charset="0"/>
              </a:rPr>
              <a:t>“</a:t>
            </a:r>
            <a:r>
              <a:rPr lang="en-US" altLang="ja-JP">
                <a:ea typeface="ＭＳ Ｐゴシック" charset="0"/>
                <a:cs typeface="ＭＳ Ｐゴシック" charset="0"/>
              </a:rPr>
              <a:t>non-byzantine</a:t>
            </a:r>
            <a:r>
              <a:rPr lang="ja-JP" altLang="en-US">
                <a:ea typeface="ＭＳ Ｐゴシック" charset="0"/>
                <a:cs typeface="ＭＳ Ｐゴシック" charset="0"/>
              </a:rPr>
              <a:t>”</a:t>
            </a:r>
            <a:endParaRPr lang="en-US">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latin typeface="Calibri Light"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_tradnl"/>
          </a:p>
        </p:txBody>
      </p:sp>
      <p:sp>
        <p:nvSpPr>
          <p:cNvPr id="4" name="3 Marcador de fecha"/>
          <p:cNvSpPr>
            <a:spLocks noGrp="1"/>
          </p:cNvSpPr>
          <p:nvPr>
            <p:ph type="dt" sz="half" idx="10"/>
          </p:nvPr>
        </p:nvSpPr>
        <p:spPr/>
        <p:txBody>
          <a:bodyPr/>
          <a:lstStyle>
            <a:lvl1pPr>
              <a:defRPr>
                <a:latin typeface="Calibri Light" pitchFamily="34" charset="0"/>
              </a:defRPr>
            </a:lvl1pPr>
          </a:lstStyle>
          <a:p>
            <a:fld id="{0387F19D-3208-4A85-8A1F-151463789BE1}" type="datetime1">
              <a:rPr lang="es-ES" smtClean="0"/>
              <a:pPr/>
              <a:t>8/11/25</a:t>
            </a:fld>
            <a:endParaRPr lang="es-ES"/>
          </a:p>
        </p:txBody>
      </p:sp>
      <p:sp>
        <p:nvSpPr>
          <p:cNvPr id="5" name="4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6" name="5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lvl1pPr>
              <a:defRPr>
                <a:latin typeface="Calibri Light" pitchFamily="34" charset="0"/>
              </a:defRPr>
            </a:lvl1pPr>
            <a:lvl2pPr>
              <a:defRPr>
                <a:latin typeface="Calibri Light" pitchFamily="34" charset="0"/>
              </a:defRPr>
            </a:lvl2pPr>
            <a:lvl3pPr>
              <a:defRPr>
                <a:latin typeface="Calibri Light" pitchFamily="34" charset="0"/>
              </a:defRPr>
            </a:lvl3pPr>
            <a:lvl4pPr>
              <a:defRPr>
                <a:latin typeface="Calibri Light" pitchFamily="34" charset="0"/>
              </a:defRPr>
            </a:lvl4pPr>
            <a:lvl5pPr>
              <a:defRPr>
                <a:latin typeface="Calibri Light"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lvl1pPr>
              <a:defRPr>
                <a:latin typeface="Calibri Light" pitchFamily="34" charset="0"/>
              </a:defRPr>
            </a:lvl1pPr>
          </a:lstStyle>
          <a:p>
            <a:fld id="{EACD2413-67EB-4172-9E4E-4D3DADAE19AB}" type="datetime1">
              <a:rPr lang="es-ES" smtClean="0"/>
              <a:pPr/>
              <a:t>8/11/25</a:t>
            </a:fld>
            <a:endParaRPr lang="es-ES"/>
          </a:p>
        </p:txBody>
      </p:sp>
      <p:sp>
        <p:nvSpPr>
          <p:cNvPr id="5" name="4 Marcador de pie de página"/>
          <p:cNvSpPr>
            <a:spLocks noGrp="1"/>
          </p:cNvSpPr>
          <p:nvPr>
            <p:ph type="ftr" sz="quarter" idx="11"/>
          </p:nvPr>
        </p:nvSpPr>
        <p:spPr>
          <a:xfrm>
            <a:off x="7721600" y="6356350"/>
            <a:ext cx="3860800" cy="365125"/>
          </a:xfrm>
        </p:spPr>
        <p:txBody>
          <a:bodyPr/>
          <a:lstStyle>
            <a:lvl1pPr>
              <a:defRPr>
                <a:latin typeface="Calibri Light" pitchFamily="34" charset="0"/>
              </a:defRPr>
            </a:lvl1pPr>
          </a:lstStyle>
          <a:p>
            <a:endParaRPr lang="es-ES"/>
          </a:p>
        </p:txBody>
      </p:sp>
      <p:sp>
        <p:nvSpPr>
          <p:cNvPr id="6" name="5 Marcador de número de diapositiva"/>
          <p:cNvSpPr>
            <a:spLocks noGrp="1"/>
          </p:cNvSpPr>
          <p:nvPr>
            <p:ph type="sldNum" sz="quarter" idx="12"/>
          </p:nvPr>
        </p:nvSpPr>
        <p:spPr>
          <a:xfrm>
            <a:off x="4115296" y="6356351"/>
            <a:ext cx="2844800" cy="365125"/>
          </a:xfrm>
        </p:spPr>
        <p:txBody>
          <a:bodyPr/>
          <a:lstStyle>
            <a:lvl1pPr>
              <a:defRPr b="1">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atin typeface="Calibri Light" pitchFamily="34" charset="0"/>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latin typeface="Calibri Light"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lvl1pPr>
              <a:defRPr>
                <a:latin typeface="Calibri Light" pitchFamily="34" charset="0"/>
              </a:defRPr>
            </a:lvl1pPr>
          </a:lstStyle>
          <a:p>
            <a:fld id="{AA00301A-FE76-44F3-9F48-AABC57B6FF9C}" type="datetime1">
              <a:rPr lang="es-ES" smtClean="0"/>
              <a:pPr/>
              <a:t>8/11/25</a:t>
            </a:fld>
            <a:endParaRPr lang="es-ES"/>
          </a:p>
        </p:txBody>
      </p:sp>
      <p:sp>
        <p:nvSpPr>
          <p:cNvPr id="5" name="4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6" name="5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609600" y="1600201"/>
            <a:ext cx="5384800" cy="4525963"/>
          </a:xfrm>
        </p:spPr>
        <p:txBody>
          <a:bodyPr/>
          <a:lstStyle>
            <a:lvl1pPr>
              <a:defRPr sz="2800">
                <a:latin typeface="Calibri Light" pitchFamily="34" charset="0"/>
              </a:defRPr>
            </a:lvl1pPr>
            <a:lvl2pPr>
              <a:defRPr sz="2400">
                <a:latin typeface="Calibri Light" pitchFamily="34" charset="0"/>
              </a:defRPr>
            </a:lvl2pPr>
            <a:lvl3pPr>
              <a:defRPr sz="2000">
                <a:latin typeface="Calibri Light" pitchFamily="34" charset="0"/>
              </a:defRPr>
            </a:lvl3pPr>
            <a:lvl4pPr>
              <a:defRPr sz="1800">
                <a:latin typeface="Calibri Light" pitchFamily="34" charset="0"/>
              </a:defRPr>
            </a:lvl4pPr>
            <a:lvl5pPr>
              <a:defRPr sz="1800">
                <a:latin typeface="Calibri Light" pitchFamily="34" charset="0"/>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6197600" y="1600201"/>
            <a:ext cx="5384800" cy="4525963"/>
          </a:xfrm>
        </p:spPr>
        <p:txBody>
          <a:bodyPr/>
          <a:lstStyle>
            <a:lvl1pPr>
              <a:defRPr sz="2800">
                <a:latin typeface="Calibri Light" pitchFamily="34" charset="0"/>
              </a:defRPr>
            </a:lvl1pPr>
            <a:lvl2pPr>
              <a:defRPr sz="2400">
                <a:latin typeface="Calibri Light" pitchFamily="34" charset="0"/>
              </a:defRPr>
            </a:lvl2pPr>
            <a:lvl3pPr>
              <a:defRPr sz="2000">
                <a:latin typeface="Calibri Light" pitchFamily="34" charset="0"/>
              </a:defRPr>
            </a:lvl3pPr>
            <a:lvl4pPr>
              <a:defRPr sz="1800">
                <a:latin typeface="Calibri Light" pitchFamily="34" charset="0"/>
              </a:defRPr>
            </a:lvl4pPr>
            <a:lvl5pPr>
              <a:defRPr sz="1800">
                <a:latin typeface="Calibri Light" pitchFamily="34" charset="0"/>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fecha"/>
          <p:cNvSpPr>
            <a:spLocks noGrp="1"/>
          </p:cNvSpPr>
          <p:nvPr>
            <p:ph type="dt" sz="half" idx="10"/>
          </p:nvPr>
        </p:nvSpPr>
        <p:spPr/>
        <p:txBody>
          <a:bodyPr/>
          <a:lstStyle>
            <a:lvl1pPr>
              <a:defRPr>
                <a:latin typeface="Calibri Light" pitchFamily="34" charset="0"/>
              </a:defRPr>
            </a:lvl1pPr>
          </a:lstStyle>
          <a:p>
            <a:fld id="{277845CB-EA03-4189-8595-8409B5DDC52C}" type="datetime1">
              <a:rPr lang="es-ES" smtClean="0"/>
              <a:pPr/>
              <a:t>8/11/25</a:t>
            </a:fld>
            <a:endParaRPr lang="es-ES"/>
          </a:p>
        </p:txBody>
      </p:sp>
      <p:sp>
        <p:nvSpPr>
          <p:cNvPr id="6" name="5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7" name="6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atin typeface="Calibri Ligh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atin typeface="Calibri Light" pitchFamily="34" charset="0"/>
              </a:defRPr>
            </a:lvl1pPr>
            <a:lvl2pPr>
              <a:defRPr sz="2000">
                <a:latin typeface="Calibri Light" pitchFamily="34" charset="0"/>
              </a:defRPr>
            </a:lvl2pPr>
            <a:lvl3pPr>
              <a:defRPr sz="1800">
                <a:latin typeface="Calibri Light" pitchFamily="34" charset="0"/>
              </a:defRPr>
            </a:lvl3pPr>
            <a:lvl4pPr>
              <a:defRPr sz="1600">
                <a:latin typeface="Calibri Light" pitchFamily="34" charset="0"/>
              </a:defRPr>
            </a:lvl4pPr>
            <a:lvl5pPr>
              <a:defRPr sz="1600">
                <a:latin typeface="Calibri Light"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atin typeface="Calibri Light"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atin typeface="Calibri Light" pitchFamily="34" charset="0"/>
              </a:defRPr>
            </a:lvl1pPr>
            <a:lvl2pPr>
              <a:defRPr sz="2000">
                <a:latin typeface="Calibri Light" pitchFamily="34" charset="0"/>
              </a:defRPr>
            </a:lvl2pPr>
            <a:lvl3pPr>
              <a:defRPr sz="1800">
                <a:latin typeface="Calibri Light" pitchFamily="34" charset="0"/>
              </a:defRPr>
            </a:lvl3pPr>
            <a:lvl4pPr>
              <a:defRPr sz="1600">
                <a:latin typeface="Calibri Light" pitchFamily="34" charset="0"/>
              </a:defRPr>
            </a:lvl4pPr>
            <a:lvl5pPr>
              <a:defRPr sz="1600">
                <a:latin typeface="Calibri Light"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6 Marcador de fecha"/>
          <p:cNvSpPr>
            <a:spLocks noGrp="1"/>
          </p:cNvSpPr>
          <p:nvPr>
            <p:ph type="dt" sz="half" idx="10"/>
          </p:nvPr>
        </p:nvSpPr>
        <p:spPr/>
        <p:txBody>
          <a:bodyPr/>
          <a:lstStyle>
            <a:lvl1pPr>
              <a:defRPr>
                <a:latin typeface="Calibri Light" pitchFamily="34" charset="0"/>
              </a:defRPr>
            </a:lvl1pPr>
          </a:lstStyle>
          <a:p>
            <a:fld id="{B887671C-6030-4939-94E3-A626E65063DD}" type="datetime1">
              <a:rPr lang="es-ES" smtClean="0"/>
              <a:pPr/>
              <a:t>8/11/25</a:t>
            </a:fld>
            <a:endParaRPr lang="es-ES"/>
          </a:p>
        </p:txBody>
      </p:sp>
      <p:sp>
        <p:nvSpPr>
          <p:cNvPr id="8" name="7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9" name="8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Marcador de fecha"/>
          <p:cNvSpPr>
            <a:spLocks noGrp="1"/>
          </p:cNvSpPr>
          <p:nvPr>
            <p:ph type="dt" sz="half" idx="10"/>
          </p:nvPr>
        </p:nvSpPr>
        <p:spPr/>
        <p:txBody>
          <a:bodyPr/>
          <a:lstStyle>
            <a:lvl1pPr>
              <a:defRPr>
                <a:latin typeface="Calibri Light" pitchFamily="34" charset="0"/>
              </a:defRPr>
            </a:lvl1pPr>
          </a:lstStyle>
          <a:p>
            <a:fld id="{61349E7D-70F3-44DF-AED4-2BE127DACFA4}" type="datetime1">
              <a:rPr lang="es-ES" smtClean="0"/>
              <a:pPr/>
              <a:t>8/11/25</a:t>
            </a:fld>
            <a:endParaRPr lang="es-ES"/>
          </a:p>
        </p:txBody>
      </p:sp>
      <p:sp>
        <p:nvSpPr>
          <p:cNvPr id="4" name="3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5" name="4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atin typeface="Calibri Light" pitchFamily="34" charset="0"/>
              </a:defRPr>
            </a:lvl1pPr>
          </a:lstStyle>
          <a:p>
            <a:fld id="{F788235A-7CDC-44C5-8376-7ED9CB251FE7}" type="datetime1">
              <a:rPr lang="es-ES" smtClean="0"/>
              <a:pPr/>
              <a:t>8/11/25</a:t>
            </a:fld>
            <a:endParaRPr lang="es-ES"/>
          </a:p>
        </p:txBody>
      </p:sp>
      <p:sp>
        <p:nvSpPr>
          <p:cNvPr id="3" name="2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4" name="3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atin typeface="Calibri Light" pitchFamily="34" charset="0"/>
              </a:defRPr>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4766733" y="273051"/>
            <a:ext cx="6815667" cy="5853113"/>
          </a:xfrm>
        </p:spPr>
        <p:txBody>
          <a:bodyPr/>
          <a:lstStyle>
            <a:lvl1pPr>
              <a:defRPr sz="3200">
                <a:latin typeface="Calibri Light" pitchFamily="34" charset="0"/>
              </a:defRPr>
            </a:lvl1pPr>
            <a:lvl2pPr>
              <a:defRPr sz="2800">
                <a:latin typeface="Calibri Light" pitchFamily="34" charset="0"/>
              </a:defRPr>
            </a:lvl2pPr>
            <a:lvl3pPr>
              <a:defRPr sz="2400">
                <a:latin typeface="Calibri Light" pitchFamily="34" charset="0"/>
              </a:defRPr>
            </a:lvl3pPr>
            <a:lvl4pPr>
              <a:defRPr sz="2000">
                <a:latin typeface="Calibri Light" pitchFamily="34" charset="0"/>
              </a:defRPr>
            </a:lvl4pPr>
            <a:lvl5pPr>
              <a:defRPr sz="2000">
                <a:latin typeface="Calibri Light" pitchFamily="34" charset="0"/>
              </a:defRPr>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atin typeface="Calibri Light"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lvl1pPr>
              <a:defRPr>
                <a:latin typeface="Calibri Light" pitchFamily="34" charset="0"/>
              </a:defRPr>
            </a:lvl1pPr>
          </a:lstStyle>
          <a:p>
            <a:fld id="{E6493CFE-49B0-49B6-8407-61F6A35A3776}" type="datetime1">
              <a:rPr lang="es-ES" smtClean="0"/>
              <a:pPr/>
              <a:t>8/11/25</a:t>
            </a:fld>
            <a:endParaRPr lang="es-ES"/>
          </a:p>
        </p:txBody>
      </p:sp>
      <p:sp>
        <p:nvSpPr>
          <p:cNvPr id="6" name="5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7" name="6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atin typeface="Calibri Light" pitchFamily="34" charset="0"/>
              </a:defRPr>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atin typeface="Calibri Light"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atin typeface="Calibri Light"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lvl1pPr>
              <a:defRPr>
                <a:latin typeface="Calibri Light" pitchFamily="34" charset="0"/>
              </a:defRPr>
            </a:lvl1pPr>
          </a:lstStyle>
          <a:p>
            <a:fld id="{86AC31FB-6A8D-40CC-902F-1B96321DC315}" type="datetime1">
              <a:rPr lang="es-ES" smtClean="0"/>
              <a:pPr/>
              <a:t>8/11/25</a:t>
            </a:fld>
            <a:endParaRPr lang="es-ES"/>
          </a:p>
        </p:txBody>
      </p:sp>
      <p:sp>
        <p:nvSpPr>
          <p:cNvPr id="6" name="5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7" name="6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atin typeface="Calibri Light" pitchFamily="34" charset="0"/>
              </a:defRPr>
            </a:lvl1p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lvl1pPr>
              <a:defRPr>
                <a:latin typeface="Calibri Light" pitchFamily="34" charset="0"/>
              </a:defRPr>
            </a:lvl1pPr>
            <a:lvl2pPr>
              <a:defRPr>
                <a:latin typeface="Calibri Light" pitchFamily="34" charset="0"/>
              </a:defRPr>
            </a:lvl2pPr>
            <a:lvl3pPr>
              <a:defRPr>
                <a:latin typeface="Calibri Light" pitchFamily="34" charset="0"/>
              </a:defRPr>
            </a:lvl3pPr>
            <a:lvl4pPr>
              <a:defRPr>
                <a:latin typeface="Calibri Light" pitchFamily="34" charset="0"/>
              </a:defRPr>
            </a:lvl4pPr>
            <a:lvl5pPr>
              <a:defRPr>
                <a:latin typeface="Calibri Light"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lvl1pPr>
              <a:defRPr>
                <a:latin typeface="Calibri Light" pitchFamily="34" charset="0"/>
              </a:defRPr>
            </a:lvl1pPr>
          </a:lstStyle>
          <a:p>
            <a:fld id="{8D060704-0D86-4BCC-9619-2AB1A9CA6EAA}" type="datetime1">
              <a:rPr lang="es-ES" smtClean="0"/>
              <a:pPr/>
              <a:t>8/11/25</a:t>
            </a:fld>
            <a:endParaRPr lang="es-ES"/>
          </a:p>
        </p:txBody>
      </p:sp>
      <p:sp>
        <p:nvSpPr>
          <p:cNvPr id="5" name="4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6" name="5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lvl1pPr>
              <a:defRPr>
                <a:latin typeface="Calibri Light" pitchFamily="34" charset="0"/>
              </a:defRPr>
            </a:lvl1p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609600" y="274639"/>
            <a:ext cx="8026400" cy="5851525"/>
          </a:xfrm>
        </p:spPr>
        <p:txBody>
          <a:bodyPr vert="eaVert"/>
          <a:lstStyle>
            <a:lvl1pPr>
              <a:defRPr>
                <a:latin typeface="Calibri Light" pitchFamily="34" charset="0"/>
              </a:defRPr>
            </a:lvl1pPr>
            <a:lvl2pPr>
              <a:defRPr>
                <a:latin typeface="Calibri Light" pitchFamily="34" charset="0"/>
              </a:defRPr>
            </a:lvl2pPr>
            <a:lvl3pPr>
              <a:defRPr>
                <a:latin typeface="Calibri Light" pitchFamily="34" charset="0"/>
              </a:defRPr>
            </a:lvl3pPr>
            <a:lvl4pPr>
              <a:defRPr>
                <a:latin typeface="Calibri Light" pitchFamily="34" charset="0"/>
              </a:defRPr>
            </a:lvl4pPr>
            <a:lvl5pPr>
              <a:defRPr>
                <a:latin typeface="Calibri Light"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lvl1pPr>
              <a:defRPr>
                <a:latin typeface="Calibri Light" pitchFamily="34" charset="0"/>
              </a:defRPr>
            </a:lvl1pPr>
          </a:lstStyle>
          <a:p>
            <a:fld id="{B613E3E3-27FC-4D65-8580-DE5DA942CB7F}" type="datetime1">
              <a:rPr lang="es-ES" smtClean="0"/>
              <a:pPr/>
              <a:t>8/11/25</a:t>
            </a:fld>
            <a:endParaRPr lang="es-ES"/>
          </a:p>
        </p:txBody>
      </p:sp>
      <p:sp>
        <p:nvSpPr>
          <p:cNvPr id="5" name="4 Marcador de pie de página"/>
          <p:cNvSpPr>
            <a:spLocks noGrp="1"/>
          </p:cNvSpPr>
          <p:nvPr>
            <p:ph type="ftr" sz="quarter" idx="11"/>
          </p:nvPr>
        </p:nvSpPr>
        <p:spPr/>
        <p:txBody>
          <a:bodyPr/>
          <a:lstStyle>
            <a:lvl1pPr>
              <a:defRPr>
                <a:latin typeface="Calibri Light" pitchFamily="34" charset="0"/>
              </a:defRPr>
            </a:lvl1pPr>
          </a:lstStyle>
          <a:p>
            <a:endParaRPr lang="es-ES"/>
          </a:p>
        </p:txBody>
      </p:sp>
      <p:sp>
        <p:nvSpPr>
          <p:cNvPr id="6" name="5 Marcador de número de diapositiva"/>
          <p:cNvSpPr>
            <a:spLocks noGrp="1"/>
          </p:cNvSpPr>
          <p:nvPr>
            <p:ph type="sldNum" sz="quarter" idx="12"/>
          </p:nvPr>
        </p:nvSpPr>
        <p:spPr/>
        <p:txBody>
          <a:bodyPr/>
          <a:lstStyle>
            <a:lvl1pPr>
              <a:defRPr>
                <a:latin typeface="Calibri Light" pitchFamily="34" charset="0"/>
              </a:defRPr>
            </a:lvl1p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Calibri Light" pitchFamily="34" charset="0"/>
              </a:defRPr>
            </a:lvl1pPr>
          </a:lstStyle>
          <a:p>
            <a:fld id="{7042A091-6AE4-41E0-B8EB-963259B23557}" type="datetime1">
              <a:rPr lang="es-ES" smtClean="0"/>
              <a:pPr/>
              <a:t>8/11/25</a:t>
            </a:fld>
            <a:endParaRPr lang="es-ES"/>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Calibri Light" pitchFamily="34" charset="0"/>
              </a:defRPr>
            </a:lvl1pPr>
          </a:lstStyle>
          <a:p>
            <a:endParaRPr lang="es-ES"/>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Calibri Light" pitchFamily="34" charset="0"/>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dt="0"/>
  <p:txStyles>
    <p:titleStyle>
      <a:lvl1pPr algn="ctr" defTabSz="914400" rtl="0" eaLnBrk="1" latinLnBrk="0" hangingPunct="1">
        <a:spcBef>
          <a:spcPct val="0"/>
        </a:spcBef>
        <a:buNone/>
        <a:defRPr sz="4400" kern="1200">
          <a:solidFill>
            <a:schemeClr val="tx1"/>
          </a:solidFill>
          <a:latin typeface="Calibri Light"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Light"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Light" pitchFamily="34"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Light" pitchFamily="3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Light" pitchFamily="34"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Light"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dr@lcc.uma.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codahale.com/you-cant-sacrifice-partition-toleranc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allthingsdistributed.com/2008/12/eventually_consistent.html"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dbmsmusings.blogspot.com/2010/04/problems-with-cap-and-yahoos-little.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hyperlink" Target="http://www.infoq.com/articles/cap-twelve-years-later-how-the-rules-have-change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927682" y="2084310"/>
            <a:ext cx="8496944" cy="1470025"/>
          </a:xfrm>
        </p:spPr>
        <p:txBody>
          <a:bodyPr>
            <a:noAutofit/>
          </a:bodyPr>
          <a:lstStyle/>
          <a:p>
            <a:r>
              <a:rPr lang="es-ES_tradnl" sz="3200" b="1" dirty="0">
                <a:solidFill>
                  <a:schemeClr val="tx1">
                    <a:lumMod val="75000"/>
                    <a:lumOff val="25000"/>
                  </a:schemeClr>
                </a:solidFill>
              </a:rPr>
              <a:t>Tema 3. Diseño de Software Crítico</a:t>
            </a:r>
            <a:br>
              <a:rPr lang="es-ES_tradnl" sz="3200" b="1" dirty="0">
                <a:solidFill>
                  <a:schemeClr val="tx1">
                    <a:lumMod val="75000"/>
                    <a:lumOff val="25000"/>
                  </a:schemeClr>
                </a:solidFill>
              </a:rPr>
            </a:br>
            <a:br>
              <a:rPr lang="es-ES_tradnl" sz="3200" b="1" dirty="0">
                <a:solidFill>
                  <a:schemeClr val="tx1">
                    <a:lumMod val="75000"/>
                    <a:lumOff val="25000"/>
                  </a:schemeClr>
                </a:solidFill>
              </a:rPr>
            </a:br>
            <a:r>
              <a:rPr lang="es-ES_tradnl" sz="2800" dirty="0">
                <a:solidFill>
                  <a:schemeClr val="tx1">
                    <a:lumMod val="75000"/>
                    <a:lumOff val="25000"/>
                  </a:schemeClr>
                </a:solidFill>
              </a:rPr>
              <a:t>Replicación en Sistemas Distribuidos</a:t>
            </a:r>
            <a:endParaRPr lang="es-ES_tradnl" sz="3200" dirty="0">
              <a:solidFill>
                <a:schemeClr val="tx1">
                  <a:lumMod val="75000"/>
                  <a:lumOff val="25000"/>
                </a:schemeClr>
              </a:solidFill>
            </a:endParaRPr>
          </a:p>
        </p:txBody>
      </p:sp>
      <p:sp>
        <p:nvSpPr>
          <p:cNvPr id="3" name="2 Subtítulo"/>
          <p:cNvSpPr>
            <a:spLocks noGrp="1"/>
          </p:cNvSpPr>
          <p:nvPr>
            <p:ph type="subTitle" idx="1"/>
          </p:nvPr>
        </p:nvSpPr>
        <p:spPr>
          <a:xfrm>
            <a:off x="2895600" y="4345882"/>
            <a:ext cx="6400800" cy="1638532"/>
          </a:xfrm>
        </p:spPr>
        <p:txBody>
          <a:bodyPr>
            <a:normAutofit/>
          </a:bodyPr>
          <a:lstStyle/>
          <a:p>
            <a:r>
              <a:rPr lang="es-ES" sz="2000" b="1" dirty="0">
                <a:solidFill>
                  <a:schemeClr val="tx1">
                    <a:lumMod val="65000"/>
                    <a:lumOff val="35000"/>
                  </a:schemeClr>
                </a:solidFill>
              </a:rPr>
              <a:t>Manuel Díaz </a:t>
            </a:r>
            <a:r>
              <a:rPr lang="es-ES" sz="2000" b="1" dirty="0" err="1">
                <a:solidFill>
                  <a:schemeClr val="accent1"/>
                </a:solidFill>
              </a:rPr>
              <a:t>mdiaz</a:t>
            </a:r>
            <a:r>
              <a:rPr lang="es-ES" sz="2000" b="1" dirty="0" err="1">
                <a:solidFill>
                  <a:schemeClr val="accent1"/>
                </a:solidFill>
                <a:hlinkClick r:id="rId3">
                  <a:extLst>
                    <a:ext uri="{A12FA001-AC4F-418D-AE19-62706E023703}">
                      <ahyp:hlinkClr xmlns:ahyp="http://schemas.microsoft.com/office/drawing/2018/hyperlinkcolor" val="tx"/>
                    </a:ext>
                  </a:extLst>
                </a:hlinkClick>
              </a:rPr>
              <a:t>@uma.es</a:t>
            </a:r>
            <a:endParaRPr lang="es-ES" sz="2000" b="1" dirty="0">
              <a:solidFill>
                <a:schemeClr val="accent1"/>
              </a:solidFill>
            </a:endParaRPr>
          </a:p>
        </p:txBody>
      </p:sp>
      <p:sp>
        <p:nvSpPr>
          <p:cNvPr id="4" name="3 CuadroTexto"/>
          <p:cNvSpPr txBox="1"/>
          <p:nvPr/>
        </p:nvSpPr>
        <p:spPr>
          <a:xfrm>
            <a:off x="2818568" y="5661249"/>
            <a:ext cx="6715172" cy="646331"/>
          </a:xfrm>
          <a:prstGeom prst="rect">
            <a:avLst/>
          </a:prstGeom>
          <a:noFill/>
        </p:spPr>
        <p:txBody>
          <a:bodyPr wrap="square" rtlCol="0">
            <a:spAutoFit/>
          </a:bodyPr>
          <a:lstStyle/>
          <a:p>
            <a:pPr algn="ctr"/>
            <a:r>
              <a:rPr lang="es-ES_tradnl">
                <a:latin typeface="Calibri Light" pitchFamily="34" charset="0"/>
              </a:rPr>
              <a:t>Dpto. Lenguajes y Ciencias de la Computación</a:t>
            </a:r>
          </a:p>
          <a:p>
            <a:pPr algn="ctr"/>
            <a:r>
              <a:rPr lang="es-ES_tradnl">
                <a:latin typeface="Calibri Light" pitchFamily="34" charset="0"/>
              </a:rPr>
              <a:t> Universidad de Málaga</a:t>
            </a:r>
          </a:p>
        </p:txBody>
      </p:sp>
      <p:pic>
        <p:nvPicPr>
          <p:cNvPr id="1027" name="Picture 3" descr="I:\Trabajo\Tesis\Congresos y articulos\03 IADIS Applied computing, 2009 november, Rome. Tractor security\Presentacion tractor safety rome\uma.gif"/>
          <p:cNvPicPr>
            <a:picLocks noChangeAspect="1" noChangeArrowheads="1"/>
          </p:cNvPicPr>
          <p:nvPr/>
        </p:nvPicPr>
        <p:blipFill>
          <a:blip r:embed="rId4" cstate="print"/>
          <a:srcRect/>
          <a:stretch>
            <a:fillRect/>
          </a:stretch>
        </p:blipFill>
        <p:spPr bwMode="auto">
          <a:xfrm>
            <a:off x="438121" y="296615"/>
            <a:ext cx="1085880" cy="70482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ES" sz="3600">
                <a:solidFill>
                  <a:schemeClr val="accent1"/>
                </a:solidFill>
              </a:rPr>
              <a:t>Replication in Distributed Systems</a:t>
            </a:r>
            <a:endParaRPr lang="es-ES" sz="3600">
              <a:solidFill>
                <a:schemeClr val="accent1"/>
              </a:solidFill>
            </a:endParaRPr>
          </a:p>
        </p:txBody>
      </p:sp>
      <p:sp>
        <p:nvSpPr>
          <p:cNvPr id="3" name="2 Marcador de contenido"/>
          <p:cNvSpPr>
            <a:spLocks noGrp="1"/>
          </p:cNvSpPr>
          <p:nvPr>
            <p:ph idx="1"/>
          </p:nvPr>
        </p:nvSpPr>
        <p:spPr/>
        <p:txBody>
          <a:bodyPr>
            <a:normAutofit fontScale="85000" lnSpcReduction="20000"/>
          </a:bodyPr>
          <a:lstStyle/>
          <a:p>
            <a:pPr marL="857250" lvl="1" indent="-457200">
              <a:lnSpc>
                <a:spcPct val="120000"/>
              </a:lnSpc>
            </a:pPr>
            <a:r>
              <a:rPr lang="en-US" altLang="es-ES"/>
              <a:t>Introduction to group services</a:t>
            </a:r>
          </a:p>
          <a:p>
            <a:pPr marL="1257300" lvl="2" indent="-457200">
              <a:lnSpc>
                <a:spcPct val="120000"/>
              </a:lnSpc>
            </a:pPr>
            <a:r>
              <a:rPr lang="en-US" altLang="es-ES"/>
              <a:t>Multicast: Time and Ordering</a:t>
            </a:r>
          </a:p>
          <a:p>
            <a:pPr marL="1257300" lvl="2" indent="-457200">
              <a:lnSpc>
                <a:spcPct val="120000"/>
              </a:lnSpc>
            </a:pPr>
            <a:r>
              <a:rPr lang="en-US" altLang="es-ES"/>
              <a:t>Failure detection</a:t>
            </a:r>
          </a:p>
          <a:p>
            <a:pPr marL="857250" lvl="1" indent="-457200">
              <a:lnSpc>
                <a:spcPct val="120000"/>
              </a:lnSpc>
            </a:pPr>
            <a:r>
              <a:rPr lang="en-US" altLang="es-ES"/>
              <a:t>Time and ordering</a:t>
            </a:r>
          </a:p>
          <a:p>
            <a:pPr marL="1257300" lvl="2" indent="-457200">
              <a:lnSpc>
                <a:spcPct val="120000"/>
              </a:lnSpc>
            </a:pPr>
            <a:r>
              <a:rPr lang="en-US" altLang="es-ES"/>
              <a:t>Implementing message ordering: FIFO, Causal, Total</a:t>
            </a:r>
          </a:p>
          <a:p>
            <a:pPr marL="1257300" lvl="2" indent="-457200">
              <a:lnSpc>
                <a:spcPct val="120000"/>
              </a:lnSpc>
            </a:pPr>
            <a:r>
              <a:rPr lang="en-US" altLang="es-ES"/>
              <a:t>Multicast</a:t>
            </a:r>
          </a:p>
          <a:p>
            <a:pPr marL="1257300" lvl="2" indent="-457200">
              <a:lnSpc>
                <a:spcPct val="120000"/>
              </a:lnSpc>
            </a:pPr>
            <a:r>
              <a:rPr lang="en-US" altLang="es-ES"/>
              <a:t>Consensus</a:t>
            </a:r>
          </a:p>
          <a:p>
            <a:pPr marL="1257300" lvl="2" indent="-457200">
              <a:lnSpc>
                <a:spcPct val="120000"/>
              </a:lnSpc>
            </a:pPr>
            <a:r>
              <a:rPr lang="en-US" altLang="es-ES"/>
              <a:t>Virtual Synchrony</a:t>
            </a:r>
          </a:p>
          <a:p>
            <a:pPr marL="857250" lvl="1" indent="-457200">
              <a:lnSpc>
                <a:spcPct val="120000"/>
              </a:lnSpc>
            </a:pPr>
            <a:r>
              <a:rPr lang="en-US" altLang="es-ES"/>
              <a:t>Failure Detection in distributed systems</a:t>
            </a:r>
          </a:p>
          <a:p>
            <a:pPr marL="1257300" lvl="2" indent="-457200">
              <a:lnSpc>
                <a:spcPct val="120000"/>
              </a:lnSpc>
            </a:pPr>
            <a:r>
              <a:rPr lang="en-US" altLang="es-ES"/>
              <a:t>Heartbeat algorithms</a:t>
            </a:r>
          </a:p>
          <a:p>
            <a:pPr marL="1257300" lvl="2" indent="-457200">
              <a:lnSpc>
                <a:spcPct val="120000"/>
              </a:lnSpc>
            </a:pPr>
            <a:r>
              <a:rPr lang="en-US" altLang="es-ES"/>
              <a:t>Gossiping</a:t>
            </a:r>
          </a:p>
          <a:p>
            <a:pPr marL="1257300" lvl="2" indent="-457200">
              <a:lnSpc>
                <a:spcPct val="120000"/>
              </a:lnSpc>
              <a:buNone/>
            </a:pPr>
            <a:endParaRPr lang="en-US" alt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a:t>
            </a:fld>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solidFill>
                  <a:srgbClr val="0070C0"/>
                </a:solidFill>
              </a:rPr>
              <a:t>Active </a:t>
            </a:r>
            <a:r>
              <a:rPr lang="es-ES" err="1">
                <a:solidFill>
                  <a:srgbClr val="0070C0"/>
                </a:solidFill>
              </a:rPr>
              <a:t>Replication</a:t>
            </a:r>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1600168" y="2060848"/>
            <a:ext cx="4711856" cy="3673651"/>
          </a:xfrm>
          <a:prstGeom prst="rect">
            <a:avLst/>
          </a:prstGeom>
          <a:noFill/>
          <a:ln w="9525">
            <a:noFill/>
            <a:miter lim="800000"/>
            <a:headEnd/>
            <a:tailEnd/>
          </a:ln>
        </p:spPr>
      </p:pic>
      <p:sp>
        <p:nvSpPr>
          <p:cNvPr id="5" name="2 Marcador de contenido">
            <a:extLst>
              <a:ext uri="{FF2B5EF4-FFF2-40B4-BE49-F238E27FC236}">
                <a16:creationId xmlns:a16="http://schemas.microsoft.com/office/drawing/2014/main" id="{625E5020-F7D0-8246-B982-36F8E5EE5EA5}"/>
              </a:ext>
            </a:extLst>
          </p:cNvPr>
          <p:cNvSpPr>
            <a:spLocks noGrp="1"/>
          </p:cNvSpPr>
          <p:nvPr>
            <p:ph idx="1"/>
          </p:nvPr>
        </p:nvSpPr>
        <p:spPr>
          <a:xfrm>
            <a:off x="6549040" y="2035976"/>
            <a:ext cx="4042792" cy="1800199"/>
          </a:xfrm>
        </p:spPr>
        <p:txBody>
          <a:bodyPr>
            <a:noAutofit/>
          </a:bodyPr>
          <a:lstStyle/>
          <a:p>
            <a:pPr marL="0" indent="0">
              <a:buNone/>
            </a:pPr>
            <a:r>
              <a:rPr lang="en-US" sz="2400"/>
              <a:t>The underlying idea is:</a:t>
            </a:r>
          </a:p>
          <a:p>
            <a:r>
              <a:rPr lang="en-US" sz="2000"/>
              <a:t>The servers all start in the same state (and the updating of a new group member's state is also part of the protocol)</a:t>
            </a:r>
          </a:p>
          <a:p>
            <a:r>
              <a:rPr lang="en-US" sz="2000"/>
              <a:t>Each server receives the same messages in exactly the same order</a:t>
            </a:r>
          </a:p>
          <a:p>
            <a:r>
              <a:rPr lang="en-US" sz="2000"/>
              <a:t>All the servers must eventually arrive at the same state </a:t>
            </a:r>
          </a:p>
          <a:p>
            <a:endParaRPr lang="en-US" sz="2000"/>
          </a:p>
        </p:txBody>
      </p:sp>
    </p:spTree>
    <p:extLst>
      <p:ext uri="{BB962C8B-B14F-4D97-AF65-F5344CB8AC3E}">
        <p14:creationId xmlns:p14="http://schemas.microsoft.com/office/powerpoint/2010/main" val="2860121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solidFill>
                  <a:srgbClr val="0070C0"/>
                </a:solidFill>
              </a:rPr>
              <a:t>Active </a:t>
            </a:r>
            <a:r>
              <a:rPr lang="es-ES" err="1">
                <a:solidFill>
                  <a:srgbClr val="0070C0"/>
                </a:solidFill>
              </a:rPr>
              <a:t>Replication</a:t>
            </a:r>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348309" y="1556793"/>
            <a:ext cx="5235617" cy="4082007"/>
          </a:xfrm>
          <a:prstGeom prst="rect">
            <a:avLst/>
          </a:prstGeom>
          <a:noFill/>
          <a:ln w="9525">
            <a:noFill/>
            <a:miter lim="800000"/>
            <a:headEnd/>
            <a:tailEnd/>
          </a:ln>
        </p:spPr>
      </p:pic>
      <p:sp>
        <p:nvSpPr>
          <p:cNvPr id="5" name="2 Marcador de contenido">
            <a:extLst>
              <a:ext uri="{FF2B5EF4-FFF2-40B4-BE49-F238E27FC236}">
                <a16:creationId xmlns:a16="http://schemas.microsoft.com/office/drawing/2014/main" id="{625E5020-F7D0-8246-B982-36F8E5EE5EA5}"/>
              </a:ext>
            </a:extLst>
          </p:cNvPr>
          <p:cNvSpPr>
            <a:spLocks noGrp="1"/>
          </p:cNvSpPr>
          <p:nvPr>
            <p:ph idx="1"/>
          </p:nvPr>
        </p:nvSpPr>
        <p:spPr>
          <a:xfrm>
            <a:off x="6379029" y="1556793"/>
            <a:ext cx="5061857" cy="4799557"/>
          </a:xfrm>
        </p:spPr>
        <p:txBody>
          <a:bodyPr>
            <a:noAutofit/>
          </a:bodyPr>
          <a:lstStyle/>
          <a:p>
            <a:pPr marL="0" indent="0">
              <a:buNone/>
            </a:pPr>
            <a:r>
              <a:rPr lang="en-US" sz="2000" dirty="0"/>
              <a:t>For some systems, the requirement for common arrival order of all events at each server in the group can be relaxed</a:t>
            </a:r>
          </a:p>
          <a:p>
            <a:pPr marL="457200" lvl="1" indent="0">
              <a:buNone/>
            </a:pPr>
            <a:endParaRPr lang="es-ES_tradnl" sz="1800" dirty="0">
              <a:solidFill>
                <a:schemeClr val="accent1"/>
              </a:solidFill>
            </a:endParaRPr>
          </a:p>
          <a:p>
            <a:pPr marL="457200" lvl="1" indent="0">
              <a:buNone/>
            </a:pPr>
            <a:r>
              <a:rPr lang="es-ES_tradnl" sz="1800" b="1" dirty="0">
                <a:solidFill>
                  <a:schemeClr val="accent1"/>
                </a:solidFill>
              </a:rPr>
              <a:t>Sender </a:t>
            </a:r>
            <a:r>
              <a:rPr lang="es-ES_tradnl" sz="1800" b="1" dirty="0" err="1">
                <a:solidFill>
                  <a:schemeClr val="accent1"/>
                </a:solidFill>
              </a:rPr>
              <a:t>order</a:t>
            </a:r>
            <a:r>
              <a:rPr lang="es-ES_tradnl" sz="1800" dirty="0">
                <a:solidFill>
                  <a:schemeClr val="accent1"/>
                </a:solidFill>
              </a:rPr>
              <a:t>:</a:t>
            </a:r>
            <a:r>
              <a:rPr lang="es-ES_tradnl" sz="1800" dirty="0"/>
              <a:t> </a:t>
            </a:r>
            <a:r>
              <a:rPr lang="en-US" sz="1800" dirty="0"/>
              <a:t>All messages from each client are  delivered to each group member in the order they were sent. There is no guarantee that messages from two different clients will be delivered in the same </a:t>
            </a:r>
            <a:r>
              <a:rPr lang="es-ES" sz="1800" dirty="0" err="1"/>
              <a:t>order</a:t>
            </a:r>
            <a:r>
              <a:rPr lang="es-ES" sz="1800" dirty="0"/>
              <a:t> </a:t>
            </a:r>
            <a:r>
              <a:rPr lang="es-ES" sz="1800" dirty="0" err="1"/>
              <a:t>to</a:t>
            </a:r>
            <a:r>
              <a:rPr lang="es-ES" sz="1800" dirty="0"/>
              <a:t> </a:t>
            </a:r>
            <a:r>
              <a:rPr lang="es-ES" sz="1800" dirty="0" err="1"/>
              <a:t>the</a:t>
            </a:r>
            <a:r>
              <a:rPr lang="es-ES" sz="1800" dirty="0"/>
              <a:t> </a:t>
            </a:r>
            <a:r>
              <a:rPr lang="es-ES" sz="1800" dirty="0" err="1"/>
              <a:t>group</a:t>
            </a:r>
            <a:endParaRPr lang="es-ES" sz="1800" dirty="0"/>
          </a:p>
          <a:p>
            <a:pPr marL="457200" lvl="1" indent="0">
              <a:buNone/>
            </a:pPr>
            <a:r>
              <a:rPr lang="es-ES_tradnl" sz="1800" b="1" dirty="0">
                <a:solidFill>
                  <a:schemeClr val="accent1"/>
                </a:solidFill>
              </a:rPr>
              <a:t>Causal </a:t>
            </a:r>
            <a:r>
              <a:rPr lang="es-ES_tradnl" sz="1800" b="1" dirty="0" err="1">
                <a:solidFill>
                  <a:schemeClr val="accent1"/>
                </a:solidFill>
              </a:rPr>
              <a:t>order</a:t>
            </a:r>
            <a:r>
              <a:rPr lang="es-ES_tradnl" sz="1800" dirty="0"/>
              <a:t>: </a:t>
            </a:r>
            <a:r>
              <a:rPr lang="en-US" sz="1800" dirty="0"/>
              <a:t>If a message s1 causes a program to send message s2 (i.e., s1 causes s2), then s1 will be delivered before s2 to all group members</a:t>
            </a:r>
            <a:endParaRPr lang="es-ES_tradnl" sz="1800" dirty="0"/>
          </a:p>
          <a:p>
            <a:pPr marL="457200" lvl="1" indent="0">
              <a:buNone/>
            </a:pPr>
            <a:r>
              <a:rPr lang="es-ES_tradnl" sz="1800" b="1" dirty="0">
                <a:solidFill>
                  <a:schemeClr val="accent1"/>
                </a:solidFill>
              </a:rPr>
              <a:t>Total </a:t>
            </a:r>
            <a:r>
              <a:rPr lang="es-ES_tradnl" sz="1800" b="1" dirty="0" err="1">
                <a:solidFill>
                  <a:schemeClr val="accent1"/>
                </a:solidFill>
              </a:rPr>
              <a:t>or</a:t>
            </a:r>
            <a:r>
              <a:rPr lang="es-ES_tradnl" sz="1800" b="1" dirty="0">
                <a:solidFill>
                  <a:schemeClr val="accent1"/>
                </a:solidFill>
              </a:rPr>
              <a:t> </a:t>
            </a:r>
            <a:r>
              <a:rPr lang="es-ES_tradnl" sz="1800" b="1" dirty="0" err="1">
                <a:solidFill>
                  <a:schemeClr val="accent1"/>
                </a:solidFill>
              </a:rPr>
              <a:t>agreed</a:t>
            </a:r>
            <a:r>
              <a:rPr lang="es-ES_tradnl" sz="1800" b="1" dirty="0">
                <a:solidFill>
                  <a:schemeClr val="accent1"/>
                </a:solidFill>
              </a:rPr>
              <a:t> </a:t>
            </a:r>
            <a:r>
              <a:rPr lang="es-ES_tradnl" sz="1800" b="1" dirty="0" err="1">
                <a:solidFill>
                  <a:schemeClr val="accent1"/>
                </a:solidFill>
              </a:rPr>
              <a:t>order</a:t>
            </a:r>
            <a:r>
              <a:rPr lang="es-ES_tradnl" sz="1800" dirty="0"/>
              <a:t>: </a:t>
            </a:r>
            <a:r>
              <a:rPr lang="en-US" sz="1800" dirty="0"/>
              <a:t>If any group member receives s1 before s2, then all group members </a:t>
            </a:r>
            <a:r>
              <a:rPr lang="es-ES" sz="1800" dirty="0" err="1"/>
              <a:t>will</a:t>
            </a:r>
            <a:endParaRPr lang="es-ES_tradnl" sz="1800" dirty="0"/>
          </a:p>
        </p:txBody>
      </p:sp>
    </p:spTree>
    <p:extLst>
      <p:ext uri="{BB962C8B-B14F-4D97-AF65-F5344CB8AC3E}">
        <p14:creationId xmlns:p14="http://schemas.microsoft.com/office/powerpoint/2010/main" val="186713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a:solidFill>
                  <a:srgbClr val="0070C0"/>
                </a:solidFill>
              </a:rPr>
              <a:t>Active </a:t>
            </a:r>
            <a:r>
              <a:rPr lang="es-ES" sz="3600" err="1">
                <a:solidFill>
                  <a:srgbClr val="0070C0"/>
                </a:solidFill>
              </a:rPr>
              <a:t>Replication</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5</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n-US" sz="2400"/>
              <a:t>The communication mechanism between the clients </a:t>
            </a:r>
            <a:r>
              <a:rPr lang="es-ES" sz="2400"/>
              <a:t>and </a:t>
            </a:r>
            <a:r>
              <a:rPr lang="es-ES" sz="2400" err="1"/>
              <a:t>the</a:t>
            </a:r>
            <a:r>
              <a:rPr lang="es-ES" sz="2400"/>
              <a:t> servers in </a:t>
            </a:r>
            <a:r>
              <a:rPr lang="es-ES" sz="2400" err="1"/>
              <a:t>the</a:t>
            </a:r>
            <a:r>
              <a:rPr lang="es-ES" sz="2400"/>
              <a:t> figure </a:t>
            </a:r>
            <a:r>
              <a:rPr lang="es-ES" sz="2400" err="1"/>
              <a:t>is</a:t>
            </a:r>
            <a:r>
              <a:rPr lang="es-ES" sz="2400"/>
              <a:t> </a:t>
            </a:r>
            <a:r>
              <a:rPr lang="es-ES" sz="2400" err="1"/>
              <a:t>indicated</a:t>
            </a:r>
            <a:r>
              <a:rPr lang="es-ES" sz="2400"/>
              <a:t> </a:t>
            </a:r>
            <a:r>
              <a:rPr lang="es-ES" sz="2400" err="1"/>
              <a:t>by</a:t>
            </a:r>
            <a:r>
              <a:rPr lang="es-ES" sz="2400"/>
              <a:t> a </a:t>
            </a:r>
            <a:r>
              <a:rPr lang="es-ES" sz="2400" err="1"/>
              <a:t>cloud</a:t>
            </a:r>
            <a:r>
              <a:rPr lang="es-ES" sz="2400"/>
              <a:t>.</a:t>
            </a:r>
          </a:p>
          <a:p>
            <a:r>
              <a:rPr lang="es-ES" sz="2400"/>
              <a:t>In </a:t>
            </a:r>
            <a:r>
              <a:rPr lang="es-ES" sz="2400" err="1"/>
              <a:t>principle</a:t>
            </a:r>
            <a:r>
              <a:rPr lang="es-ES" sz="2400"/>
              <a:t>, </a:t>
            </a:r>
            <a:r>
              <a:rPr lang="es-ES" sz="2400" err="1"/>
              <a:t>this</a:t>
            </a:r>
            <a:r>
              <a:rPr lang="es-ES" sz="2400"/>
              <a:t> can be </a:t>
            </a:r>
            <a:r>
              <a:rPr lang="es-ES" sz="2400" err="1"/>
              <a:t>any</a:t>
            </a:r>
            <a:r>
              <a:rPr lang="es-ES" sz="2400"/>
              <a:t> </a:t>
            </a:r>
            <a:r>
              <a:rPr lang="es-ES" sz="2400" err="1"/>
              <a:t>medium</a:t>
            </a:r>
            <a:r>
              <a:rPr lang="es-ES" sz="2400"/>
              <a:t> </a:t>
            </a:r>
            <a:r>
              <a:rPr lang="es-ES" sz="2400" err="1"/>
              <a:t>supporting</a:t>
            </a:r>
            <a:r>
              <a:rPr lang="es-ES" sz="2400"/>
              <a:t> </a:t>
            </a:r>
            <a:r>
              <a:rPr lang="es-ES" sz="2400" err="1"/>
              <a:t>messages</a:t>
            </a:r>
            <a:r>
              <a:rPr lang="es-ES" sz="2400"/>
              <a:t> (WAN, LAN a </a:t>
            </a:r>
            <a:r>
              <a:rPr lang="es-ES" sz="2400" err="1"/>
              <a:t>backplane</a:t>
            </a:r>
            <a:r>
              <a:rPr lang="es-ES" sz="2400"/>
              <a:t> in a rack,…)</a:t>
            </a:r>
          </a:p>
          <a:p>
            <a:pPr lvl="1"/>
            <a:r>
              <a:rPr lang="en-US" sz="2000">
                <a:solidFill>
                  <a:srgbClr val="FF0000"/>
                </a:solidFill>
              </a:rPr>
              <a:t>The closer the connection, the better </a:t>
            </a:r>
            <a:r>
              <a:rPr lang="es-ES" sz="2000">
                <a:solidFill>
                  <a:srgbClr val="FF0000"/>
                </a:solidFill>
              </a:rPr>
              <a:t>active </a:t>
            </a:r>
            <a:r>
              <a:rPr lang="es-ES" sz="2000" err="1">
                <a:solidFill>
                  <a:srgbClr val="FF0000"/>
                </a:solidFill>
              </a:rPr>
              <a:t>replication</a:t>
            </a:r>
            <a:r>
              <a:rPr lang="es-ES" sz="2000">
                <a:solidFill>
                  <a:srgbClr val="FF0000"/>
                </a:solidFill>
              </a:rPr>
              <a:t> </a:t>
            </a:r>
            <a:r>
              <a:rPr lang="es-ES" sz="2000" err="1">
                <a:solidFill>
                  <a:srgbClr val="FF0000"/>
                </a:solidFill>
              </a:rPr>
              <a:t>works</a:t>
            </a:r>
            <a:endParaRPr lang="en-US" sz="4400">
              <a:solidFill>
                <a:srgbClr val="FF0000"/>
              </a:solidFill>
            </a:endParaRPr>
          </a:p>
          <a:p>
            <a:r>
              <a:rPr lang="en-US" sz="2400"/>
              <a:t>There are several technical solutions and implementations of this approach in the form of </a:t>
            </a:r>
            <a:r>
              <a:rPr lang="en-US" sz="2400">
                <a:solidFill>
                  <a:srgbClr val="FF0000"/>
                </a:solidFill>
              </a:rPr>
              <a:t>middleware</a:t>
            </a:r>
            <a:r>
              <a:rPr lang="en-US" sz="2400"/>
              <a:t> or </a:t>
            </a:r>
            <a:r>
              <a:rPr lang="en-US" sz="2400">
                <a:solidFill>
                  <a:srgbClr val="FF0000"/>
                </a:solidFill>
              </a:rPr>
              <a:t>virtualization platforms </a:t>
            </a:r>
          </a:p>
        </p:txBody>
      </p:sp>
    </p:spTree>
    <p:extLst>
      <p:ext uri="{BB962C8B-B14F-4D97-AF65-F5344CB8AC3E}">
        <p14:creationId xmlns:p14="http://schemas.microsoft.com/office/powerpoint/2010/main" val="2469164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ES" sz="3600" err="1">
                <a:solidFill>
                  <a:srgbClr val="0070C0"/>
                </a:solidFill>
              </a:rPr>
              <a:t>State</a:t>
            </a:r>
            <a:r>
              <a:rPr lang="es-ES" sz="3600">
                <a:solidFill>
                  <a:srgbClr val="0070C0"/>
                </a:solidFill>
              </a:rPr>
              <a:t> Machine </a:t>
            </a:r>
            <a:r>
              <a:rPr lang="es-ES" sz="3600" err="1">
                <a:solidFill>
                  <a:srgbClr val="0070C0"/>
                </a:solidFill>
              </a:rPr>
              <a:t>Replication</a:t>
            </a:r>
            <a:endParaRPr lang="es-ES" sz="3600">
              <a:solidFill>
                <a:srgbClr val="0070C0"/>
              </a:solidFill>
            </a:endParaRPr>
          </a:p>
        </p:txBody>
      </p:sp>
      <p:sp>
        <p:nvSpPr>
          <p:cNvPr id="4" name="3 Marcador de número de diapositiva"/>
          <p:cNvSpPr>
            <a:spLocks noGrp="1"/>
          </p:cNvSpPr>
          <p:nvPr>
            <p:ph type="sldNum" sz="quarter" idx="12"/>
          </p:nvPr>
        </p:nvSpPr>
        <p:spPr>
          <a:xfrm>
            <a:off x="4655840" y="6309321"/>
            <a:ext cx="2133600" cy="365125"/>
          </a:xfrm>
        </p:spPr>
        <p:txBody>
          <a:bodyPr/>
          <a:lstStyle/>
          <a:p>
            <a:fld id="{132FADFE-3B8F-471C-ABF0-DBC7717ECBBC}" type="slidenum">
              <a:rPr lang="es-ES" smtClean="0"/>
              <a:pPr/>
              <a:t>6</a:t>
            </a:fld>
            <a:endParaRPr lang="es-ES"/>
          </a:p>
        </p:txBody>
      </p:sp>
      <p:sp>
        <p:nvSpPr>
          <p:cNvPr id="5" name="4 Marcador de contenido"/>
          <p:cNvSpPr>
            <a:spLocks noGrp="1"/>
          </p:cNvSpPr>
          <p:nvPr>
            <p:ph idx="1"/>
          </p:nvPr>
        </p:nvSpPr>
        <p:spPr>
          <a:xfrm>
            <a:off x="1991544" y="1628801"/>
            <a:ext cx="8229600" cy="4525963"/>
          </a:xfrm>
        </p:spPr>
        <p:txBody>
          <a:bodyPr>
            <a:normAutofit/>
          </a:bodyPr>
          <a:lstStyle/>
          <a:p>
            <a:r>
              <a:rPr lang="es-ES" sz="2400"/>
              <a:t>Fundamental </a:t>
            </a:r>
            <a:r>
              <a:rPr lang="es-ES" sz="2400" err="1"/>
              <a:t>approach</a:t>
            </a:r>
            <a:r>
              <a:rPr lang="es-ES" sz="2400"/>
              <a:t> to </a:t>
            </a:r>
            <a:r>
              <a:rPr lang="es-ES" sz="2400" err="1"/>
              <a:t>fault-tolerance</a:t>
            </a:r>
            <a:endParaRPr lang="es-ES" sz="2400"/>
          </a:p>
          <a:p>
            <a:pPr lvl="1"/>
            <a:r>
              <a:rPr lang="es-ES" sz="2000"/>
              <a:t>Google </a:t>
            </a:r>
            <a:r>
              <a:rPr lang="es-ES" sz="2000" err="1"/>
              <a:t>Spanner</a:t>
            </a:r>
            <a:endParaRPr lang="es-ES" sz="2000"/>
          </a:p>
          <a:p>
            <a:pPr lvl="1"/>
            <a:r>
              <a:rPr lang="es-ES" sz="2000"/>
              <a:t>Apache </a:t>
            </a:r>
            <a:r>
              <a:rPr lang="es-ES" sz="2000" err="1"/>
              <a:t>Zookeeper</a:t>
            </a:r>
            <a:endParaRPr lang="es-ES" sz="2000"/>
          </a:p>
          <a:p>
            <a:pPr lvl="1"/>
            <a:r>
              <a:rPr lang="es-ES" sz="2000"/>
              <a:t>Windows </a:t>
            </a:r>
            <a:r>
              <a:rPr lang="es-ES" sz="2000" err="1"/>
              <a:t>Azure</a:t>
            </a:r>
            <a:r>
              <a:rPr lang="es-ES" sz="2000"/>
              <a:t> Storage</a:t>
            </a:r>
          </a:p>
          <a:p>
            <a:pPr lvl="1"/>
            <a:r>
              <a:rPr lang="es-ES" sz="2000" err="1"/>
              <a:t>MySQL</a:t>
            </a:r>
            <a:r>
              <a:rPr lang="es-ES" sz="2000"/>
              <a:t> </a:t>
            </a:r>
            <a:r>
              <a:rPr lang="es-ES" sz="2000" err="1"/>
              <a:t>Group</a:t>
            </a:r>
            <a:r>
              <a:rPr lang="es-ES" sz="2000"/>
              <a:t> </a:t>
            </a:r>
            <a:r>
              <a:rPr lang="es-ES" sz="2000" err="1"/>
              <a:t>Replication</a:t>
            </a:r>
            <a:endParaRPr lang="es-ES" sz="2000"/>
          </a:p>
          <a:p>
            <a:pPr lvl="1"/>
            <a:r>
              <a:rPr lang="es-ES" sz="2000"/>
              <a:t>Galera </a:t>
            </a:r>
            <a:r>
              <a:rPr lang="es-ES" sz="2000" err="1"/>
              <a:t>Cluster</a:t>
            </a:r>
            <a:r>
              <a:rPr lang="es-ES" sz="2000"/>
              <a:t>,…</a:t>
            </a:r>
          </a:p>
          <a:p>
            <a:r>
              <a:rPr lang="es-ES" sz="2400"/>
              <a:t>Simple </a:t>
            </a:r>
            <a:r>
              <a:rPr lang="es-ES" sz="2400" err="1"/>
              <a:t>execution</a:t>
            </a:r>
            <a:r>
              <a:rPr lang="es-ES" sz="2400"/>
              <a:t> </a:t>
            </a:r>
            <a:r>
              <a:rPr lang="es-ES" sz="2400" err="1"/>
              <a:t>model</a:t>
            </a:r>
            <a:r>
              <a:rPr lang="es-ES" sz="2400"/>
              <a:t> </a:t>
            </a:r>
          </a:p>
          <a:p>
            <a:pPr lvl="1"/>
            <a:r>
              <a:rPr lang="es-ES" sz="2000" err="1"/>
              <a:t>Repliclas</a:t>
            </a:r>
            <a:r>
              <a:rPr lang="es-ES" sz="2000"/>
              <a:t> </a:t>
            </a:r>
            <a:r>
              <a:rPr lang="es-ES" sz="2000" err="1"/>
              <a:t>order</a:t>
            </a:r>
            <a:r>
              <a:rPr lang="es-ES" sz="2000"/>
              <a:t> </a:t>
            </a:r>
            <a:r>
              <a:rPr lang="es-ES" sz="2000" err="1"/>
              <a:t>all</a:t>
            </a:r>
            <a:r>
              <a:rPr lang="es-ES" sz="2000"/>
              <a:t> </a:t>
            </a:r>
            <a:r>
              <a:rPr lang="es-ES" sz="2000" err="1"/>
              <a:t>commands</a:t>
            </a:r>
            <a:endParaRPr lang="es-ES" sz="2000"/>
          </a:p>
          <a:p>
            <a:pPr lvl="1"/>
            <a:r>
              <a:rPr lang="es-ES" sz="2000"/>
              <a:t>Replicas </a:t>
            </a:r>
            <a:r>
              <a:rPr lang="es-ES" sz="2000" err="1"/>
              <a:t>execute</a:t>
            </a:r>
            <a:r>
              <a:rPr lang="es-ES" sz="2000"/>
              <a:t> </a:t>
            </a:r>
            <a:r>
              <a:rPr lang="es-ES" sz="2000" err="1"/>
              <a:t>commands</a:t>
            </a:r>
            <a:r>
              <a:rPr lang="es-ES" sz="2000"/>
              <a:t> </a:t>
            </a:r>
            <a:r>
              <a:rPr lang="es-ES" sz="2000" err="1"/>
              <a:t>deterministically</a:t>
            </a:r>
            <a:r>
              <a:rPr lang="es-ES" sz="2000"/>
              <a:t> and in </a:t>
            </a:r>
            <a:r>
              <a:rPr lang="es-ES" sz="2000" err="1"/>
              <a:t>the</a:t>
            </a:r>
            <a:r>
              <a:rPr lang="es-ES" sz="2000"/>
              <a:t> </a:t>
            </a:r>
            <a:r>
              <a:rPr lang="es-ES" sz="2000" err="1"/>
              <a:t>same</a:t>
            </a:r>
            <a:r>
              <a:rPr lang="es-ES" sz="2000"/>
              <a:t> </a:t>
            </a:r>
            <a:r>
              <a:rPr lang="es-ES" sz="2000" err="1"/>
              <a:t>order</a:t>
            </a:r>
            <a:endParaRPr lang="es-ES" sz="2000"/>
          </a:p>
          <a:p>
            <a:endParaRPr lang="es-ES" sz="2400"/>
          </a:p>
        </p:txBody>
      </p:sp>
    </p:spTree>
    <p:extLst>
      <p:ext uri="{BB962C8B-B14F-4D97-AF65-F5344CB8AC3E}">
        <p14:creationId xmlns:p14="http://schemas.microsoft.com/office/powerpoint/2010/main" val="249865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3B7B7-9D82-4C0F-B694-42F32E7FAFD1}"/>
              </a:ext>
            </a:extLst>
          </p:cNvPr>
          <p:cNvSpPr>
            <a:spLocks noGrp="1"/>
          </p:cNvSpPr>
          <p:nvPr>
            <p:ph type="title"/>
          </p:nvPr>
        </p:nvSpPr>
        <p:spPr/>
        <p:txBody>
          <a:bodyPr>
            <a:normAutofit fontScale="90000"/>
          </a:bodyPr>
          <a:lstStyle/>
          <a:p>
            <a:br>
              <a:rPr lang="en-US" sz="4000">
                <a:solidFill>
                  <a:srgbClr val="0070C0"/>
                </a:solidFill>
              </a:rPr>
            </a:br>
            <a:r>
              <a:rPr lang="en-US" sz="4000">
                <a:solidFill>
                  <a:srgbClr val="0070C0"/>
                </a:solidFill>
              </a:rPr>
              <a:t>But, What do we replicate?</a:t>
            </a:r>
            <a:br>
              <a:rPr lang="en-US" sz="4000">
                <a:solidFill>
                  <a:srgbClr val="0070C0"/>
                </a:solidFill>
              </a:rPr>
            </a:br>
            <a:r>
              <a:rPr lang="en-US" sz="4000">
                <a:solidFill>
                  <a:srgbClr val="0070C0"/>
                </a:solidFill>
              </a:rPr>
              <a:t>Single big service performs poorly… why?</a:t>
            </a:r>
            <a:br>
              <a:rPr lang="en-US"/>
            </a:br>
            <a:endParaRPr lang="en-US"/>
          </a:p>
        </p:txBody>
      </p:sp>
      <p:sp>
        <p:nvSpPr>
          <p:cNvPr id="3" name="Content Placeholder 2">
            <a:extLst>
              <a:ext uri="{FF2B5EF4-FFF2-40B4-BE49-F238E27FC236}">
                <a16:creationId xmlns:a16="http://schemas.microsoft.com/office/drawing/2014/main" id="{66DDC32F-D2A2-48AC-BF02-8871D6547A20}"/>
              </a:ext>
            </a:extLst>
          </p:cNvPr>
          <p:cNvSpPr>
            <a:spLocks noGrp="1"/>
          </p:cNvSpPr>
          <p:nvPr>
            <p:ph idx="1"/>
          </p:nvPr>
        </p:nvSpPr>
        <p:spPr/>
        <p:txBody>
          <a:bodyPr>
            <a:normAutofit fontScale="92500" lnSpcReduction="20000"/>
          </a:bodyPr>
          <a:lstStyle/>
          <a:p>
            <a:r>
              <a:rPr lang="en-US"/>
              <a:t>Until 2005 “one server” was able to scale and keep up, like for Amazon’s shopping cart.  A 2005 server often ran on a small cluster with, perhaps, 2-16 machines in the cluster.</a:t>
            </a:r>
          </a:p>
          <a:p>
            <a:endParaRPr lang="en-US"/>
          </a:p>
          <a:p>
            <a:r>
              <a:rPr lang="en-US"/>
              <a:t>This worked well.</a:t>
            </a:r>
          </a:p>
          <a:p>
            <a:endParaRPr lang="en-US"/>
          </a:p>
          <a:p>
            <a:r>
              <a:rPr lang="en-US"/>
              <a:t>But suddenly, as the cloud grew, this form of scaling broke.  Companies threw unlimited money at the issue but critical services like databases still became hopelessly overloaded and crashed or fell far behind.</a:t>
            </a:r>
          </a:p>
        </p:txBody>
      </p:sp>
      <p:sp>
        <p:nvSpPr>
          <p:cNvPr id="5" name="Slide Number Placeholder 4">
            <a:extLst>
              <a:ext uri="{FF2B5EF4-FFF2-40B4-BE49-F238E27FC236}">
                <a16:creationId xmlns:a16="http://schemas.microsoft.com/office/drawing/2014/main" id="{EC6BD642-EAD1-4D16-9E8D-755B10C4A255}"/>
              </a:ext>
            </a:extLst>
          </p:cNvPr>
          <p:cNvSpPr>
            <a:spLocks noGrp="1"/>
          </p:cNvSpPr>
          <p:nvPr>
            <p:ph type="sldNum" sz="quarter" idx="12"/>
          </p:nvPr>
        </p:nvSpPr>
        <p:spPr/>
        <p:txBody>
          <a:bodyPr/>
          <a:lstStyle/>
          <a:p>
            <a:fld id="{3C974458-8A97-4835-BF79-1FB6D7856C21}" type="slidenum">
              <a:rPr lang="en-US" smtClean="0"/>
              <a:t>7</a:t>
            </a:fld>
            <a:endParaRPr lang="en-US"/>
          </a:p>
        </p:txBody>
      </p:sp>
      <p:sp>
        <p:nvSpPr>
          <p:cNvPr id="6" name="CuadroTexto 5">
            <a:extLst>
              <a:ext uri="{FF2B5EF4-FFF2-40B4-BE49-F238E27FC236}">
                <a16:creationId xmlns:a16="http://schemas.microsoft.com/office/drawing/2014/main" id="{2FECEF96-FCB6-8145-867B-8F5436F27949}"/>
              </a:ext>
            </a:extLst>
          </p:cNvPr>
          <p:cNvSpPr txBox="1"/>
          <p:nvPr/>
        </p:nvSpPr>
        <p:spPr>
          <a:xfrm>
            <a:off x="7567448" y="6259811"/>
            <a:ext cx="3100552" cy="461665"/>
          </a:xfrm>
          <a:prstGeom prst="rect">
            <a:avLst/>
          </a:prstGeom>
          <a:noFill/>
        </p:spPr>
        <p:txBody>
          <a:bodyPr wrap="square" rtlCol="0">
            <a:spAutoFit/>
          </a:bodyPr>
          <a:lstStyle/>
          <a:p>
            <a:r>
              <a:rPr lang="es-ES" sz="1200" err="1">
                <a:solidFill>
                  <a:srgbClr val="0070C0"/>
                </a:solidFill>
              </a:rPr>
              <a:t>Partially</a:t>
            </a:r>
            <a:r>
              <a:rPr lang="es-ES" sz="1200">
                <a:solidFill>
                  <a:srgbClr val="0070C0"/>
                </a:solidFill>
              </a:rPr>
              <a:t> </a:t>
            </a:r>
            <a:r>
              <a:rPr lang="es-ES" sz="1200" err="1">
                <a:solidFill>
                  <a:srgbClr val="0070C0"/>
                </a:solidFill>
              </a:rPr>
              <a:t>based</a:t>
            </a:r>
            <a:r>
              <a:rPr lang="es-ES" sz="1200">
                <a:solidFill>
                  <a:srgbClr val="0070C0"/>
                </a:solidFill>
              </a:rPr>
              <a:t> </a:t>
            </a:r>
            <a:r>
              <a:rPr lang="es-ES" sz="1200" err="1">
                <a:solidFill>
                  <a:srgbClr val="0070C0"/>
                </a:solidFill>
              </a:rPr>
              <a:t>on</a:t>
            </a:r>
            <a:r>
              <a:rPr lang="es-ES" sz="1200">
                <a:solidFill>
                  <a:srgbClr val="0070C0"/>
                </a:solidFill>
              </a:rPr>
              <a:t> </a:t>
            </a:r>
            <a:r>
              <a:rPr lang="es-ES" sz="1200" err="1">
                <a:solidFill>
                  <a:srgbClr val="0070C0"/>
                </a:solidFill>
              </a:rPr>
              <a:t>matrial</a:t>
            </a:r>
            <a:r>
              <a:rPr lang="es-ES" sz="1200">
                <a:solidFill>
                  <a:srgbClr val="0070C0"/>
                </a:solidFill>
              </a:rPr>
              <a:t> </a:t>
            </a:r>
            <a:r>
              <a:rPr lang="es-ES" sz="1200" err="1">
                <a:solidFill>
                  <a:srgbClr val="0070C0"/>
                </a:solidFill>
              </a:rPr>
              <a:t>from</a:t>
            </a:r>
            <a:r>
              <a:rPr lang="es-ES" sz="1200">
                <a:solidFill>
                  <a:srgbClr val="0070C0"/>
                </a:solidFill>
              </a:rPr>
              <a:t> Ken </a:t>
            </a:r>
            <a:r>
              <a:rPr lang="es-ES" sz="1200" err="1">
                <a:solidFill>
                  <a:srgbClr val="0070C0"/>
                </a:solidFill>
              </a:rPr>
              <a:t>Birman</a:t>
            </a:r>
            <a:r>
              <a:rPr lang="es-ES" sz="1200">
                <a:solidFill>
                  <a:srgbClr val="0070C0"/>
                </a:solidFill>
              </a:rPr>
              <a:t> – </a:t>
            </a:r>
            <a:r>
              <a:rPr lang="es-ES" sz="1200" err="1">
                <a:solidFill>
                  <a:srgbClr val="0070C0"/>
                </a:solidFill>
              </a:rPr>
              <a:t>University</a:t>
            </a:r>
            <a:r>
              <a:rPr lang="es-ES" sz="1200">
                <a:solidFill>
                  <a:srgbClr val="0070C0"/>
                </a:solidFill>
              </a:rPr>
              <a:t> of </a:t>
            </a:r>
            <a:r>
              <a:rPr lang="es-ES" sz="1200" err="1">
                <a:solidFill>
                  <a:srgbClr val="0070C0"/>
                </a:solidFill>
              </a:rPr>
              <a:t>Cornell</a:t>
            </a:r>
            <a:endParaRPr lang="es-ES" sz="1200">
              <a:solidFill>
                <a:srgbClr val="0070C0"/>
              </a:solidFill>
            </a:endParaRPr>
          </a:p>
        </p:txBody>
      </p:sp>
    </p:spTree>
    <p:extLst>
      <p:ext uri="{BB962C8B-B14F-4D97-AF65-F5344CB8AC3E}">
        <p14:creationId xmlns:p14="http://schemas.microsoft.com/office/powerpoint/2010/main" val="2505593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1B1E-B95B-44F2-9A9E-4F5B6FAA9FFF}"/>
              </a:ext>
            </a:extLst>
          </p:cNvPr>
          <p:cNvSpPr>
            <a:spLocks noGrp="1"/>
          </p:cNvSpPr>
          <p:nvPr>
            <p:ph type="title"/>
          </p:nvPr>
        </p:nvSpPr>
        <p:spPr/>
        <p:txBody>
          <a:bodyPr>
            <a:normAutofit/>
          </a:bodyPr>
          <a:lstStyle/>
          <a:p>
            <a:r>
              <a:rPr lang="en-US" sz="3600">
                <a:solidFill>
                  <a:srgbClr val="0070C0"/>
                </a:solidFill>
              </a:rPr>
              <a:t>The dangers of replication</a:t>
            </a:r>
          </a:p>
        </p:txBody>
      </p:sp>
      <p:sp>
        <p:nvSpPr>
          <p:cNvPr id="3" name="Content Placeholder 2">
            <a:extLst>
              <a:ext uri="{FF2B5EF4-FFF2-40B4-BE49-F238E27FC236}">
                <a16:creationId xmlns:a16="http://schemas.microsoft.com/office/drawing/2014/main" id="{D4294589-5E77-4410-8E6A-2B010650AEB2}"/>
              </a:ext>
            </a:extLst>
          </p:cNvPr>
          <p:cNvSpPr>
            <a:spLocks noGrp="1"/>
          </p:cNvSpPr>
          <p:nvPr>
            <p:ph idx="1"/>
          </p:nvPr>
        </p:nvSpPr>
        <p:spPr>
          <a:xfrm>
            <a:off x="1981200" y="1600201"/>
            <a:ext cx="8229600" cy="4525963"/>
          </a:xfrm>
        </p:spPr>
        <p:txBody>
          <a:bodyPr>
            <a:normAutofit/>
          </a:bodyPr>
          <a:lstStyle/>
          <a:p>
            <a:r>
              <a:rPr lang="en-US" sz="2600" dirty="0"/>
              <a:t>At Microsoft, Jim Gray anticipated this as early as 1996.</a:t>
            </a:r>
          </a:p>
          <a:p>
            <a:endParaRPr lang="en-US" sz="2600" dirty="0"/>
          </a:p>
          <a:p>
            <a:r>
              <a:rPr lang="en-US" sz="2600" dirty="0"/>
              <a:t>He and colleagues wrote a foundational paper from their insights:</a:t>
            </a:r>
          </a:p>
          <a:p>
            <a:endParaRPr lang="en-US" sz="2600" dirty="0"/>
          </a:p>
          <a:p>
            <a:endParaRPr lang="en-US" dirty="0"/>
          </a:p>
          <a:p>
            <a:endParaRPr lang="en-US" dirty="0"/>
          </a:p>
          <a:p>
            <a:pPr marL="0" indent="0">
              <a:buNone/>
            </a:pPr>
            <a:endParaRPr lang="en-US" sz="2400" dirty="0"/>
          </a:p>
          <a:p>
            <a:pPr marL="0" indent="0">
              <a:buNone/>
            </a:pPr>
            <a:r>
              <a:rPr lang="en-US" sz="2400" dirty="0"/>
              <a:t>Basic message: divide and conquer is really the </a:t>
            </a:r>
            <a:r>
              <a:rPr lang="en-US" sz="2400" i="1" dirty="0"/>
              <a:t>only </a:t>
            </a:r>
            <a:r>
              <a:rPr lang="en-US" sz="2400" dirty="0"/>
              <a:t>option.</a:t>
            </a:r>
          </a:p>
        </p:txBody>
      </p:sp>
      <p:sp>
        <p:nvSpPr>
          <p:cNvPr id="5" name="Slide Number Placeholder 4">
            <a:extLst>
              <a:ext uri="{FF2B5EF4-FFF2-40B4-BE49-F238E27FC236}">
                <a16:creationId xmlns:a16="http://schemas.microsoft.com/office/drawing/2014/main" id="{E415F76E-2B8E-433F-A8AF-737B9A58255D}"/>
              </a:ext>
            </a:extLst>
          </p:cNvPr>
          <p:cNvSpPr>
            <a:spLocks noGrp="1"/>
          </p:cNvSpPr>
          <p:nvPr>
            <p:ph type="sldNum" sz="quarter" idx="12"/>
          </p:nvPr>
        </p:nvSpPr>
        <p:spPr/>
        <p:txBody>
          <a:bodyPr/>
          <a:lstStyle/>
          <a:p>
            <a:fld id="{3C974458-8A97-4835-BF79-1FB6D7856C21}" type="slidenum">
              <a:rPr lang="en-US" smtClean="0"/>
              <a:t>8</a:t>
            </a:fld>
            <a:endParaRPr lang="en-US"/>
          </a:p>
        </p:txBody>
      </p:sp>
      <p:sp>
        <p:nvSpPr>
          <p:cNvPr id="6" name="TextBox 5">
            <a:extLst>
              <a:ext uri="{FF2B5EF4-FFF2-40B4-BE49-F238E27FC236}">
                <a16:creationId xmlns:a16="http://schemas.microsoft.com/office/drawing/2014/main" id="{014CAF7E-9DC1-4300-81C8-F0CBE4A0676C}"/>
              </a:ext>
            </a:extLst>
          </p:cNvPr>
          <p:cNvSpPr txBox="1"/>
          <p:nvPr/>
        </p:nvSpPr>
        <p:spPr>
          <a:xfrm>
            <a:off x="2651097" y="4062621"/>
            <a:ext cx="6679096" cy="1200329"/>
          </a:xfrm>
          <a:prstGeom prst="rect">
            <a:avLst/>
          </a:prstGeom>
          <a:noFill/>
          <a:ln>
            <a:solidFill>
              <a:schemeClr val="accent1"/>
            </a:solidFill>
          </a:ln>
        </p:spPr>
        <p:txBody>
          <a:bodyPr wrap="square" rtlCol="0">
            <a:spAutoFit/>
          </a:bodyPr>
          <a:lstStyle/>
          <a:p>
            <a:r>
              <a:rPr lang="en-US" b="1"/>
              <a:t>The dangers of replication and a solution</a:t>
            </a:r>
            <a:r>
              <a:rPr lang="en-US"/>
              <a:t>. Jim Gray, Pat </a:t>
            </a:r>
            <a:r>
              <a:rPr lang="en-US" err="1"/>
              <a:t>Helland</a:t>
            </a:r>
            <a:r>
              <a:rPr lang="en-US"/>
              <a:t>, Patrick O'Neil, and Dennis </a:t>
            </a:r>
            <a:r>
              <a:rPr lang="en-US" err="1"/>
              <a:t>Shasha</a:t>
            </a:r>
            <a:r>
              <a:rPr lang="en-US"/>
              <a:t>. 1996. In Proceedings of the 1996 ACM SIGMOD Conference.  pp 173-182. DOI=http://dx.doi.org/10.1145/233269.233330</a:t>
            </a:r>
          </a:p>
        </p:txBody>
      </p:sp>
      <p:sp>
        <p:nvSpPr>
          <p:cNvPr id="9" name="CuadroTexto 8">
            <a:extLst>
              <a:ext uri="{FF2B5EF4-FFF2-40B4-BE49-F238E27FC236}">
                <a16:creationId xmlns:a16="http://schemas.microsoft.com/office/drawing/2014/main" id="{165CF18C-F97A-C24C-BC41-21B15BC687D0}"/>
              </a:ext>
            </a:extLst>
          </p:cNvPr>
          <p:cNvSpPr txBox="1"/>
          <p:nvPr/>
        </p:nvSpPr>
        <p:spPr>
          <a:xfrm>
            <a:off x="7567448" y="6259811"/>
            <a:ext cx="3100552" cy="461665"/>
          </a:xfrm>
          <a:prstGeom prst="rect">
            <a:avLst/>
          </a:prstGeom>
          <a:noFill/>
        </p:spPr>
        <p:txBody>
          <a:bodyPr wrap="square" rtlCol="0">
            <a:spAutoFit/>
          </a:bodyPr>
          <a:lstStyle/>
          <a:p>
            <a:r>
              <a:rPr lang="es-ES" sz="1200" err="1">
                <a:solidFill>
                  <a:srgbClr val="0070C0"/>
                </a:solidFill>
              </a:rPr>
              <a:t>Partially</a:t>
            </a:r>
            <a:r>
              <a:rPr lang="es-ES" sz="1200">
                <a:solidFill>
                  <a:srgbClr val="0070C0"/>
                </a:solidFill>
              </a:rPr>
              <a:t> </a:t>
            </a:r>
            <a:r>
              <a:rPr lang="es-ES" sz="1200" err="1">
                <a:solidFill>
                  <a:srgbClr val="0070C0"/>
                </a:solidFill>
              </a:rPr>
              <a:t>based</a:t>
            </a:r>
            <a:r>
              <a:rPr lang="es-ES" sz="1200">
                <a:solidFill>
                  <a:srgbClr val="0070C0"/>
                </a:solidFill>
              </a:rPr>
              <a:t> </a:t>
            </a:r>
            <a:r>
              <a:rPr lang="es-ES" sz="1200" err="1">
                <a:solidFill>
                  <a:srgbClr val="0070C0"/>
                </a:solidFill>
              </a:rPr>
              <a:t>on</a:t>
            </a:r>
            <a:r>
              <a:rPr lang="es-ES" sz="1200">
                <a:solidFill>
                  <a:srgbClr val="0070C0"/>
                </a:solidFill>
              </a:rPr>
              <a:t> </a:t>
            </a:r>
            <a:r>
              <a:rPr lang="es-ES" sz="1200" err="1">
                <a:solidFill>
                  <a:srgbClr val="0070C0"/>
                </a:solidFill>
              </a:rPr>
              <a:t>matrial</a:t>
            </a:r>
            <a:r>
              <a:rPr lang="es-ES" sz="1200">
                <a:solidFill>
                  <a:srgbClr val="0070C0"/>
                </a:solidFill>
              </a:rPr>
              <a:t> </a:t>
            </a:r>
            <a:r>
              <a:rPr lang="es-ES" sz="1200" err="1">
                <a:solidFill>
                  <a:srgbClr val="0070C0"/>
                </a:solidFill>
              </a:rPr>
              <a:t>from</a:t>
            </a:r>
            <a:r>
              <a:rPr lang="es-ES" sz="1200">
                <a:solidFill>
                  <a:srgbClr val="0070C0"/>
                </a:solidFill>
              </a:rPr>
              <a:t> Ken </a:t>
            </a:r>
            <a:r>
              <a:rPr lang="es-ES" sz="1200" err="1">
                <a:solidFill>
                  <a:srgbClr val="0070C0"/>
                </a:solidFill>
              </a:rPr>
              <a:t>Birman</a:t>
            </a:r>
            <a:r>
              <a:rPr lang="es-ES" sz="1200">
                <a:solidFill>
                  <a:srgbClr val="0070C0"/>
                </a:solidFill>
              </a:rPr>
              <a:t> – </a:t>
            </a:r>
            <a:r>
              <a:rPr lang="es-ES" sz="1200" err="1">
                <a:solidFill>
                  <a:srgbClr val="0070C0"/>
                </a:solidFill>
              </a:rPr>
              <a:t>University</a:t>
            </a:r>
            <a:r>
              <a:rPr lang="es-ES" sz="1200">
                <a:solidFill>
                  <a:srgbClr val="0070C0"/>
                </a:solidFill>
              </a:rPr>
              <a:t> of </a:t>
            </a:r>
            <a:r>
              <a:rPr lang="es-ES" sz="1200" err="1">
                <a:solidFill>
                  <a:srgbClr val="0070C0"/>
                </a:solidFill>
              </a:rPr>
              <a:t>Cornell</a:t>
            </a:r>
            <a:endParaRPr lang="es-ES" sz="1200">
              <a:solidFill>
                <a:srgbClr val="0070C0"/>
              </a:solidFill>
            </a:endParaRPr>
          </a:p>
        </p:txBody>
      </p:sp>
    </p:spTree>
    <p:extLst>
      <p:ext uri="{BB962C8B-B14F-4D97-AF65-F5344CB8AC3E}">
        <p14:creationId xmlns:p14="http://schemas.microsoft.com/office/powerpoint/2010/main" val="281873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3F44-DFB8-4A07-8486-5DDEBB7787BF}"/>
              </a:ext>
            </a:extLst>
          </p:cNvPr>
          <p:cNvSpPr>
            <a:spLocks noGrp="1"/>
          </p:cNvSpPr>
          <p:nvPr>
            <p:ph type="title"/>
          </p:nvPr>
        </p:nvSpPr>
        <p:spPr/>
        <p:txBody>
          <a:bodyPr>
            <a:normAutofit/>
          </a:bodyPr>
          <a:lstStyle/>
          <a:p>
            <a:r>
              <a:rPr lang="en-US" sz="3600">
                <a:solidFill>
                  <a:srgbClr val="0070C0"/>
                </a:solidFill>
              </a:rPr>
              <a:t>The core issue</a:t>
            </a:r>
          </a:p>
        </p:txBody>
      </p:sp>
      <p:sp>
        <p:nvSpPr>
          <p:cNvPr id="3" name="Content Placeholder 2">
            <a:extLst>
              <a:ext uri="{FF2B5EF4-FFF2-40B4-BE49-F238E27FC236}">
                <a16:creationId xmlns:a16="http://schemas.microsoft.com/office/drawing/2014/main" id="{4D9D40EA-4BCB-4F7E-BFE1-498CB53AFF4B}"/>
              </a:ext>
            </a:extLst>
          </p:cNvPr>
          <p:cNvSpPr>
            <a:spLocks noGrp="1"/>
          </p:cNvSpPr>
          <p:nvPr>
            <p:ph idx="1"/>
          </p:nvPr>
        </p:nvSpPr>
        <p:spPr/>
        <p:txBody>
          <a:bodyPr>
            <a:normAutofit fontScale="92500" lnSpcReduction="10000"/>
          </a:bodyPr>
          <a:lstStyle/>
          <a:p>
            <a:r>
              <a:rPr lang="en-US"/>
              <a:t>The paper assumes that your goal is some form of lock-based consistency, which they model as database serializability or “state machine replication”, as in our case</a:t>
            </a:r>
          </a:p>
          <a:p>
            <a:endParaRPr lang="en-US"/>
          </a:p>
          <a:p>
            <a:r>
              <a:rPr lang="en-US"/>
              <a:t>So applications will be using read locks, and write locks, and because we want to accommodate more and more load by adding more servers, the work spreads over the pool of servers.</a:t>
            </a:r>
          </a:p>
          <a:p>
            <a:endParaRPr lang="en-US"/>
          </a:p>
          <a:p>
            <a:r>
              <a:rPr lang="en-US"/>
              <a:t>This is a very common way to think about servers of all kinds.</a:t>
            </a:r>
          </a:p>
        </p:txBody>
      </p:sp>
      <p:sp>
        <p:nvSpPr>
          <p:cNvPr id="5" name="Slide Number Placeholder 4">
            <a:extLst>
              <a:ext uri="{FF2B5EF4-FFF2-40B4-BE49-F238E27FC236}">
                <a16:creationId xmlns:a16="http://schemas.microsoft.com/office/drawing/2014/main" id="{AA3D73E9-5779-4CDD-8311-BBE3FD96F781}"/>
              </a:ext>
            </a:extLst>
          </p:cNvPr>
          <p:cNvSpPr>
            <a:spLocks noGrp="1"/>
          </p:cNvSpPr>
          <p:nvPr>
            <p:ph type="sldNum" sz="quarter" idx="12"/>
          </p:nvPr>
        </p:nvSpPr>
        <p:spPr/>
        <p:txBody>
          <a:bodyPr/>
          <a:lstStyle/>
          <a:p>
            <a:fld id="{3C974458-8A97-4835-BF79-1FB6D7856C21}" type="slidenum">
              <a:rPr lang="en-US" smtClean="0"/>
              <a:t>9</a:t>
            </a:fld>
            <a:endParaRPr lang="en-US"/>
          </a:p>
        </p:txBody>
      </p:sp>
      <p:sp>
        <p:nvSpPr>
          <p:cNvPr id="6" name="Marcador de pie de página 5">
            <a:extLst>
              <a:ext uri="{FF2B5EF4-FFF2-40B4-BE49-F238E27FC236}">
                <a16:creationId xmlns:a16="http://schemas.microsoft.com/office/drawing/2014/main" id="{648CF35E-5C2B-DD4D-9725-3883872C25CF}"/>
              </a:ext>
            </a:extLst>
          </p:cNvPr>
          <p:cNvSpPr txBox="1">
            <a:spLocks noGrp="1"/>
          </p:cNvSpPr>
          <p:nvPr>
            <p:ph type="ftr" sz="quarter" idx="11"/>
          </p:nvPr>
        </p:nvSpPr>
        <p:spPr>
          <a:xfrm>
            <a:off x="9245600" y="6308081"/>
            <a:ext cx="3860800" cy="461665"/>
          </a:xfrm>
          <a:prstGeom prst="rect">
            <a:avLst/>
          </a:prstGeom>
          <a:noFill/>
        </p:spPr>
        <p:txBody>
          <a:bodyPr wrap="square" rtlCol="0">
            <a:spAutoFit/>
          </a:bodyPr>
          <a:lstStyle/>
          <a:p>
            <a:r>
              <a:rPr lang="es-ES" err="1">
                <a:solidFill>
                  <a:srgbClr val="0070C0"/>
                </a:solidFill>
              </a:rPr>
              <a:t>Partially</a:t>
            </a:r>
            <a:r>
              <a:rPr lang="es-ES">
                <a:solidFill>
                  <a:srgbClr val="0070C0"/>
                </a:solidFill>
              </a:rPr>
              <a:t> </a:t>
            </a:r>
            <a:r>
              <a:rPr lang="es-ES" err="1">
                <a:solidFill>
                  <a:srgbClr val="0070C0"/>
                </a:solidFill>
              </a:rPr>
              <a:t>based</a:t>
            </a:r>
            <a:r>
              <a:rPr lang="es-ES">
                <a:solidFill>
                  <a:srgbClr val="0070C0"/>
                </a:solidFill>
              </a:rPr>
              <a:t> </a:t>
            </a:r>
            <a:r>
              <a:rPr lang="es-ES" err="1">
                <a:solidFill>
                  <a:srgbClr val="0070C0"/>
                </a:solidFill>
              </a:rPr>
              <a:t>on</a:t>
            </a:r>
            <a:r>
              <a:rPr lang="es-ES">
                <a:solidFill>
                  <a:srgbClr val="0070C0"/>
                </a:solidFill>
              </a:rPr>
              <a:t> </a:t>
            </a:r>
            <a:r>
              <a:rPr lang="es-ES" err="1">
                <a:solidFill>
                  <a:srgbClr val="0070C0"/>
                </a:solidFill>
              </a:rPr>
              <a:t>matrial</a:t>
            </a:r>
            <a:r>
              <a:rPr lang="es-ES">
                <a:solidFill>
                  <a:srgbClr val="0070C0"/>
                </a:solidFill>
              </a:rPr>
              <a:t> </a:t>
            </a:r>
            <a:r>
              <a:rPr lang="es-ES" err="1">
                <a:solidFill>
                  <a:srgbClr val="0070C0"/>
                </a:solidFill>
              </a:rPr>
              <a:t>from</a:t>
            </a:r>
            <a:r>
              <a:rPr lang="es-ES">
                <a:solidFill>
                  <a:srgbClr val="0070C0"/>
                </a:solidFill>
              </a:rPr>
              <a:t> Ken </a:t>
            </a:r>
            <a:r>
              <a:rPr lang="es-ES" err="1">
                <a:solidFill>
                  <a:srgbClr val="0070C0"/>
                </a:solidFill>
              </a:rPr>
              <a:t>Birman</a:t>
            </a:r>
            <a:r>
              <a:rPr lang="es-ES">
                <a:solidFill>
                  <a:srgbClr val="0070C0"/>
                </a:solidFill>
              </a:rPr>
              <a:t> – </a:t>
            </a:r>
            <a:r>
              <a:rPr lang="es-ES" err="1">
                <a:solidFill>
                  <a:srgbClr val="0070C0"/>
                </a:solidFill>
              </a:rPr>
              <a:t>University</a:t>
            </a:r>
            <a:r>
              <a:rPr lang="es-ES">
                <a:solidFill>
                  <a:srgbClr val="0070C0"/>
                </a:solidFill>
              </a:rPr>
              <a:t> of </a:t>
            </a:r>
            <a:r>
              <a:rPr lang="es-ES" err="1">
                <a:solidFill>
                  <a:srgbClr val="0070C0"/>
                </a:solidFill>
              </a:rPr>
              <a:t>Cornell</a:t>
            </a:r>
            <a:endParaRPr lang="es-ES">
              <a:solidFill>
                <a:srgbClr val="0070C0"/>
              </a:solidFill>
            </a:endParaRPr>
          </a:p>
        </p:txBody>
      </p:sp>
    </p:spTree>
    <p:extLst>
      <p:ext uri="{BB962C8B-B14F-4D97-AF65-F5344CB8AC3E}">
        <p14:creationId xmlns:p14="http://schemas.microsoft.com/office/powerpoint/2010/main" val="395032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1D22-8EED-4479-BAD6-01F3E75E997F}"/>
              </a:ext>
            </a:extLst>
          </p:cNvPr>
          <p:cNvSpPr>
            <a:spLocks noGrp="1"/>
          </p:cNvSpPr>
          <p:nvPr>
            <p:ph type="title"/>
          </p:nvPr>
        </p:nvSpPr>
        <p:spPr/>
        <p:txBody>
          <a:bodyPr>
            <a:normAutofit/>
          </a:bodyPr>
          <a:lstStyle/>
          <a:p>
            <a:r>
              <a:rPr lang="en-US" sz="3600">
                <a:solidFill>
                  <a:srgbClr val="0070C0"/>
                </a:solidFill>
              </a:rPr>
              <a:t>Their setup, as a picture</a:t>
            </a:r>
          </a:p>
        </p:txBody>
      </p:sp>
      <p:sp>
        <p:nvSpPr>
          <p:cNvPr id="5" name="Slide Number Placeholder 4">
            <a:extLst>
              <a:ext uri="{FF2B5EF4-FFF2-40B4-BE49-F238E27FC236}">
                <a16:creationId xmlns:a16="http://schemas.microsoft.com/office/drawing/2014/main" id="{BED8E422-A2D7-4492-AE6B-CA920A4FAD70}"/>
              </a:ext>
            </a:extLst>
          </p:cNvPr>
          <p:cNvSpPr>
            <a:spLocks noGrp="1"/>
          </p:cNvSpPr>
          <p:nvPr>
            <p:ph type="sldNum" sz="quarter" idx="12"/>
          </p:nvPr>
        </p:nvSpPr>
        <p:spPr/>
        <p:txBody>
          <a:bodyPr/>
          <a:lstStyle/>
          <a:p>
            <a:fld id="{3C974458-8A97-4835-BF79-1FB6D7856C21}" type="slidenum">
              <a:rPr lang="en-US" smtClean="0"/>
              <a:t>10</a:t>
            </a:fld>
            <a:endParaRPr lang="en-US"/>
          </a:p>
        </p:txBody>
      </p:sp>
      <p:sp>
        <p:nvSpPr>
          <p:cNvPr id="6" name="Flowchart: Magnetic Disk 5">
            <a:extLst>
              <a:ext uri="{FF2B5EF4-FFF2-40B4-BE49-F238E27FC236}">
                <a16:creationId xmlns:a16="http://schemas.microsoft.com/office/drawing/2014/main" id="{B9899F2C-1537-4A28-A8F0-BF51A818A795}"/>
              </a:ext>
            </a:extLst>
          </p:cNvPr>
          <p:cNvSpPr/>
          <p:nvPr/>
        </p:nvSpPr>
        <p:spPr>
          <a:xfrm>
            <a:off x="3587364" y="3429001"/>
            <a:ext cx="4573988" cy="1455089"/>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700" b="1"/>
              <a:t>Database</a:t>
            </a:r>
          </a:p>
        </p:txBody>
      </p:sp>
      <p:sp>
        <p:nvSpPr>
          <p:cNvPr id="7" name="Freeform: Shape 6">
            <a:extLst>
              <a:ext uri="{FF2B5EF4-FFF2-40B4-BE49-F238E27FC236}">
                <a16:creationId xmlns:a16="http://schemas.microsoft.com/office/drawing/2014/main" id="{80C87B67-EDFF-4399-AB42-B987A3FC7A59}"/>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Freeform: Shape 7">
            <a:extLst>
              <a:ext uri="{FF2B5EF4-FFF2-40B4-BE49-F238E27FC236}">
                <a16:creationId xmlns:a16="http://schemas.microsoft.com/office/drawing/2014/main" id="{D44F33E9-D44F-44E7-B016-A1DF9AB0B690}"/>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Freeform: Shape 8">
            <a:extLst>
              <a:ext uri="{FF2B5EF4-FFF2-40B4-BE49-F238E27FC236}">
                <a16:creationId xmlns:a16="http://schemas.microsoft.com/office/drawing/2014/main" id="{88869B3D-C20E-47D4-BAD1-F52F73C61CBD}"/>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Freeform: Shape 9">
            <a:extLst>
              <a:ext uri="{FF2B5EF4-FFF2-40B4-BE49-F238E27FC236}">
                <a16:creationId xmlns:a16="http://schemas.microsoft.com/office/drawing/2014/main" id="{FCB3B6E1-5B74-4582-8AD0-AA79489A5445}"/>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Freeform: Shape 10">
            <a:extLst>
              <a:ext uri="{FF2B5EF4-FFF2-40B4-BE49-F238E27FC236}">
                <a16:creationId xmlns:a16="http://schemas.microsoft.com/office/drawing/2014/main" id="{6464A13C-C125-49B6-BE01-219F2E1B860F}"/>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reeform: Shape 11">
            <a:extLst>
              <a:ext uri="{FF2B5EF4-FFF2-40B4-BE49-F238E27FC236}">
                <a16:creationId xmlns:a16="http://schemas.microsoft.com/office/drawing/2014/main" id="{59CB1C10-4A04-4B36-8F46-D146617DBAA8}"/>
              </a:ext>
            </a:extLst>
          </p:cNvPr>
          <p:cNvSpPr/>
          <p:nvPr/>
        </p:nvSpPr>
        <p:spPr>
          <a:xfrm>
            <a:off x="526928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3F0393A-866C-47AA-A1DB-0F8A89AAF3D8}"/>
              </a:ext>
            </a:extLst>
          </p:cNvPr>
          <p:cNvSpPr/>
          <p:nvPr/>
        </p:nvSpPr>
        <p:spPr>
          <a:xfrm>
            <a:off x="5721280" y="24372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Freeform: Shape 13">
            <a:extLst>
              <a:ext uri="{FF2B5EF4-FFF2-40B4-BE49-F238E27FC236}">
                <a16:creationId xmlns:a16="http://schemas.microsoft.com/office/drawing/2014/main" id="{31A33852-2ABC-4399-A839-FC9772DE800D}"/>
              </a:ext>
            </a:extLst>
          </p:cNvPr>
          <p:cNvSpPr/>
          <p:nvPr/>
        </p:nvSpPr>
        <p:spPr>
          <a:xfrm>
            <a:off x="617882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Freeform: Shape 14">
            <a:extLst>
              <a:ext uri="{FF2B5EF4-FFF2-40B4-BE49-F238E27FC236}">
                <a16:creationId xmlns:a16="http://schemas.microsoft.com/office/drawing/2014/main" id="{DBDDE802-6A9D-4257-BE85-E1C78DDD0DCE}"/>
              </a:ext>
            </a:extLst>
          </p:cNvPr>
          <p:cNvSpPr/>
          <p:nvPr/>
        </p:nvSpPr>
        <p:spPr>
          <a:xfrm>
            <a:off x="6818501" y="2291468"/>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Freeform: Shape 15">
            <a:extLst>
              <a:ext uri="{FF2B5EF4-FFF2-40B4-BE49-F238E27FC236}">
                <a16:creationId xmlns:a16="http://schemas.microsoft.com/office/drawing/2014/main" id="{4E21559D-568A-4853-9F9C-9CE8E620CA41}"/>
              </a:ext>
            </a:extLst>
          </p:cNvPr>
          <p:cNvSpPr/>
          <p:nvPr/>
        </p:nvSpPr>
        <p:spPr>
          <a:xfrm>
            <a:off x="734247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Freeform: Shape 16">
            <a:extLst>
              <a:ext uri="{FF2B5EF4-FFF2-40B4-BE49-F238E27FC236}">
                <a16:creationId xmlns:a16="http://schemas.microsoft.com/office/drawing/2014/main" id="{B2FDD4FB-0B23-4E24-8956-266ED2AECCF0}"/>
              </a:ext>
            </a:extLst>
          </p:cNvPr>
          <p:cNvSpPr/>
          <p:nvPr/>
        </p:nvSpPr>
        <p:spPr>
          <a:xfrm>
            <a:off x="7794470" y="242087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Freeform: Shape 17">
            <a:extLst>
              <a:ext uri="{FF2B5EF4-FFF2-40B4-BE49-F238E27FC236}">
                <a16:creationId xmlns:a16="http://schemas.microsoft.com/office/drawing/2014/main" id="{A6B1491B-6C5B-458B-BEFE-5A11F343D73B}"/>
              </a:ext>
            </a:extLst>
          </p:cNvPr>
          <p:cNvSpPr/>
          <p:nvPr/>
        </p:nvSpPr>
        <p:spPr>
          <a:xfrm>
            <a:off x="825201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TextBox 18">
            <a:extLst>
              <a:ext uri="{FF2B5EF4-FFF2-40B4-BE49-F238E27FC236}">
                <a16:creationId xmlns:a16="http://schemas.microsoft.com/office/drawing/2014/main" id="{361C8C2C-8E2A-4603-8063-33CA2C184276}"/>
              </a:ext>
            </a:extLst>
          </p:cNvPr>
          <p:cNvSpPr txBox="1"/>
          <p:nvPr/>
        </p:nvSpPr>
        <p:spPr>
          <a:xfrm>
            <a:off x="8878608" y="2122701"/>
            <a:ext cx="2028878" cy="923330"/>
          </a:xfrm>
          <a:prstGeom prst="rect">
            <a:avLst/>
          </a:prstGeom>
          <a:noFill/>
        </p:spPr>
        <p:txBody>
          <a:bodyPr wrap="square" rtlCol="0">
            <a:spAutoFit/>
          </a:bodyPr>
          <a:lstStyle/>
          <a:p>
            <a:pPr algn="ctr"/>
            <a:r>
              <a:rPr lang="en-US" dirty="0"/>
              <a:t>Applications using the database: </a:t>
            </a:r>
            <a:r>
              <a:rPr lang="en-US" i="1" dirty="0"/>
              <a:t>client processes</a:t>
            </a:r>
            <a:endParaRPr lang="en-US" dirty="0"/>
          </a:p>
        </p:txBody>
      </p:sp>
      <p:cxnSp>
        <p:nvCxnSpPr>
          <p:cNvPr id="21" name="Straight Arrow Connector 20">
            <a:extLst>
              <a:ext uri="{FF2B5EF4-FFF2-40B4-BE49-F238E27FC236}">
                <a16:creationId xmlns:a16="http://schemas.microsoft.com/office/drawing/2014/main" id="{56404DA9-BD0E-4804-9C83-CAC9EE490FDD}"/>
              </a:ext>
            </a:extLst>
          </p:cNvPr>
          <p:cNvCxnSpPr>
            <a:cxnSpLocks/>
          </p:cNvCxnSpPr>
          <p:nvPr/>
        </p:nvCxnSpPr>
        <p:spPr>
          <a:xfrm>
            <a:off x="3063392" y="3021994"/>
            <a:ext cx="1813536" cy="602310"/>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6362FD6-98A8-44EB-B70B-17D5A3B1B1AD}"/>
              </a:ext>
            </a:extLst>
          </p:cNvPr>
          <p:cNvCxnSpPr>
            <a:cxnSpLocks/>
          </p:cNvCxnSpPr>
          <p:nvPr/>
        </p:nvCxnSpPr>
        <p:spPr>
          <a:xfrm flipH="1">
            <a:off x="5848001" y="3005594"/>
            <a:ext cx="1114448" cy="676258"/>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5CF7B21-AE70-4CB5-AC0E-C8A8BD1DC5E2}"/>
              </a:ext>
            </a:extLst>
          </p:cNvPr>
          <p:cNvCxnSpPr>
            <a:cxnSpLocks/>
          </p:cNvCxnSpPr>
          <p:nvPr/>
        </p:nvCxnSpPr>
        <p:spPr>
          <a:xfrm>
            <a:off x="4907811" y="3052831"/>
            <a:ext cx="585022" cy="602310"/>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15222C0-85DA-4BAA-A3BA-D621148991F0}"/>
              </a:ext>
            </a:extLst>
          </p:cNvPr>
          <p:cNvSpPr txBox="1"/>
          <p:nvPr/>
        </p:nvSpPr>
        <p:spPr>
          <a:xfrm>
            <a:off x="8524685" y="3387852"/>
            <a:ext cx="2114929" cy="1323439"/>
          </a:xfrm>
          <a:prstGeom prst="rect">
            <a:avLst/>
          </a:prstGeom>
          <a:noFill/>
        </p:spPr>
        <p:txBody>
          <a:bodyPr wrap="square" rtlCol="0">
            <a:spAutoFit/>
          </a:bodyPr>
          <a:lstStyle/>
          <a:p>
            <a:pPr algn="ctr"/>
            <a:r>
              <a:rPr lang="en-US" sz="1600" i="1" dirty="0"/>
              <a:t>During the run, T concurrent requests are issued.  Here, 3 are running right now, but T could be much larger.</a:t>
            </a:r>
          </a:p>
        </p:txBody>
      </p:sp>
    </p:spTree>
    <p:extLst>
      <p:ext uri="{BB962C8B-B14F-4D97-AF65-F5344CB8AC3E}">
        <p14:creationId xmlns:p14="http://schemas.microsoft.com/office/powerpoint/2010/main" val="2201072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1D22-8EED-4479-BAD6-01F3E75E997F}"/>
              </a:ext>
            </a:extLst>
          </p:cNvPr>
          <p:cNvSpPr>
            <a:spLocks noGrp="1"/>
          </p:cNvSpPr>
          <p:nvPr>
            <p:ph type="title"/>
          </p:nvPr>
        </p:nvSpPr>
        <p:spPr/>
        <p:txBody>
          <a:bodyPr>
            <a:normAutofit/>
          </a:bodyPr>
          <a:lstStyle/>
          <a:p>
            <a:r>
              <a:rPr lang="en-US" sz="3600">
                <a:solidFill>
                  <a:srgbClr val="0070C0"/>
                </a:solidFill>
              </a:rPr>
              <a:t>Their Basic setup, as a picture</a:t>
            </a:r>
          </a:p>
        </p:txBody>
      </p:sp>
      <p:sp>
        <p:nvSpPr>
          <p:cNvPr id="5" name="Slide Number Placeholder 4">
            <a:extLst>
              <a:ext uri="{FF2B5EF4-FFF2-40B4-BE49-F238E27FC236}">
                <a16:creationId xmlns:a16="http://schemas.microsoft.com/office/drawing/2014/main" id="{BED8E422-A2D7-4492-AE6B-CA920A4FAD70}"/>
              </a:ext>
            </a:extLst>
          </p:cNvPr>
          <p:cNvSpPr>
            <a:spLocks noGrp="1"/>
          </p:cNvSpPr>
          <p:nvPr>
            <p:ph type="sldNum" sz="quarter" idx="12"/>
          </p:nvPr>
        </p:nvSpPr>
        <p:spPr/>
        <p:txBody>
          <a:bodyPr/>
          <a:lstStyle/>
          <a:p>
            <a:fld id="{3C974458-8A97-4835-BF79-1FB6D7856C21}" type="slidenum">
              <a:rPr lang="en-US" smtClean="0"/>
              <a:t>11</a:t>
            </a:fld>
            <a:endParaRPr lang="en-US"/>
          </a:p>
        </p:txBody>
      </p:sp>
      <p:sp>
        <p:nvSpPr>
          <p:cNvPr id="30" name="Oval 29">
            <a:extLst>
              <a:ext uri="{FF2B5EF4-FFF2-40B4-BE49-F238E27FC236}">
                <a16:creationId xmlns:a16="http://schemas.microsoft.com/office/drawing/2014/main" id="{18FFE1CD-C464-4B11-8C6E-20D0B809415A}"/>
              </a:ext>
            </a:extLst>
          </p:cNvPr>
          <p:cNvSpPr/>
          <p:nvPr/>
        </p:nvSpPr>
        <p:spPr>
          <a:xfrm>
            <a:off x="6656072" y="5938300"/>
            <a:ext cx="34289" cy="3428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Flowchart: Magnetic Disk 5">
            <a:extLst>
              <a:ext uri="{FF2B5EF4-FFF2-40B4-BE49-F238E27FC236}">
                <a16:creationId xmlns:a16="http://schemas.microsoft.com/office/drawing/2014/main" id="{D7C40A38-B9FD-2175-A4A0-7D2BEAF6A05A}"/>
              </a:ext>
            </a:extLst>
          </p:cNvPr>
          <p:cNvSpPr/>
          <p:nvPr/>
        </p:nvSpPr>
        <p:spPr>
          <a:xfrm>
            <a:off x="3587364" y="3429001"/>
            <a:ext cx="4573988" cy="1455089"/>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b="1" dirty="0"/>
          </a:p>
        </p:txBody>
      </p:sp>
      <p:sp>
        <p:nvSpPr>
          <p:cNvPr id="48" name="Freeform: Shape 6">
            <a:extLst>
              <a:ext uri="{FF2B5EF4-FFF2-40B4-BE49-F238E27FC236}">
                <a16:creationId xmlns:a16="http://schemas.microsoft.com/office/drawing/2014/main" id="{5B1A8274-C450-F36A-9399-1956A14CEA91}"/>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9" name="Freeform: Shape 7">
            <a:extLst>
              <a:ext uri="{FF2B5EF4-FFF2-40B4-BE49-F238E27FC236}">
                <a16:creationId xmlns:a16="http://schemas.microsoft.com/office/drawing/2014/main" id="{FD855B2F-FAB1-B77A-74F6-6C269C5CA9DD}"/>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0" name="Freeform: Shape 8">
            <a:extLst>
              <a:ext uri="{FF2B5EF4-FFF2-40B4-BE49-F238E27FC236}">
                <a16:creationId xmlns:a16="http://schemas.microsoft.com/office/drawing/2014/main" id="{EF633705-F784-58BE-13AF-A4A416DA8FB0}"/>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Freeform: Shape 9">
            <a:extLst>
              <a:ext uri="{FF2B5EF4-FFF2-40B4-BE49-F238E27FC236}">
                <a16:creationId xmlns:a16="http://schemas.microsoft.com/office/drawing/2014/main" id="{C7A155B6-6F26-A902-E4AA-0132FFD4AF62}"/>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2" name="Freeform: Shape 10">
            <a:extLst>
              <a:ext uri="{FF2B5EF4-FFF2-40B4-BE49-F238E27FC236}">
                <a16:creationId xmlns:a16="http://schemas.microsoft.com/office/drawing/2014/main" id="{0B6E14EE-9FEE-8D9B-764A-35D603005291}"/>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11">
            <a:extLst>
              <a:ext uri="{FF2B5EF4-FFF2-40B4-BE49-F238E27FC236}">
                <a16:creationId xmlns:a16="http://schemas.microsoft.com/office/drawing/2014/main" id="{8467F67A-8CEF-90D2-9628-88C5A0CAA91B}"/>
              </a:ext>
            </a:extLst>
          </p:cNvPr>
          <p:cNvSpPr/>
          <p:nvPr/>
        </p:nvSpPr>
        <p:spPr>
          <a:xfrm>
            <a:off x="526928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Freeform: Shape 12">
            <a:extLst>
              <a:ext uri="{FF2B5EF4-FFF2-40B4-BE49-F238E27FC236}">
                <a16:creationId xmlns:a16="http://schemas.microsoft.com/office/drawing/2014/main" id="{6035DF5A-8DEE-9DD7-A8EA-F0F53C9E34C9}"/>
              </a:ext>
            </a:extLst>
          </p:cNvPr>
          <p:cNvSpPr/>
          <p:nvPr/>
        </p:nvSpPr>
        <p:spPr>
          <a:xfrm>
            <a:off x="5721280" y="24372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5" name="Freeform: Shape 13">
            <a:extLst>
              <a:ext uri="{FF2B5EF4-FFF2-40B4-BE49-F238E27FC236}">
                <a16:creationId xmlns:a16="http://schemas.microsoft.com/office/drawing/2014/main" id="{A57BB861-1C25-B183-CE92-2F4C8BA5FF02}"/>
              </a:ext>
            </a:extLst>
          </p:cNvPr>
          <p:cNvSpPr/>
          <p:nvPr/>
        </p:nvSpPr>
        <p:spPr>
          <a:xfrm>
            <a:off x="6178822" y="22108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6" name="Freeform: Shape 14">
            <a:extLst>
              <a:ext uri="{FF2B5EF4-FFF2-40B4-BE49-F238E27FC236}">
                <a16:creationId xmlns:a16="http://schemas.microsoft.com/office/drawing/2014/main" id="{3D8477D8-B32E-8B51-BCD9-44AB040683D2}"/>
              </a:ext>
            </a:extLst>
          </p:cNvPr>
          <p:cNvSpPr/>
          <p:nvPr/>
        </p:nvSpPr>
        <p:spPr>
          <a:xfrm>
            <a:off x="6818501" y="2291468"/>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7" name="Freeform: Shape 15">
            <a:extLst>
              <a:ext uri="{FF2B5EF4-FFF2-40B4-BE49-F238E27FC236}">
                <a16:creationId xmlns:a16="http://schemas.microsoft.com/office/drawing/2014/main" id="{3C5A1E00-DB8A-2B64-5081-C19BF3AEE67F}"/>
              </a:ext>
            </a:extLst>
          </p:cNvPr>
          <p:cNvSpPr/>
          <p:nvPr/>
        </p:nvSpPr>
        <p:spPr>
          <a:xfrm>
            <a:off x="734247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Freeform: Shape 16">
            <a:extLst>
              <a:ext uri="{FF2B5EF4-FFF2-40B4-BE49-F238E27FC236}">
                <a16:creationId xmlns:a16="http://schemas.microsoft.com/office/drawing/2014/main" id="{4786E0D8-7D12-4582-E96A-CCDEA1C26A57}"/>
              </a:ext>
            </a:extLst>
          </p:cNvPr>
          <p:cNvSpPr/>
          <p:nvPr/>
        </p:nvSpPr>
        <p:spPr>
          <a:xfrm>
            <a:off x="7794470" y="242087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9" name="Freeform: Shape 17">
            <a:extLst>
              <a:ext uri="{FF2B5EF4-FFF2-40B4-BE49-F238E27FC236}">
                <a16:creationId xmlns:a16="http://schemas.microsoft.com/office/drawing/2014/main" id="{3587F01E-5148-6A25-74C2-26B569597499}"/>
              </a:ext>
            </a:extLst>
          </p:cNvPr>
          <p:cNvSpPr/>
          <p:nvPr/>
        </p:nvSpPr>
        <p:spPr>
          <a:xfrm>
            <a:off x="8252013" y="219441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TextBox 59">
            <a:extLst>
              <a:ext uri="{FF2B5EF4-FFF2-40B4-BE49-F238E27FC236}">
                <a16:creationId xmlns:a16="http://schemas.microsoft.com/office/drawing/2014/main" id="{E80906CB-269B-4E77-84FE-598B4CED55A9}"/>
              </a:ext>
            </a:extLst>
          </p:cNvPr>
          <p:cNvSpPr txBox="1"/>
          <p:nvPr/>
        </p:nvSpPr>
        <p:spPr>
          <a:xfrm>
            <a:off x="8878608" y="2122701"/>
            <a:ext cx="2028878" cy="923330"/>
          </a:xfrm>
          <a:prstGeom prst="rect">
            <a:avLst/>
          </a:prstGeom>
          <a:noFill/>
        </p:spPr>
        <p:txBody>
          <a:bodyPr wrap="square" rtlCol="0">
            <a:spAutoFit/>
          </a:bodyPr>
          <a:lstStyle/>
          <a:p>
            <a:pPr algn="ctr"/>
            <a:r>
              <a:rPr lang="en-US" dirty="0"/>
              <a:t>Applications using the database: </a:t>
            </a:r>
            <a:r>
              <a:rPr lang="en-US" i="1" dirty="0"/>
              <a:t>client processes</a:t>
            </a:r>
            <a:endParaRPr lang="en-US" dirty="0"/>
          </a:p>
        </p:txBody>
      </p:sp>
      <p:cxnSp>
        <p:nvCxnSpPr>
          <p:cNvPr id="61" name="Straight Arrow Connector 60">
            <a:extLst>
              <a:ext uri="{FF2B5EF4-FFF2-40B4-BE49-F238E27FC236}">
                <a16:creationId xmlns:a16="http://schemas.microsoft.com/office/drawing/2014/main" id="{693CB57C-DFE9-1D24-103D-78A29C77E9B4}"/>
              </a:ext>
            </a:extLst>
          </p:cNvPr>
          <p:cNvCxnSpPr>
            <a:cxnSpLocks/>
          </p:cNvCxnSpPr>
          <p:nvPr/>
        </p:nvCxnSpPr>
        <p:spPr>
          <a:xfrm>
            <a:off x="3063392" y="3021994"/>
            <a:ext cx="1813536" cy="602310"/>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644B287-C6F0-A3A8-548E-273C7D62EA8D}"/>
              </a:ext>
            </a:extLst>
          </p:cNvPr>
          <p:cNvCxnSpPr>
            <a:cxnSpLocks/>
          </p:cNvCxnSpPr>
          <p:nvPr/>
        </p:nvCxnSpPr>
        <p:spPr>
          <a:xfrm flipH="1">
            <a:off x="5848001" y="3005594"/>
            <a:ext cx="1114448" cy="676258"/>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003C016-37BE-1875-2B50-F3553DBD0E8D}"/>
              </a:ext>
            </a:extLst>
          </p:cNvPr>
          <p:cNvCxnSpPr>
            <a:cxnSpLocks/>
          </p:cNvCxnSpPr>
          <p:nvPr/>
        </p:nvCxnSpPr>
        <p:spPr>
          <a:xfrm>
            <a:off x="4907811" y="3052831"/>
            <a:ext cx="585022" cy="602310"/>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BC547C7-45E4-C8D4-4550-0440F3B482C3}"/>
              </a:ext>
            </a:extLst>
          </p:cNvPr>
          <p:cNvSpPr txBox="1"/>
          <p:nvPr/>
        </p:nvSpPr>
        <p:spPr>
          <a:xfrm>
            <a:off x="8524685" y="3387852"/>
            <a:ext cx="2114929" cy="1323439"/>
          </a:xfrm>
          <a:prstGeom prst="rect">
            <a:avLst/>
          </a:prstGeom>
          <a:noFill/>
        </p:spPr>
        <p:txBody>
          <a:bodyPr wrap="square" rtlCol="0">
            <a:spAutoFit/>
          </a:bodyPr>
          <a:lstStyle/>
          <a:p>
            <a:pPr algn="ctr"/>
            <a:r>
              <a:rPr lang="en-US" sz="1600" i="1" dirty="0"/>
              <a:t>During the run, T concurrent requests are issued.  Here, 3 are running right now, but T could be much larger.</a:t>
            </a:r>
          </a:p>
        </p:txBody>
      </p:sp>
      <p:grpSp>
        <p:nvGrpSpPr>
          <p:cNvPr id="65" name="Group 64">
            <a:extLst>
              <a:ext uri="{FF2B5EF4-FFF2-40B4-BE49-F238E27FC236}">
                <a16:creationId xmlns:a16="http://schemas.microsoft.com/office/drawing/2014/main" id="{2D0A5736-9EEC-BA79-EC3C-A1A8B6CA059B}"/>
              </a:ext>
            </a:extLst>
          </p:cNvPr>
          <p:cNvGrpSpPr/>
          <p:nvPr/>
        </p:nvGrpSpPr>
        <p:grpSpPr>
          <a:xfrm>
            <a:off x="3671053" y="4060127"/>
            <a:ext cx="4353896" cy="487664"/>
            <a:chOff x="3675539" y="5813481"/>
            <a:chExt cx="4353896" cy="487664"/>
          </a:xfrm>
        </p:grpSpPr>
        <p:sp>
          <p:nvSpPr>
            <p:cNvPr id="3" name="Oval 2">
              <a:extLst>
                <a:ext uri="{FF2B5EF4-FFF2-40B4-BE49-F238E27FC236}">
                  <a16:creationId xmlns:a16="http://schemas.microsoft.com/office/drawing/2014/main" id="{50F82E9F-3715-46AF-9181-6416590BB72A}"/>
                </a:ext>
              </a:extLst>
            </p:cNvPr>
            <p:cNvSpPr/>
            <p:nvPr/>
          </p:nvSpPr>
          <p:spPr>
            <a:xfrm>
              <a:off x="3675539" y="5813481"/>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C00000"/>
                  </a:solidFill>
                </a:rPr>
                <a:t>Server 1</a:t>
              </a:r>
            </a:p>
          </p:txBody>
        </p:sp>
        <p:sp>
          <p:nvSpPr>
            <p:cNvPr id="28" name="Oval 27">
              <a:extLst>
                <a:ext uri="{FF2B5EF4-FFF2-40B4-BE49-F238E27FC236}">
                  <a16:creationId xmlns:a16="http://schemas.microsoft.com/office/drawing/2014/main" id="{A983C554-9641-4274-96E4-5A9AE546CD7B}"/>
                </a:ext>
              </a:extLst>
            </p:cNvPr>
            <p:cNvSpPr/>
            <p:nvPr/>
          </p:nvSpPr>
          <p:spPr>
            <a:xfrm>
              <a:off x="5039862" y="5813481"/>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C00000"/>
                  </a:solidFill>
                </a:rPr>
                <a:t>Server 2</a:t>
              </a:r>
            </a:p>
          </p:txBody>
        </p:sp>
        <p:sp>
          <p:nvSpPr>
            <p:cNvPr id="29" name="Oval 28">
              <a:extLst>
                <a:ext uri="{FF2B5EF4-FFF2-40B4-BE49-F238E27FC236}">
                  <a16:creationId xmlns:a16="http://schemas.microsoft.com/office/drawing/2014/main" id="{126F8460-C7AC-4602-8E88-6C12A687166A}"/>
                </a:ext>
              </a:extLst>
            </p:cNvPr>
            <p:cNvSpPr/>
            <p:nvPr/>
          </p:nvSpPr>
          <p:spPr>
            <a:xfrm>
              <a:off x="6890475" y="5813481"/>
              <a:ext cx="1138960" cy="4876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solidFill>
                    <a:srgbClr val="C00000"/>
                  </a:solidFill>
                </a:rPr>
                <a:t>Server N</a:t>
              </a:r>
            </a:p>
          </p:txBody>
        </p:sp>
      </p:grpSp>
    </p:spTree>
    <p:extLst>
      <p:ext uri="{BB962C8B-B14F-4D97-AF65-F5344CB8AC3E}">
        <p14:creationId xmlns:p14="http://schemas.microsoft.com/office/powerpoint/2010/main" val="2366519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C84A87-41B5-4023-A74F-1931094CFB5D}"/>
              </a:ext>
            </a:extLst>
          </p:cNvPr>
          <p:cNvSpPr>
            <a:spLocks noGrp="1"/>
          </p:cNvSpPr>
          <p:nvPr>
            <p:ph type="title"/>
          </p:nvPr>
        </p:nvSpPr>
        <p:spPr/>
        <p:txBody>
          <a:bodyPr>
            <a:normAutofit/>
          </a:bodyPr>
          <a:lstStyle/>
          <a:p>
            <a:r>
              <a:rPr lang="en-US" sz="3600" dirty="0">
                <a:solidFill>
                  <a:srgbClr val="0070C0"/>
                </a:solidFill>
              </a:rPr>
              <a:t>What should be the goals?</a:t>
            </a:r>
          </a:p>
        </p:txBody>
      </p:sp>
      <p:sp>
        <p:nvSpPr>
          <p:cNvPr id="6" name="Content Placeholder 5">
            <a:extLst>
              <a:ext uri="{FF2B5EF4-FFF2-40B4-BE49-F238E27FC236}">
                <a16:creationId xmlns:a16="http://schemas.microsoft.com/office/drawing/2014/main" id="{F911C172-FB6B-4A81-A40B-C3D4E9DF7C39}"/>
              </a:ext>
            </a:extLst>
          </p:cNvPr>
          <p:cNvSpPr>
            <a:spLocks noGrp="1"/>
          </p:cNvSpPr>
          <p:nvPr>
            <p:ph idx="1"/>
          </p:nvPr>
        </p:nvSpPr>
        <p:spPr/>
        <p:txBody>
          <a:bodyPr>
            <a:normAutofit/>
          </a:bodyPr>
          <a:lstStyle/>
          <a:p>
            <a:r>
              <a:rPr lang="en-US" sz="2400"/>
              <a:t>A scalable system needs to be able to handle “more T’s” by adding to N</a:t>
            </a:r>
          </a:p>
          <a:p>
            <a:pPr marL="0" indent="0">
              <a:buNone/>
            </a:pPr>
            <a:endParaRPr lang="en-US" sz="2400"/>
          </a:p>
          <a:p>
            <a:r>
              <a:rPr lang="en-US" sz="2400"/>
              <a:t>Instead, they found that the work the servers must do will increase as T</a:t>
            </a:r>
            <a:r>
              <a:rPr lang="en-US" sz="2400" baseline="30000"/>
              <a:t>5</a:t>
            </a:r>
            <a:r>
              <a:rPr lang="en-US" sz="2400"/>
              <a:t> </a:t>
            </a:r>
            <a:br>
              <a:rPr lang="en-US" sz="2400"/>
            </a:br>
            <a:br>
              <a:rPr lang="en-US" sz="2400"/>
            </a:br>
            <a:r>
              <a:rPr lang="en-US" sz="2400"/>
              <a:t>Worse, with an even split of work, deadlocks occur as N</a:t>
            </a:r>
            <a:r>
              <a:rPr lang="en-US" sz="2400" baseline="30000"/>
              <a:t>3,</a:t>
            </a:r>
            <a:r>
              <a:rPr lang="en-US" sz="2400"/>
              <a:t> causing feedback (because the reissued transactions get done more than once).</a:t>
            </a:r>
          </a:p>
          <a:p>
            <a:endParaRPr lang="en-US" sz="2400"/>
          </a:p>
          <a:p>
            <a:r>
              <a:rPr lang="en-US" sz="2400"/>
              <a:t>Example: if 3 servers (N=3) could do 1000 TPS, with 5 servers the rate might drop to 300 TPS, purely because of deadlocks forcing abort/retry.</a:t>
            </a:r>
          </a:p>
        </p:txBody>
      </p:sp>
      <p:sp>
        <p:nvSpPr>
          <p:cNvPr id="3" name="Footer Placeholder 2">
            <a:extLst>
              <a:ext uri="{FF2B5EF4-FFF2-40B4-BE49-F238E27FC236}">
                <a16:creationId xmlns:a16="http://schemas.microsoft.com/office/drawing/2014/main" id="{B7D0CEB9-0FBF-45CC-B296-F5F3E24B03BA}"/>
              </a:ext>
            </a:extLst>
          </p:cNvPr>
          <p:cNvSpPr>
            <a:spLocks noGrp="1"/>
          </p:cNvSpPr>
          <p:nvPr>
            <p:ph type="ftr" sz="quarter" idx="11"/>
          </p:nvPr>
        </p:nvSpPr>
        <p:spPr/>
        <p:txBody>
          <a:bodyPr/>
          <a:lstStyle/>
          <a:p>
            <a:r>
              <a:rPr lang="en-US"/>
              <a:t>http://www.cs.cornell.edu/courses/cs5412/2019sp</a:t>
            </a:r>
          </a:p>
        </p:txBody>
      </p:sp>
      <p:sp>
        <p:nvSpPr>
          <p:cNvPr id="4" name="Slide Number Placeholder 3">
            <a:extLst>
              <a:ext uri="{FF2B5EF4-FFF2-40B4-BE49-F238E27FC236}">
                <a16:creationId xmlns:a16="http://schemas.microsoft.com/office/drawing/2014/main" id="{63DEA3FD-E415-4D0A-9ECF-202E7B44B41D}"/>
              </a:ext>
            </a:extLst>
          </p:cNvPr>
          <p:cNvSpPr>
            <a:spLocks noGrp="1"/>
          </p:cNvSpPr>
          <p:nvPr>
            <p:ph type="sldNum" sz="quarter" idx="12"/>
          </p:nvPr>
        </p:nvSpPr>
        <p:spPr/>
        <p:txBody>
          <a:bodyPr/>
          <a:lstStyle/>
          <a:p>
            <a:fld id="{3C974458-8A97-4835-BF79-1FB6D7856C21}" type="slidenum">
              <a:rPr lang="en-US" smtClean="0"/>
              <a:t>12</a:t>
            </a:fld>
            <a:endParaRPr lang="en-US"/>
          </a:p>
        </p:txBody>
      </p:sp>
    </p:spTree>
    <p:extLst>
      <p:ext uri="{BB962C8B-B14F-4D97-AF65-F5344CB8AC3E}">
        <p14:creationId xmlns:p14="http://schemas.microsoft.com/office/powerpoint/2010/main" val="1734646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B0D0-90A8-4148-A74F-4BB3321C2CC4}"/>
              </a:ext>
            </a:extLst>
          </p:cNvPr>
          <p:cNvSpPr>
            <a:spLocks noGrp="1"/>
          </p:cNvSpPr>
          <p:nvPr>
            <p:ph type="title"/>
          </p:nvPr>
        </p:nvSpPr>
        <p:spPr/>
        <p:txBody>
          <a:bodyPr>
            <a:normAutofit/>
          </a:bodyPr>
          <a:lstStyle/>
          <a:p>
            <a:r>
              <a:rPr lang="en-US" sz="3600">
                <a:solidFill>
                  <a:srgbClr val="0070C0"/>
                </a:solidFill>
              </a:rPr>
              <a:t>Why do services slow down at scale?</a:t>
            </a:r>
          </a:p>
        </p:txBody>
      </p:sp>
      <p:sp>
        <p:nvSpPr>
          <p:cNvPr id="3" name="Content Placeholder 2">
            <a:extLst>
              <a:ext uri="{FF2B5EF4-FFF2-40B4-BE49-F238E27FC236}">
                <a16:creationId xmlns:a16="http://schemas.microsoft.com/office/drawing/2014/main" id="{05363A94-74E0-4AA7-8DFA-BD019FBBA5D7}"/>
              </a:ext>
            </a:extLst>
          </p:cNvPr>
          <p:cNvSpPr>
            <a:spLocks noGrp="1"/>
          </p:cNvSpPr>
          <p:nvPr>
            <p:ph idx="1"/>
          </p:nvPr>
        </p:nvSpPr>
        <p:spPr>
          <a:xfrm>
            <a:off x="609600" y="1713186"/>
            <a:ext cx="10831285" cy="3876084"/>
          </a:xfrm>
        </p:spPr>
        <p:txBody>
          <a:bodyPr>
            <a:normAutofit/>
          </a:bodyPr>
          <a:lstStyle/>
          <a:p>
            <a:r>
              <a:rPr lang="en-US" sz="2400" dirty="0"/>
              <a:t>The paper pointed to several main issues:</a:t>
            </a:r>
          </a:p>
          <a:p>
            <a:pPr lvl="1"/>
            <a:r>
              <a:rPr lang="en-US" sz="2000" dirty="0"/>
              <a:t>  </a:t>
            </a:r>
            <a:r>
              <a:rPr lang="en-US" sz="2000" b="1" dirty="0"/>
              <a:t>Lock contention</a:t>
            </a:r>
            <a:r>
              <a:rPr lang="en-US" sz="2000" dirty="0"/>
              <a:t>.  The more concurrent tasks, the more likely that they</a:t>
            </a:r>
            <a:br>
              <a:rPr lang="en-US" sz="2000" dirty="0"/>
            </a:br>
            <a:r>
              <a:rPr lang="en-US" sz="2000" dirty="0"/>
              <a:t>    will try to access the same object (birthday paradox!) and wait for locks.</a:t>
            </a:r>
          </a:p>
          <a:p>
            <a:pPr lvl="1"/>
            <a:r>
              <a:rPr lang="en-US" sz="2000" dirty="0"/>
              <a:t>  </a:t>
            </a:r>
            <a:r>
              <a:rPr lang="en-US" sz="2000" b="1" dirty="0"/>
              <a:t>Abort</a:t>
            </a:r>
            <a:r>
              <a:rPr lang="en-US" sz="2000" dirty="0"/>
              <a:t>.  Many consistency mechanisms have some form of optimistic</a:t>
            </a:r>
            <a:br>
              <a:rPr lang="en-US" sz="2000" dirty="0"/>
            </a:br>
            <a:r>
              <a:rPr lang="en-US" sz="2000" dirty="0"/>
              <a:t>    behavior built in.  Now and then, they must back out and retry.</a:t>
            </a:r>
          </a:p>
          <a:p>
            <a:pPr lvl="1"/>
            <a:r>
              <a:rPr lang="en-US" sz="2000" b="1" dirty="0"/>
              <a:t> Deadlock </a:t>
            </a:r>
            <a:r>
              <a:rPr lang="en-US" sz="2000" dirty="0"/>
              <a:t>also causes abort/retry sequences.</a:t>
            </a:r>
          </a:p>
          <a:p>
            <a:pPr marL="0" indent="0">
              <a:buNone/>
            </a:pPr>
            <a:endParaRPr lang="en-US" sz="2400" dirty="0"/>
          </a:p>
          <a:p>
            <a:r>
              <a:rPr lang="en-US" sz="2400" dirty="0"/>
              <a:t>The paper actually explores multiple options for structuring the data, but ends up with similar negative conclusions </a:t>
            </a:r>
            <a:r>
              <a:rPr lang="en-US" sz="2400" i="1" dirty="0"/>
              <a:t>except in one specific situation.</a:t>
            </a:r>
            <a:endParaRPr lang="en-US" sz="2400" dirty="0"/>
          </a:p>
        </p:txBody>
      </p:sp>
      <p:sp>
        <p:nvSpPr>
          <p:cNvPr id="5" name="Slide Number Placeholder 4">
            <a:extLst>
              <a:ext uri="{FF2B5EF4-FFF2-40B4-BE49-F238E27FC236}">
                <a16:creationId xmlns:a16="http://schemas.microsoft.com/office/drawing/2014/main" id="{44DFA098-C8F0-4C9D-9C66-C4A5DB4B6624}"/>
              </a:ext>
            </a:extLst>
          </p:cNvPr>
          <p:cNvSpPr>
            <a:spLocks noGrp="1"/>
          </p:cNvSpPr>
          <p:nvPr>
            <p:ph type="sldNum" sz="quarter" idx="12"/>
          </p:nvPr>
        </p:nvSpPr>
        <p:spPr/>
        <p:txBody>
          <a:bodyPr/>
          <a:lstStyle/>
          <a:p>
            <a:fld id="{3C974458-8A97-4835-BF79-1FB6D7856C21}" type="slidenum">
              <a:rPr lang="en-US" smtClean="0"/>
              <a:t>13</a:t>
            </a:fld>
            <a:endParaRPr lang="en-US"/>
          </a:p>
        </p:txBody>
      </p:sp>
    </p:spTree>
    <p:extLst>
      <p:ext uri="{BB962C8B-B14F-4D97-AF65-F5344CB8AC3E}">
        <p14:creationId xmlns:p14="http://schemas.microsoft.com/office/powerpoint/2010/main" val="641714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46263-97E6-479D-8DED-A9A2C0AC2B6C}"/>
              </a:ext>
            </a:extLst>
          </p:cNvPr>
          <p:cNvSpPr>
            <a:spLocks noGrp="1"/>
          </p:cNvSpPr>
          <p:nvPr>
            <p:ph type="title"/>
          </p:nvPr>
        </p:nvSpPr>
        <p:spPr/>
        <p:txBody>
          <a:bodyPr>
            <a:normAutofit/>
          </a:bodyPr>
          <a:lstStyle/>
          <a:p>
            <a:r>
              <a:rPr lang="en-US" sz="3600">
                <a:solidFill>
                  <a:srgbClr val="0070C0"/>
                </a:solidFill>
              </a:rPr>
              <a:t>What was that one good option?</a:t>
            </a:r>
          </a:p>
        </p:txBody>
      </p:sp>
      <p:sp>
        <p:nvSpPr>
          <p:cNvPr id="3" name="Content Placeholder 2">
            <a:extLst>
              <a:ext uri="{FF2B5EF4-FFF2-40B4-BE49-F238E27FC236}">
                <a16:creationId xmlns:a16="http://schemas.microsoft.com/office/drawing/2014/main" id="{F6C32FDB-61C0-4424-9ADF-1AADA1B69860}"/>
              </a:ext>
            </a:extLst>
          </p:cNvPr>
          <p:cNvSpPr>
            <a:spLocks noGrp="1"/>
          </p:cNvSpPr>
          <p:nvPr>
            <p:ph idx="1"/>
          </p:nvPr>
        </p:nvSpPr>
        <p:spPr/>
        <p:txBody>
          <a:bodyPr>
            <a:normAutofit/>
          </a:bodyPr>
          <a:lstStyle/>
          <a:p>
            <a:r>
              <a:rPr lang="en-US" sz="2800"/>
              <a:t>Back in 1996, they concluded that you are forced to shard the database into a large set of much smaller databases, with distinct data in each. </a:t>
            </a:r>
          </a:p>
          <a:p>
            <a:r>
              <a:rPr lang="en-US" sz="2800"/>
              <a:t>The later showed that for every problem he ran into, it was possible to devise a sharded solution in which transactions only touched a single shard at a time.  </a:t>
            </a:r>
          </a:p>
          <a:p>
            <a:r>
              <a:rPr lang="en-US" sz="2800"/>
              <a:t>In 1996, it wasn’t clear that every important service could be sharded.  By the 2007 it was clear that in fact, this is feasible!</a:t>
            </a:r>
          </a:p>
        </p:txBody>
      </p:sp>
      <p:sp>
        <p:nvSpPr>
          <p:cNvPr id="5" name="Slide Number Placeholder 4">
            <a:extLst>
              <a:ext uri="{FF2B5EF4-FFF2-40B4-BE49-F238E27FC236}">
                <a16:creationId xmlns:a16="http://schemas.microsoft.com/office/drawing/2014/main" id="{72CFEE1A-9544-4593-A873-74CAB567B296}"/>
              </a:ext>
            </a:extLst>
          </p:cNvPr>
          <p:cNvSpPr>
            <a:spLocks noGrp="1"/>
          </p:cNvSpPr>
          <p:nvPr>
            <p:ph type="sldNum" sz="quarter" idx="12"/>
          </p:nvPr>
        </p:nvSpPr>
        <p:spPr/>
        <p:txBody>
          <a:bodyPr/>
          <a:lstStyle/>
          <a:p>
            <a:fld id="{3C974458-8A97-4835-BF79-1FB6D7856C21}" type="slidenum">
              <a:rPr lang="en-US" smtClean="0"/>
              <a:t>14</a:t>
            </a:fld>
            <a:endParaRPr lang="en-US"/>
          </a:p>
        </p:txBody>
      </p:sp>
    </p:spTree>
    <p:extLst>
      <p:ext uri="{BB962C8B-B14F-4D97-AF65-F5344CB8AC3E}">
        <p14:creationId xmlns:p14="http://schemas.microsoft.com/office/powerpoint/2010/main" val="205998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FC0A-2500-4E25-AF53-3B44AAA32FAB}"/>
              </a:ext>
            </a:extLst>
          </p:cNvPr>
          <p:cNvSpPr>
            <a:spLocks noGrp="1"/>
          </p:cNvSpPr>
          <p:nvPr>
            <p:ph type="title"/>
          </p:nvPr>
        </p:nvSpPr>
        <p:spPr/>
        <p:txBody>
          <a:bodyPr/>
          <a:lstStyle/>
          <a:p>
            <a:r>
              <a:rPr lang="en-US" sz="3600" dirty="0">
                <a:solidFill>
                  <a:srgbClr val="0070C0"/>
                </a:solidFill>
              </a:rPr>
              <a:t>Sharding: This works… but carefully</a:t>
            </a:r>
          </a:p>
        </p:txBody>
      </p:sp>
      <p:sp>
        <p:nvSpPr>
          <p:cNvPr id="38" name="Content Placeholder 37">
            <a:extLst>
              <a:ext uri="{FF2B5EF4-FFF2-40B4-BE49-F238E27FC236}">
                <a16:creationId xmlns:a16="http://schemas.microsoft.com/office/drawing/2014/main" id="{EB02F932-0A3A-4455-BD93-FE61E23653C4}"/>
              </a:ext>
            </a:extLst>
          </p:cNvPr>
          <p:cNvSpPr>
            <a:spLocks noGrp="1"/>
          </p:cNvSpPr>
          <p:nvPr>
            <p:ph idx="1"/>
          </p:nvPr>
        </p:nvSpPr>
        <p:spPr>
          <a:xfrm>
            <a:off x="2292096" y="4778236"/>
            <a:ext cx="8090154" cy="811034"/>
          </a:xfrm>
        </p:spPr>
        <p:txBody>
          <a:bodyPr>
            <a:normAutofit fontScale="62500" lnSpcReduction="20000"/>
          </a:bodyPr>
          <a:lstStyle/>
          <a:p>
            <a:pPr marL="0" indent="0">
              <a:buNone/>
            </a:pPr>
            <a:r>
              <a:rPr lang="en-US" dirty="0"/>
              <a:t>We will often see this kind of picture.  Cloud systems make very heavy use of key-based sharding.  A (</a:t>
            </a:r>
            <a:r>
              <a:rPr lang="en-US" dirty="0" err="1"/>
              <a:t>key,value</a:t>
            </a:r>
            <a:r>
              <a:rPr lang="en-US" dirty="0"/>
              <a:t>) store holds data in the shards.</a:t>
            </a:r>
          </a:p>
        </p:txBody>
      </p:sp>
      <p:sp>
        <p:nvSpPr>
          <p:cNvPr id="4" name="Footer Placeholder 3">
            <a:extLst>
              <a:ext uri="{FF2B5EF4-FFF2-40B4-BE49-F238E27FC236}">
                <a16:creationId xmlns:a16="http://schemas.microsoft.com/office/drawing/2014/main" id="{1E708AE1-AD75-4013-9D05-CEE6F897284B}"/>
              </a:ext>
            </a:extLst>
          </p:cNvPr>
          <p:cNvSpPr>
            <a:spLocks noGrp="1"/>
          </p:cNvSpPr>
          <p:nvPr>
            <p:ph type="ftr" sz="quarter" idx="11"/>
          </p:nvPr>
        </p:nvSpPr>
        <p:spPr/>
        <p:txBody>
          <a:bodyPr/>
          <a:lstStyle/>
          <a:p>
            <a:r>
              <a:rPr lang="en-US"/>
              <a:t>http://www.cs.cornell.edu/courses/cs5412/2019sp</a:t>
            </a:r>
          </a:p>
        </p:txBody>
      </p:sp>
      <p:sp>
        <p:nvSpPr>
          <p:cNvPr id="5" name="Slide Number Placeholder 4">
            <a:extLst>
              <a:ext uri="{FF2B5EF4-FFF2-40B4-BE49-F238E27FC236}">
                <a16:creationId xmlns:a16="http://schemas.microsoft.com/office/drawing/2014/main" id="{1F514FA7-E99F-4645-99E3-F0751132FC93}"/>
              </a:ext>
            </a:extLst>
          </p:cNvPr>
          <p:cNvSpPr>
            <a:spLocks noGrp="1"/>
          </p:cNvSpPr>
          <p:nvPr>
            <p:ph type="sldNum" sz="quarter" idx="12"/>
          </p:nvPr>
        </p:nvSpPr>
        <p:spPr/>
        <p:txBody>
          <a:bodyPr/>
          <a:lstStyle/>
          <a:p>
            <a:fld id="{3C974458-8A97-4835-BF79-1FB6D7856C21}" type="slidenum">
              <a:rPr lang="en-US" smtClean="0"/>
              <a:t>15</a:t>
            </a:fld>
            <a:endParaRPr lang="en-US"/>
          </a:p>
        </p:txBody>
      </p:sp>
      <p:sp>
        <p:nvSpPr>
          <p:cNvPr id="7" name="Oval 6">
            <a:extLst>
              <a:ext uri="{FF2B5EF4-FFF2-40B4-BE49-F238E27FC236}">
                <a16:creationId xmlns:a16="http://schemas.microsoft.com/office/drawing/2014/main" id="{ABB38D85-8EC4-47BE-9426-5582578EC638}"/>
              </a:ext>
            </a:extLst>
          </p:cNvPr>
          <p:cNvSpPr/>
          <p:nvPr/>
        </p:nvSpPr>
        <p:spPr>
          <a:xfrm>
            <a:off x="2066676" y="3626095"/>
            <a:ext cx="7203882" cy="8110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77F7AA89-B86D-4C13-B0C4-06CD17F92B1B}"/>
              </a:ext>
            </a:extLst>
          </p:cNvPr>
          <p:cNvSpPr txBox="1"/>
          <p:nvPr/>
        </p:nvSpPr>
        <p:spPr>
          <a:xfrm>
            <a:off x="9234777" y="3755501"/>
            <a:ext cx="1377564" cy="923330"/>
          </a:xfrm>
          <a:prstGeom prst="rect">
            <a:avLst/>
          </a:prstGeom>
          <a:noFill/>
        </p:spPr>
        <p:txBody>
          <a:bodyPr wrap="square" rtlCol="0">
            <a:spAutoFit/>
          </a:bodyPr>
          <a:lstStyle/>
          <a:p>
            <a:pPr algn="ctr"/>
            <a:r>
              <a:rPr lang="en-US" sz="1350" b="1" err="1"/>
              <a:t>Sharded</a:t>
            </a:r>
            <a:r>
              <a:rPr lang="en-US" sz="1350" b="1"/>
              <a:t> storage </a:t>
            </a:r>
            <a:br>
              <a:rPr lang="en-US" sz="1350" b="1"/>
            </a:br>
            <a:r>
              <a:rPr lang="en-US" sz="1350" b="1">
                <a:sym typeface="Symbol" panose="05050102010706020507" pitchFamily="18" charset="2"/>
              </a:rPr>
              <a:t>-</a:t>
            </a:r>
            <a:r>
              <a:rPr lang="en-US" sz="1350" b="1"/>
              <a:t>service with 2 servers per shard</a:t>
            </a:r>
          </a:p>
        </p:txBody>
      </p:sp>
      <p:grpSp>
        <p:nvGrpSpPr>
          <p:cNvPr id="22" name="Group 21">
            <a:extLst>
              <a:ext uri="{FF2B5EF4-FFF2-40B4-BE49-F238E27FC236}">
                <a16:creationId xmlns:a16="http://schemas.microsoft.com/office/drawing/2014/main" id="{7301C448-F6BE-4DF2-8BDA-13B2E49EFE51}"/>
              </a:ext>
            </a:extLst>
          </p:cNvPr>
          <p:cNvGrpSpPr/>
          <p:nvPr/>
        </p:nvGrpSpPr>
        <p:grpSpPr>
          <a:xfrm>
            <a:off x="2490084" y="3889629"/>
            <a:ext cx="1610139" cy="363773"/>
            <a:chOff x="1288110" y="4043171"/>
            <a:chExt cx="2146852" cy="485030"/>
          </a:xfrm>
        </p:grpSpPr>
        <p:sp>
          <p:nvSpPr>
            <p:cNvPr id="9" name="Oval 8">
              <a:extLst>
                <a:ext uri="{FF2B5EF4-FFF2-40B4-BE49-F238E27FC236}">
                  <a16:creationId xmlns:a16="http://schemas.microsoft.com/office/drawing/2014/main" id="{4A2552E5-E1A0-4C2C-A9D2-108ED444D175}"/>
                </a:ext>
              </a:extLst>
            </p:cNvPr>
            <p:cNvSpPr/>
            <p:nvPr/>
          </p:nvSpPr>
          <p:spPr>
            <a:xfrm>
              <a:off x="1288110"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7D2B706-E50B-4341-B082-88E3A540D7E2}"/>
                </a:ext>
              </a:extLst>
            </p:cNvPr>
            <p:cNvGrpSpPr/>
            <p:nvPr/>
          </p:nvGrpSpPr>
          <p:grpSpPr>
            <a:xfrm>
              <a:off x="1840063" y="4116185"/>
              <a:ext cx="1042947" cy="325457"/>
              <a:chOff x="1810263" y="4116185"/>
              <a:chExt cx="1042947" cy="325457"/>
            </a:xfrm>
          </p:grpSpPr>
          <p:sp>
            <p:nvSpPr>
              <p:cNvPr id="10" name="Oval 9">
                <a:extLst>
                  <a:ext uri="{FF2B5EF4-FFF2-40B4-BE49-F238E27FC236}">
                    <a16:creationId xmlns:a16="http://schemas.microsoft.com/office/drawing/2014/main" id="{05D3EFD7-E23A-4612-91C7-EEEFF5669A58}"/>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F94E5815-D939-4B7F-B433-7302AF538619}"/>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E8DC6B96-11C5-4818-ABF9-0773C7B97485}"/>
              </a:ext>
            </a:extLst>
          </p:cNvPr>
          <p:cNvGrpSpPr/>
          <p:nvPr/>
        </p:nvGrpSpPr>
        <p:grpSpPr>
          <a:xfrm>
            <a:off x="5971762" y="3889629"/>
            <a:ext cx="1610139" cy="363773"/>
            <a:chOff x="6034377" y="4025635"/>
            <a:chExt cx="2146852" cy="485030"/>
          </a:xfrm>
        </p:grpSpPr>
        <p:sp>
          <p:nvSpPr>
            <p:cNvPr id="14" name="Oval 13">
              <a:extLst>
                <a:ext uri="{FF2B5EF4-FFF2-40B4-BE49-F238E27FC236}">
                  <a16:creationId xmlns:a16="http://schemas.microsoft.com/office/drawing/2014/main" id="{6292F995-338F-4C08-AD19-9BD46B0E2E84}"/>
                </a:ext>
              </a:extLst>
            </p:cNvPr>
            <p:cNvSpPr/>
            <p:nvPr/>
          </p:nvSpPr>
          <p:spPr>
            <a:xfrm>
              <a:off x="6034377" y="4025635"/>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4401F1F-7D0A-4B79-B259-58A7BF659E7A}"/>
                </a:ext>
              </a:extLst>
            </p:cNvPr>
            <p:cNvGrpSpPr/>
            <p:nvPr/>
          </p:nvGrpSpPr>
          <p:grpSpPr>
            <a:xfrm>
              <a:off x="6586330" y="4098649"/>
              <a:ext cx="1042947" cy="325457"/>
              <a:chOff x="1810263" y="4116185"/>
              <a:chExt cx="1042947" cy="325457"/>
            </a:xfrm>
          </p:grpSpPr>
          <p:sp>
            <p:nvSpPr>
              <p:cNvPr id="16" name="Oval 15">
                <a:extLst>
                  <a:ext uri="{FF2B5EF4-FFF2-40B4-BE49-F238E27FC236}">
                    <a16:creationId xmlns:a16="http://schemas.microsoft.com/office/drawing/2014/main" id="{2FE97CF9-F045-4A93-87A2-C5A0667AF2EF}"/>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a:extLst>
                  <a:ext uri="{FF2B5EF4-FFF2-40B4-BE49-F238E27FC236}">
                    <a16:creationId xmlns:a16="http://schemas.microsoft.com/office/drawing/2014/main" id="{FCE04440-C0AD-45B2-8594-DD7DC856A1C1}"/>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3" name="Group 22">
            <a:extLst>
              <a:ext uri="{FF2B5EF4-FFF2-40B4-BE49-F238E27FC236}">
                <a16:creationId xmlns:a16="http://schemas.microsoft.com/office/drawing/2014/main" id="{E6ECB3B3-B01C-4426-9A07-F45E2B6077EE}"/>
              </a:ext>
            </a:extLst>
          </p:cNvPr>
          <p:cNvGrpSpPr/>
          <p:nvPr/>
        </p:nvGrpSpPr>
        <p:grpSpPr>
          <a:xfrm>
            <a:off x="4230923" y="3889629"/>
            <a:ext cx="1610139" cy="363773"/>
            <a:chOff x="3609229" y="4043171"/>
            <a:chExt cx="2146852" cy="485030"/>
          </a:xfrm>
        </p:grpSpPr>
        <p:sp>
          <p:nvSpPr>
            <p:cNvPr id="18" name="Oval 17">
              <a:extLst>
                <a:ext uri="{FF2B5EF4-FFF2-40B4-BE49-F238E27FC236}">
                  <a16:creationId xmlns:a16="http://schemas.microsoft.com/office/drawing/2014/main" id="{3D659D6B-29E5-4FA4-AF43-A0C816294FD9}"/>
                </a:ext>
              </a:extLst>
            </p:cNvPr>
            <p:cNvSpPr/>
            <p:nvPr/>
          </p:nvSpPr>
          <p:spPr>
            <a:xfrm>
              <a:off x="3609229"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CC61C77C-831E-4985-9CF2-1759F5C7283F}"/>
                </a:ext>
              </a:extLst>
            </p:cNvPr>
            <p:cNvGrpSpPr/>
            <p:nvPr/>
          </p:nvGrpSpPr>
          <p:grpSpPr>
            <a:xfrm>
              <a:off x="4161182" y="4116185"/>
              <a:ext cx="1042947" cy="325457"/>
              <a:chOff x="1810263" y="4116185"/>
              <a:chExt cx="1042947" cy="325457"/>
            </a:xfrm>
          </p:grpSpPr>
          <p:sp>
            <p:nvSpPr>
              <p:cNvPr id="20" name="Oval 19">
                <a:extLst>
                  <a:ext uri="{FF2B5EF4-FFF2-40B4-BE49-F238E27FC236}">
                    <a16:creationId xmlns:a16="http://schemas.microsoft.com/office/drawing/2014/main" id="{E0ED1C8C-5DE7-492F-84FF-40E510ACE92A}"/>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034897BF-FE42-4124-A6C6-2E3DCD7CDE2B}"/>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25" name="Oval 24">
            <a:extLst>
              <a:ext uri="{FF2B5EF4-FFF2-40B4-BE49-F238E27FC236}">
                <a16:creationId xmlns:a16="http://schemas.microsoft.com/office/drawing/2014/main" id="{86307108-E3B6-48C8-B3C0-7F9F3D667F76}"/>
              </a:ext>
            </a:extLst>
          </p:cNvPr>
          <p:cNvSpPr/>
          <p:nvPr/>
        </p:nvSpPr>
        <p:spPr>
          <a:xfrm>
            <a:off x="7736207"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850C1838-6985-4962-BE8B-E3B1214B9C44}"/>
              </a:ext>
            </a:extLst>
          </p:cNvPr>
          <p:cNvSpPr/>
          <p:nvPr/>
        </p:nvSpPr>
        <p:spPr>
          <a:xfrm>
            <a:off x="7940952" y="3999742"/>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a:extLst>
              <a:ext uri="{FF2B5EF4-FFF2-40B4-BE49-F238E27FC236}">
                <a16:creationId xmlns:a16="http://schemas.microsoft.com/office/drawing/2014/main" id="{A1234C42-E06A-4BEF-8D52-DB5D930D6E78}"/>
              </a:ext>
            </a:extLst>
          </p:cNvPr>
          <p:cNvSpPr/>
          <p:nvPr/>
        </p:nvSpPr>
        <p:spPr>
          <a:xfrm>
            <a:off x="8131412"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Speech Bubble: Rectangle 30">
            <a:extLst>
              <a:ext uri="{FF2B5EF4-FFF2-40B4-BE49-F238E27FC236}">
                <a16:creationId xmlns:a16="http://schemas.microsoft.com/office/drawing/2014/main" id="{BA25C95A-E1CF-4021-AE4E-64ECCAF0A5A9}"/>
              </a:ext>
            </a:extLst>
          </p:cNvPr>
          <p:cNvSpPr/>
          <p:nvPr/>
        </p:nvSpPr>
        <p:spPr>
          <a:xfrm>
            <a:off x="8489342" y="2944468"/>
            <a:ext cx="2352829" cy="484532"/>
          </a:xfrm>
          <a:prstGeom prst="wedgeRectCallout">
            <a:avLst>
              <a:gd name="adj1" fmla="val -136621"/>
              <a:gd name="adj2" fmla="val 153349"/>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A shard with 2 replicas handling Hash(key)%K=2</a:t>
            </a:r>
          </a:p>
        </p:txBody>
      </p:sp>
      <p:sp>
        <p:nvSpPr>
          <p:cNvPr id="32" name="Freeform: Shape 31">
            <a:extLst>
              <a:ext uri="{FF2B5EF4-FFF2-40B4-BE49-F238E27FC236}">
                <a16:creationId xmlns:a16="http://schemas.microsoft.com/office/drawing/2014/main" id="{9A3F48AF-C98D-4CF5-9D6F-BEF57E151C16}"/>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3" name="Straight Arrow Connector 32">
            <a:extLst>
              <a:ext uri="{FF2B5EF4-FFF2-40B4-BE49-F238E27FC236}">
                <a16:creationId xmlns:a16="http://schemas.microsoft.com/office/drawing/2014/main" id="{C5CDDC7A-36CA-4242-B935-E626F60D75E2}"/>
              </a:ext>
            </a:extLst>
          </p:cNvPr>
          <p:cNvCxnSpPr>
            <a:cxnSpLocks/>
          </p:cNvCxnSpPr>
          <p:nvPr/>
        </p:nvCxnSpPr>
        <p:spPr>
          <a:xfrm>
            <a:off x="3010711" y="2799557"/>
            <a:ext cx="1634177" cy="1036452"/>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Speech Bubble: Rectangle 34">
            <a:extLst>
              <a:ext uri="{FF2B5EF4-FFF2-40B4-BE49-F238E27FC236}">
                <a16:creationId xmlns:a16="http://schemas.microsoft.com/office/drawing/2014/main" id="{BE694A83-2355-402E-853E-E0C0FD873BB9}"/>
              </a:ext>
            </a:extLst>
          </p:cNvPr>
          <p:cNvSpPr/>
          <p:nvPr/>
        </p:nvSpPr>
        <p:spPr>
          <a:xfrm>
            <a:off x="6515929" y="1719191"/>
            <a:ext cx="1353710" cy="459486"/>
          </a:xfrm>
          <a:prstGeom prst="wedgeRectCallout">
            <a:avLst>
              <a:gd name="adj1" fmla="val -301703"/>
              <a:gd name="adj2" fmla="val 168924"/>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A transaction</a:t>
            </a:r>
          </a:p>
        </p:txBody>
      </p:sp>
      <p:sp>
        <p:nvSpPr>
          <p:cNvPr id="36" name="Speech Bubble: Rectangle 35">
            <a:extLst>
              <a:ext uri="{FF2B5EF4-FFF2-40B4-BE49-F238E27FC236}">
                <a16:creationId xmlns:a16="http://schemas.microsoft.com/office/drawing/2014/main" id="{F0F30562-0A73-422B-BE39-848385961EB1}"/>
              </a:ext>
            </a:extLst>
          </p:cNvPr>
          <p:cNvSpPr/>
          <p:nvPr/>
        </p:nvSpPr>
        <p:spPr>
          <a:xfrm>
            <a:off x="7372929" y="2320714"/>
            <a:ext cx="3009322" cy="459486"/>
          </a:xfrm>
          <a:prstGeom prst="wedgeRectCallout">
            <a:avLst>
              <a:gd name="adj1" fmla="val -133774"/>
              <a:gd name="adj2" fmla="val 284433"/>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A read or write to some (</a:t>
            </a:r>
            <a:r>
              <a:rPr lang="en-US" sz="1350" dirty="0" err="1">
                <a:solidFill>
                  <a:schemeClr val="tx1"/>
                </a:solidFill>
              </a:rPr>
              <a:t>key,value</a:t>
            </a:r>
            <a:r>
              <a:rPr lang="en-US" sz="1350" dirty="0">
                <a:solidFill>
                  <a:schemeClr val="tx1"/>
                </a:solidFill>
              </a:rPr>
              <a:t>) tuple.  Here, Hash(key)%K=1</a:t>
            </a:r>
          </a:p>
        </p:txBody>
      </p:sp>
      <p:sp>
        <p:nvSpPr>
          <p:cNvPr id="37" name="TextBox 36">
            <a:extLst>
              <a:ext uri="{FF2B5EF4-FFF2-40B4-BE49-F238E27FC236}">
                <a16:creationId xmlns:a16="http://schemas.microsoft.com/office/drawing/2014/main" id="{8D403D1C-434E-4AD3-8E61-AF7E96A53E93}"/>
              </a:ext>
            </a:extLst>
          </p:cNvPr>
          <p:cNvSpPr txBox="1"/>
          <p:nvPr/>
        </p:nvSpPr>
        <p:spPr>
          <a:xfrm>
            <a:off x="8382001" y="3889628"/>
            <a:ext cx="811033" cy="300082"/>
          </a:xfrm>
          <a:prstGeom prst="rect">
            <a:avLst/>
          </a:prstGeom>
          <a:noFill/>
        </p:spPr>
        <p:txBody>
          <a:bodyPr wrap="square" rtlCol="0">
            <a:spAutoFit/>
          </a:bodyPr>
          <a:lstStyle/>
          <a:p>
            <a:r>
              <a:rPr lang="en-US" sz="1350" b="1"/>
              <a:t>K shards</a:t>
            </a:r>
          </a:p>
        </p:txBody>
      </p:sp>
    </p:spTree>
    <p:extLst>
      <p:ext uri="{BB962C8B-B14F-4D97-AF65-F5344CB8AC3E}">
        <p14:creationId xmlns:p14="http://schemas.microsoft.com/office/powerpoint/2010/main" val="23118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randombar(horizontal)">
                                      <p:cBhvr>
                                        <p:cTn id="12" dur="500"/>
                                        <p:tgtEl>
                                          <p:spTgt spid="32"/>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randombar(horizontal)">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randombar(horizontal)">
                                      <p:cBhvr>
                                        <p:cTn id="20" dur="500"/>
                                        <p:tgtEl>
                                          <p:spTgt spid="33"/>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randombar(horizontal)">
                                      <p:cBhvr>
                                        <p:cTn id="2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5FC0A-2500-4E25-AF53-3B44AAA32FAB}"/>
              </a:ext>
            </a:extLst>
          </p:cNvPr>
          <p:cNvSpPr>
            <a:spLocks noGrp="1"/>
          </p:cNvSpPr>
          <p:nvPr>
            <p:ph type="title"/>
          </p:nvPr>
        </p:nvSpPr>
        <p:spPr/>
        <p:txBody>
          <a:bodyPr/>
          <a:lstStyle/>
          <a:p>
            <a:r>
              <a:rPr lang="en-US" sz="3600" err="1">
                <a:solidFill>
                  <a:srgbClr val="0070C0"/>
                </a:solidFill>
              </a:rPr>
              <a:t>Sharding</a:t>
            </a:r>
            <a:r>
              <a:rPr lang="en-US" sz="3600">
                <a:solidFill>
                  <a:srgbClr val="0070C0"/>
                </a:solidFill>
              </a:rPr>
              <a:t>: This works… but carefully</a:t>
            </a:r>
          </a:p>
        </p:txBody>
      </p:sp>
      <p:sp>
        <p:nvSpPr>
          <p:cNvPr id="43" name="Content Placeholder 42">
            <a:extLst>
              <a:ext uri="{FF2B5EF4-FFF2-40B4-BE49-F238E27FC236}">
                <a16:creationId xmlns:a16="http://schemas.microsoft.com/office/drawing/2014/main" id="{1892F205-B173-4353-A2AC-B0DFEEA01AD4}"/>
              </a:ext>
            </a:extLst>
          </p:cNvPr>
          <p:cNvSpPr>
            <a:spLocks noGrp="1"/>
          </p:cNvSpPr>
          <p:nvPr>
            <p:ph idx="1"/>
          </p:nvPr>
        </p:nvSpPr>
        <p:spPr>
          <a:xfrm>
            <a:off x="1382486" y="4911397"/>
            <a:ext cx="9829800" cy="1444953"/>
          </a:xfrm>
        </p:spPr>
        <p:txBody>
          <a:bodyPr>
            <a:normAutofit/>
          </a:bodyPr>
          <a:lstStyle/>
          <a:p>
            <a:pPr marL="0" indent="0">
              <a:buNone/>
            </a:pPr>
            <a:r>
              <a:rPr lang="en-US" sz="2000" dirty="0"/>
              <a:t>If a transaction does all its work at just one shard, never needing to </a:t>
            </a:r>
            <a:r>
              <a:rPr lang="en-US" sz="2000" dirty="0" err="1"/>
              <a:t>accesst</a:t>
            </a:r>
            <a:r>
              <a:rPr lang="en-US" sz="2000" dirty="0"/>
              <a:t> wo or more, we can use </a:t>
            </a:r>
            <a:r>
              <a:rPr lang="en-US" sz="2000" i="1" dirty="0"/>
              <a:t>state machine replication </a:t>
            </a:r>
            <a:r>
              <a:rPr lang="en-US" sz="2000" dirty="0"/>
              <a:t>to do the work.</a:t>
            </a:r>
          </a:p>
          <a:p>
            <a:pPr marL="0" indent="0">
              <a:buNone/>
            </a:pPr>
            <a:endParaRPr lang="en-US" sz="2000" dirty="0"/>
          </a:p>
          <a:p>
            <a:pPr marL="0" indent="0">
              <a:buNone/>
            </a:pPr>
            <a:r>
              <a:rPr lang="en-US" sz="2000" dirty="0"/>
              <a:t>No locks or 2-phase commit are required.  This scales very well.</a:t>
            </a:r>
          </a:p>
        </p:txBody>
      </p:sp>
      <p:sp>
        <p:nvSpPr>
          <p:cNvPr id="5" name="Slide Number Placeholder 4">
            <a:extLst>
              <a:ext uri="{FF2B5EF4-FFF2-40B4-BE49-F238E27FC236}">
                <a16:creationId xmlns:a16="http://schemas.microsoft.com/office/drawing/2014/main" id="{1F514FA7-E99F-4645-99E3-F0751132FC93}"/>
              </a:ext>
            </a:extLst>
          </p:cNvPr>
          <p:cNvSpPr>
            <a:spLocks noGrp="1"/>
          </p:cNvSpPr>
          <p:nvPr>
            <p:ph type="sldNum" sz="quarter" idx="12"/>
          </p:nvPr>
        </p:nvSpPr>
        <p:spPr/>
        <p:txBody>
          <a:bodyPr/>
          <a:lstStyle/>
          <a:p>
            <a:fld id="{3C974458-8A97-4835-BF79-1FB6D7856C21}" type="slidenum">
              <a:rPr lang="en-US" smtClean="0"/>
              <a:t>16</a:t>
            </a:fld>
            <a:endParaRPr lang="en-US"/>
          </a:p>
        </p:txBody>
      </p:sp>
      <p:sp>
        <p:nvSpPr>
          <p:cNvPr id="7" name="Oval 6">
            <a:extLst>
              <a:ext uri="{FF2B5EF4-FFF2-40B4-BE49-F238E27FC236}">
                <a16:creationId xmlns:a16="http://schemas.microsoft.com/office/drawing/2014/main" id="{ABB38D85-8EC4-47BE-9426-5582578EC638}"/>
              </a:ext>
            </a:extLst>
          </p:cNvPr>
          <p:cNvSpPr/>
          <p:nvPr/>
        </p:nvSpPr>
        <p:spPr>
          <a:xfrm>
            <a:off x="2066676" y="3626095"/>
            <a:ext cx="7203882" cy="8110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77F7AA89-B86D-4C13-B0C4-06CD17F92B1B}"/>
              </a:ext>
            </a:extLst>
          </p:cNvPr>
          <p:cNvSpPr txBox="1"/>
          <p:nvPr/>
        </p:nvSpPr>
        <p:spPr>
          <a:xfrm>
            <a:off x="9479282" y="3755502"/>
            <a:ext cx="1109207" cy="507831"/>
          </a:xfrm>
          <a:prstGeom prst="rect">
            <a:avLst/>
          </a:prstGeom>
          <a:noFill/>
        </p:spPr>
        <p:txBody>
          <a:bodyPr wrap="square" rtlCol="0">
            <a:spAutoFit/>
          </a:bodyPr>
          <a:lstStyle/>
          <a:p>
            <a:pPr algn="ctr"/>
            <a:r>
              <a:rPr lang="en-US" sz="1350" b="1"/>
              <a:t>Storage </a:t>
            </a:r>
            <a:br>
              <a:rPr lang="en-US" sz="1350" b="1"/>
            </a:br>
            <a:r>
              <a:rPr lang="en-US" sz="1350" b="1">
                <a:sym typeface="Symbol" panose="05050102010706020507" pitchFamily="18" charset="2"/>
              </a:rPr>
              <a:t>-</a:t>
            </a:r>
            <a:r>
              <a:rPr lang="en-US" sz="1350" b="1"/>
              <a:t>service</a:t>
            </a:r>
          </a:p>
        </p:txBody>
      </p:sp>
      <p:grpSp>
        <p:nvGrpSpPr>
          <p:cNvPr id="22" name="Group 21">
            <a:extLst>
              <a:ext uri="{FF2B5EF4-FFF2-40B4-BE49-F238E27FC236}">
                <a16:creationId xmlns:a16="http://schemas.microsoft.com/office/drawing/2014/main" id="{7301C448-F6BE-4DF2-8BDA-13B2E49EFE51}"/>
              </a:ext>
            </a:extLst>
          </p:cNvPr>
          <p:cNvGrpSpPr/>
          <p:nvPr/>
        </p:nvGrpSpPr>
        <p:grpSpPr>
          <a:xfrm>
            <a:off x="2490084" y="3889629"/>
            <a:ext cx="1610139" cy="363773"/>
            <a:chOff x="1288110" y="4043171"/>
            <a:chExt cx="2146852" cy="485030"/>
          </a:xfrm>
        </p:grpSpPr>
        <p:sp>
          <p:nvSpPr>
            <p:cNvPr id="9" name="Oval 8">
              <a:extLst>
                <a:ext uri="{FF2B5EF4-FFF2-40B4-BE49-F238E27FC236}">
                  <a16:creationId xmlns:a16="http://schemas.microsoft.com/office/drawing/2014/main" id="{4A2552E5-E1A0-4C2C-A9D2-108ED444D175}"/>
                </a:ext>
              </a:extLst>
            </p:cNvPr>
            <p:cNvSpPr/>
            <p:nvPr/>
          </p:nvSpPr>
          <p:spPr>
            <a:xfrm>
              <a:off x="1288110"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7D2B706-E50B-4341-B082-88E3A540D7E2}"/>
                </a:ext>
              </a:extLst>
            </p:cNvPr>
            <p:cNvGrpSpPr/>
            <p:nvPr/>
          </p:nvGrpSpPr>
          <p:grpSpPr>
            <a:xfrm>
              <a:off x="1840063" y="4116185"/>
              <a:ext cx="1042947" cy="325457"/>
              <a:chOff x="1810263" y="4116185"/>
              <a:chExt cx="1042947" cy="325457"/>
            </a:xfrm>
          </p:grpSpPr>
          <p:sp>
            <p:nvSpPr>
              <p:cNvPr id="10" name="Oval 9">
                <a:extLst>
                  <a:ext uri="{FF2B5EF4-FFF2-40B4-BE49-F238E27FC236}">
                    <a16:creationId xmlns:a16="http://schemas.microsoft.com/office/drawing/2014/main" id="{05D3EFD7-E23A-4612-91C7-EEEFF5669A58}"/>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F94E5815-D939-4B7F-B433-7302AF538619}"/>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E8DC6B96-11C5-4818-ABF9-0773C7B97485}"/>
              </a:ext>
            </a:extLst>
          </p:cNvPr>
          <p:cNvGrpSpPr/>
          <p:nvPr/>
        </p:nvGrpSpPr>
        <p:grpSpPr>
          <a:xfrm>
            <a:off x="5971762" y="3889629"/>
            <a:ext cx="1610139" cy="363773"/>
            <a:chOff x="6034377" y="4025635"/>
            <a:chExt cx="2146852" cy="485030"/>
          </a:xfrm>
        </p:grpSpPr>
        <p:sp>
          <p:nvSpPr>
            <p:cNvPr id="14" name="Oval 13">
              <a:extLst>
                <a:ext uri="{FF2B5EF4-FFF2-40B4-BE49-F238E27FC236}">
                  <a16:creationId xmlns:a16="http://schemas.microsoft.com/office/drawing/2014/main" id="{6292F995-338F-4C08-AD19-9BD46B0E2E84}"/>
                </a:ext>
              </a:extLst>
            </p:cNvPr>
            <p:cNvSpPr/>
            <p:nvPr/>
          </p:nvSpPr>
          <p:spPr>
            <a:xfrm>
              <a:off x="6034377" y="4025635"/>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4401F1F-7D0A-4B79-B259-58A7BF659E7A}"/>
                </a:ext>
              </a:extLst>
            </p:cNvPr>
            <p:cNvGrpSpPr/>
            <p:nvPr/>
          </p:nvGrpSpPr>
          <p:grpSpPr>
            <a:xfrm>
              <a:off x="6586330" y="4098649"/>
              <a:ext cx="1042947" cy="325457"/>
              <a:chOff x="1810263" y="4116185"/>
              <a:chExt cx="1042947" cy="325457"/>
            </a:xfrm>
          </p:grpSpPr>
          <p:sp>
            <p:nvSpPr>
              <p:cNvPr id="16" name="Oval 15">
                <a:extLst>
                  <a:ext uri="{FF2B5EF4-FFF2-40B4-BE49-F238E27FC236}">
                    <a16:creationId xmlns:a16="http://schemas.microsoft.com/office/drawing/2014/main" id="{2FE97CF9-F045-4A93-87A2-C5A0667AF2EF}"/>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Oval 16">
                <a:extLst>
                  <a:ext uri="{FF2B5EF4-FFF2-40B4-BE49-F238E27FC236}">
                    <a16:creationId xmlns:a16="http://schemas.microsoft.com/office/drawing/2014/main" id="{FCE04440-C0AD-45B2-8594-DD7DC856A1C1}"/>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3" name="Group 22">
            <a:extLst>
              <a:ext uri="{FF2B5EF4-FFF2-40B4-BE49-F238E27FC236}">
                <a16:creationId xmlns:a16="http://schemas.microsoft.com/office/drawing/2014/main" id="{E6ECB3B3-B01C-4426-9A07-F45E2B6077EE}"/>
              </a:ext>
            </a:extLst>
          </p:cNvPr>
          <p:cNvGrpSpPr/>
          <p:nvPr/>
        </p:nvGrpSpPr>
        <p:grpSpPr>
          <a:xfrm>
            <a:off x="4230923" y="3889629"/>
            <a:ext cx="1610139" cy="363773"/>
            <a:chOff x="3609229" y="4043171"/>
            <a:chExt cx="2146852" cy="485030"/>
          </a:xfrm>
        </p:grpSpPr>
        <p:sp>
          <p:nvSpPr>
            <p:cNvPr id="18" name="Oval 17">
              <a:extLst>
                <a:ext uri="{FF2B5EF4-FFF2-40B4-BE49-F238E27FC236}">
                  <a16:creationId xmlns:a16="http://schemas.microsoft.com/office/drawing/2014/main" id="{3D659D6B-29E5-4FA4-AF43-A0C816294FD9}"/>
                </a:ext>
              </a:extLst>
            </p:cNvPr>
            <p:cNvSpPr/>
            <p:nvPr/>
          </p:nvSpPr>
          <p:spPr>
            <a:xfrm>
              <a:off x="3609229" y="4043171"/>
              <a:ext cx="2146852" cy="48503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9" name="Group 18">
              <a:extLst>
                <a:ext uri="{FF2B5EF4-FFF2-40B4-BE49-F238E27FC236}">
                  <a16:creationId xmlns:a16="http://schemas.microsoft.com/office/drawing/2014/main" id="{CC61C77C-831E-4985-9CF2-1759F5C7283F}"/>
                </a:ext>
              </a:extLst>
            </p:cNvPr>
            <p:cNvGrpSpPr/>
            <p:nvPr/>
          </p:nvGrpSpPr>
          <p:grpSpPr>
            <a:xfrm>
              <a:off x="4161182" y="4116185"/>
              <a:ext cx="1042947" cy="325457"/>
              <a:chOff x="1810263" y="4116185"/>
              <a:chExt cx="1042947" cy="325457"/>
            </a:xfrm>
          </p:grpSpPr>
          <p:sp>
            <p:nvSpPr>
              <p:cNvPr id="20" name="Oval 19">
                <a:extLst>
                  <a:ext uri="{FF2B5EF4-FFF2-40B4-BE49-F238E27FC236}">
                    <a16:creationId xmlns:a16="http://schemas.microsoft.com/office/drawing/2014/main" id="{E0ED1C8C-5DE7-492F-84FF-40E510ACE92A}"/>
                  </a:ext>
                </a:extLst>
              </p:cNvPr>
              <p:cNvSpPr/>
              <p:nvPr/>
            </p:nvSpPr>
            <p:spPr>
              <a:xfrm>
                <a:off x="1810263" y="4116185"/>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034897BF-FE42-4124-A6C6-2E3DCD7CDE2B}"/>
                  </a:ext>
                </a:extLst>
              </p:cNvPr>
              <p:cNvSpPr/>
              <p:nvPr/>
            </p:nvSpPr>
            <p:spPr>
              <a:xfrm>
                <a:off x="2506003" y="4118476"/>
                <a:ext cx="347207" cy="323166"/>
              </a:xfrm>
              <a:prstGeom prst="ellipse">
                <a:avLst/>
              </a:prstGeom>
              <a:solidFill>
                <a:srgbClr val="E91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25" name="Oval 24">
            <a:extLst>
              <a:ext uri="{FF2B5EF4-FFF2-40B4-BE49-F238E27FC236}">
                <a16:creationId xmlns:a16="http://schemas.microsoft.com/office/drawing/2014/main" id="{86307108-E3B6-48C8-B3C0-7F9F3D667F76}"/>
              </a:ext>
            </a:extLst>
          </p:cNvPr>
          <p:cNvSpPr/>
          <p:nvPr/>
        </p:nvSpPr>
        <p:spPr>
          <a:xfrm>
            <a:off x="7736207"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a:extLst>
              <a:ext uri="{FF2B5EF4-FFF2-40B4-BE49-F238E27FC236}">
                <a16:creationId xmlns:a16="http://schemas.microsoft.com/office/drawing/2014/main" id="{850C1838-6985-4962-BE8B-E3B1214B9C44}"/>
              </a:ext>
            </a:extLst>
          </p:cNvPr>
          <p:cNvSpPr/>
          <p:nvPr/>
        </p:nvSpPr>
        <p:spPr>
          <a:xfrm>
            <a:off x="7940952" y="3999742"/>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a:extLst>
              <a:ext uri="{FF2B5EF4-FFF2-40B4-BE49-F238E27FC236}">
                <a16:creationId xmlns:a16="http://schemas.microsoft.com/office/drawing/2014/main" id="{A1234C42-E06A-4BEF-8D52-DB5D930D6E78}"/>
              </a:ext>
            </a:extLst>
          </p:cNvPr>
          <p:cNvSpPr/>
          <p:nvPr/>
        </p:nvSpPr>
        <p:spPr>
          <a:xfrm>
            <a:off x="8131412" y="3997875"/>
            <a:ext cx="108833" cy="9754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Speech Bubble: Rectangle 30">
            <a:extLst>
              <a:ext uri="{FF2B5EF4-FFF2-40B4-BE49-F238E27FC236}">
                <a16:creationId xmlns:a16="http://schemas.microsoft.com/office/drawing/2014/main" id="{BA25C95A-E1CF-4021-AE4E-64ECCAF0A5A9}"/>
              </a:ext>
            </a:extLst>
          </p:cNvPr>
          <p:cNvSpPr/>
          <p:nvPr/>
        </p:nvSpPr>
        <p:spPr>
          <a:xfrm>
            <a:off x="8489342" y="2944468"/>
            <a:ext cx="1836752" cy="459486"/>
          </a:xfrm>
          <a:prstGeom prst="wedgeRectCallout">
            <a:avLst>
              <a:gd name="adj1" fmla="val -236768"/>
              <a:gd name="adj2" fmla="val 167626"/>
            </a:avLst>
          </a:prstGeom>
          <a:solidFill>
            <a:srgbClr val="B4DE8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a:solidFill>
                  <a:schemeClr val="tx1"/>
                </a:solidFill>
              </a:rPr>
              <a:t>Each transaction accesses just one shard</a:t>
            </a:r>
          </a:p>
        </p:txBody>
      </p:sp>
      <p:sp>
        <p:nvSpPr>
          <p:cNvPr id="28" name="Freeform: Shape 27">
            <a:extLst>
              <a:ext uri="{FF2B5EF4-FFF2-40B4-BE49-F238E27FC236}">
                <a16:creationId xmlns:a16="http://schemas.microsoft.com/office/drawing/2014/main" id="{EC5DEE64-F379-4CC4-AA4D-323894BCF3F3}"/>
              </a:ext>
            </a:extLst>
          </p:cNvPr>
          <p:cNvSpPr/>
          <p:nvPr/>
        </p:nvSpPr>
        <p:spPr>
          <a:xfrm>
            <a:off x="2919444" y="23242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9" name="Freeform: Shape 28">
            <a:extLst>
              <a:ext uri="{FF2B5EF4-FFF2-40B4-BE49-F238E27FC236}">
                <a16:creationId xmlns:a16="http://schemas.microsoft.com/office/drawing/2014/main" id="{D6C08AB2-EA39-497E-A5D8-D34A008ADBD5}"/>
              </a:ext>
            </a:extLst>
          </p:cNvPr>
          <p:cNvSpPr/>
          <p:nvPr/>
        </p:nvSpPr>
        <p:spPr>
          <a:xfrm>
            <a:off x="344341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Shape 29">
            <a:extLst>
              <a:ext uri="{FF2B5EF4-FFF2-40B4-BE49-F238E27FC236}">
                <a16:creationId xmlns:a16="http://schemas.microsoft.com/office/drawing/2014/main" id="{8754A7F5-0182-4ABD-AD39-59320E781749}"/>
              </a:ext>
            </a:extLst>
          </p:cNvPr>
          <p:cNvSpPr/>
          <p:nvPr/>
        </p:nvSpPr>
        <p:spPr>
          <a:xfrm>
            <a:off x="3895413" y="2453674"/>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Freeform: Shape 31">
            <a:extLst>
              <a:ext uri="{FF2B5EF4-FFF2-40B4-BE49-F238E27FC236}">
                <a16:creationId xmlns:a16="http://schemas.microsoft.com/office/drawing/2014/main" id="{674850FC-1777-4CA7-A578-C0766C21C839}"/>
              </a:ext>
            </a:extLst>
          </p:cNvPr>
          <p:cNvSpPr/>
          <p:nvPr/>
        </p:nvSpPr>
        <p:spPr>
          <a:xfrm>
            <a:off x="4352956" y="2227211"/>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Shape 32">
            <a:extLst>
              <a:ext uri="{FF2B5EF4-FFF2-40B4-BE49-F238E27FC236}">
                <a16:creationId xmlns:a16="http://schemas.microsoft.com/office/drawing/2014/main" id="{541179D0-26CD-4585-81B8-D1597218CF25}"/>
              </a:ext>
            </a:extLst>
          </p:cNvPr>
          <p:cNvSpPr/>
          <p:nvPr/>
        </p:nvSpPr>
        <p:spPr>
          <a:xfrm>
            <a:off x="4745311" y="2307867"/>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Freeform: Shape 33">
            <a:extLst>
              <a:ext uri="{FF2B5EF4-FFF2-40B4-BE49-F238E27FC236}">
                <a16:creationId xmlns:a16="http://schemas.microsoft.com/office/drawing/2014/main" id="{02556074-F07F-40E7-B99C-A8FF434AA61B}"/>
              </a:ext>
            </a:extLst>
          </p:cNvPr>
          <p:cNvSpPr/>
          <p:nvPr/>
        </p:nvSpPr>
        <p:spPr>
          <a:xfrm>
            <a:off x="5476877" y="2356395"/>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Freeform: Shape 34">
            <a:extLst>
              <a:ext uri="{FF2B5EF4-FFF2-40B4-BE49-F238E27FC236}">
                <a16:creationId xmlns:a16="http://schemas.microsoft.com/office/drawing/2014/main" id="{34655428-4912-4506-B0A9-460920E710A5}"/>
              </a:ext>
            </a:extLst>
          </p:cNvPr>
          <p:cNvSpPr/>
          <p:nvPr/>
        </p:nvSpPr>
        <p:spPr>
          <a:xfrm>
            <a:off x="600084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Freeform: Shape 35">
            <a:extLst>
              <a:ext uri="{FF2B5EF4-FFF2-40B4-BE49-F238E27FC236}">
                <a16:creationId xmlns:a16="http://schemas.microsoft.com/office/drawing/2014/main" id="{747F0E35-43E6-4D84-9A58-6E226C29CE14}"/>
              </a:ext>
            </a:extLst>
          </p:cNvPr>
          <p:cNvSpPr/>
          <p:nvPr/>
        </p:nvSpPr>
        <p:spPr>
          <a:xfrm>
            <a:off x="6452846" y="2485802"/>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Freeform: Shape 36">
            <a:extLst>
              <a:ext uri="{FF2B5EF4-FFF2-40B4-BE49-F238E27FC236}">
                <a16:creationId xmlns:a16="http://schemas.microsoft.com/office/drawing/2014/main" id="{B4D4DD14-98AE-4E30-9CE2-4150BA945136}"/>
              </a:ext>
            </a:extLst>
          </p:cNvPr>
          <p:cNvSpPr/>
          <p:nvPr/>
        </p:nvSpPr>
        <p:spPr>
          <a:xfrm>
            <a:off x="6910389" y="2259340"/>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Freeform: Shape 37">
            <a:extLst>
              <a:ext uri="{FF2B5EF4-FFF2-40B4-BE49-F238E27FC236}">
                <a16:creationId xmlns:a16="http://schemas.microsoft.com/office/drawing/2014/main" id="{16F480DC-AD3A-4E6C-B118-E91F2AAB5D53}"/>
              </a:ext>
            </a:extLst>
          </p:cNvPr>
          <p:cNvSpPr/>
          <p:nvPr/>
        </p:nvSpPr>
        <p:spPr>
          <a:xfrm>
            <a:off x="7302744" y="2339996"/>
            <a:ext cx="143948" cy="697727"/>
          </a:xfrm>
          <a:custGeom>
            <a:avLst/>
            <a:gdLst>
              <a:gd name="connsiteX0" fmla="*/ 63625 w 191931"/>
              <a:gd name="connsiteY0" fmla="*/ 0 h 930302"/>
              <a:gd name="connsiteX1" fmla="*/ 190846 w 191931"/>
              <a:gd name="connsiteY1" fmla="*/ 294198 h 930302"/>
              <a:gd name="connsiteX2" fmla="*/ 14 w 191931"/>
              <a:gd name="connsiteY2" fmla="*/ 540689 h 930302"/>
              <a:gd name="connsiteX3" fmla="*/ 182894 w 191931"/>
              <a:gd name="connsiteY3" fmla="*/ 930302 h 930302"/>
            </a:gdLst>
            <a:ahLst/>
            <a:cxnLst>
              <a:cxn ang="0">
                <a:pos x="connsiteX0" y="connsiteY0"/>
              </a:cxn>
              <a:cxn ang="0">
                <a:pos x="connsiteX1" y="connsiteY1"/>
              </a:cxn>
              <a:cxn ang="0">
                <a:pos x="connsiteX2" y="connsiteY2"/>
              </a:cxn>
              <a:cxn ang="0">
                <a:pos x="connsiteX3" y="connsiteY3"/>
              </a:cxn>
            </a:cxnLst>
            <a:rect l="l" t="t" r="r" b="b"/>
            <a:pathLst>
              <a:path w="191931" h="930302">
                <a:moveTo>
                  <a:pt x="63625" y="0"/>
                </a:moveTo>
                <a:cubicBezTo>
                  <a:pt x="132536" y="102041"/>
                  <a:pt x="201448" y="204083"/>
                  <a:pt x="190846" y="294198"/>
                </a:cubicBezTo>
                <a:cubicBezTo>
                  <a:pt x="180244" y="384313"/>
                  <a:pt x="1339" y="434672"/>
                  <a:pt x="14" y="540689"/>
                </a:cubicBezTo>
                <a:cubicBezTo>
                  <a:pt x="-1311" y="646706"/>
                  <a:pt x="90791" y="788504"/>
                  <a:pt x="182894" y="93030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47" name="Straight Arrow Connector 46">
            <a:extLst>
              <a:ext uri="{FF2B5EF4-FFF2-40B4-BE49-F238E27FC236}">
                <a16:creationId xmlns:a16="http://schemas.microsoft.com/office/drawing/2014/main" id="{82720E5A-3D0B-4559-A2D0-B54023EA84C3}"/>
              </a:ext>
            </a:extLst>
          </p:cNvPr>
          <p:cNvCxnSpPr>
            <a:cxnSpLocks/>
          </p:cNvCxnSpPr>
          <p:nvPr/>
        </p:nvCxnSpPr>
        <p:spPr>
          <a:xfrm>
            <a:off x="3063392" y="3054122"/>
            <a:ext cx="453896" cy="823631"/>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A48B7A4-6D24-48BD-98C5-069F5DE1163D}"/>
              </a:ext>
            </a:extLst>
          </p:cNvPr>
          <p:cNvCxnSpPr>
            <a:cxnSpLocks/>
          </p:cNvCxnSpPr>
          <p:nvPr/>
        </p:nvCxnSpPr>
        <p:spPr>
          <a:xfrm flipH="1">
            <a:off x="6478071" y="3021994"/>
            <a:ext cx="576266" cy="85575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06EC369-3782-425A-9595-897E79DE97ED}"/>
              </a:ext>
            </a:extLst>
          </p:cNvPr>
          <p:cNvCxnSpPr>
            <a:cxnSpLocks/>
          </p:cNvCxnSpPr>
          <p:nvPr/>
        </p:nvCxnSpPr>
        <p:spPr>
          <a:xfrm flipH="1">
            <a:off x="4647600" y="3054122"/>
            <a:ext cx="973225" cy="850239"/>
          </a:xfrm>
          <a:prstGeom prst="straightConnector1">
            <a:avLst/>
          </a:prstGeom>
          <a:ln w="571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013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randombar(horizontal)">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US">
                <a:solidFill>
                  <a:schemeClr val="accent1"/>
                </a:solidFill>
              </a:rPr>
              <a:t>CAP Theorem</a:t>
            </a:r>
          </a:p>
        </p:txBody>
      </p:sp>
      <p:sp>
        <p:nvSpPr>
          <p:cNvPr id="6" name="TextBox 5"/>
          <p:cNvSpPr txBox="1"/>
          <p:nvPr/>
        </p:nvSpPr>
        <p:spPr>
          <a:xfrm>
            <a:off x="718457" y="1228398"/>
            <a:ext cx="10863943" cy="3970318"/>
          </a:xfrm>
          <a:prstGeom prst="rect">
            <a:avLst/>
          </a:prstGeom>
          <a:noFill/>
        </p:spPr>
        <p:txBody>
          <a:bodyPr wrap="square" rtlCol="0">
            <a:spAutoFit/>
          </a:bodyPr>
          <a:lstStyle/>
          <a:p>
            <a:pPr marL="285750" indent="-285750">
              <a:buFontTx/>
              <a:buChar char="•"/>
            </a:pPr>
            <a:r>
              <a:rPr lang="en-US" sz="2800" dirty="0"/>
              <a:t>Conjectured by Prof. Eric Brewer at PODC (Principle of Distributed Computing) 2000 keynote talk</a:t>
            </a:r>
          </a:p>
          <a:p>
            <a:endParaRPr lang="en-US" sz="2800" dirty="0"/>
          </a:p>
          <a:p>
            <a:pPr marL="285750" indent="-285750">
              <a:buFontTx/>
              <a:buChar char="•"/>
            </a:pPr>
            <a:r>
              <a:rPr lang="en-US" sz="2800" dirty="0"/>
              <a:t>Described the </a:t>
            </a:r>
            <a:r>
              <a:rPr lang="en-US" sz="2800" i="1" dirty="0"/>
              <a:t>trade-offs involved in distributed system</a:t>
            </a:r>
          </a:p>
          <a:p>
            <a:endParaRPr lang="en-US" sz="2800" dirty="0"/>
          </a:p>
          <a:p>
            <a:pPr marL="285750" indent="-285750">
              <a:buFontTx/>
              <a:buChar char="•"/>
            </a:pPr>
            <a:r>
              <a:rPr lang="en-US" sz="2800" dirty="0"/>
              <a:t>It is impossible for a web service to provide following </a:t>
            </a:r>
            <a:r>
              <a:rPr lang="en-US" sz="2800" i="1" dirty="0"/>
              <a:t>three guarantees at the same time</a:t>
            </a:r>
            <a:endParaRPr lang="en-US" sz="2800" dirty="0"/>
          </a:p>
          <a:p>
            <a:pPr marL="285750" indent="-285750">
              <a:buFontTx/>
              <a:buChar char="•"/>
            </a:pPr>
            <a:endParaRPr lang="en-US" sz="2800" dirty="0"/>
          </a:p>
          <a:p>
            <a:pPr lvl="2"/>
            <a:endParaRPr lang="en-US" sz="2800" b="1" dirty="0"/>
          </a:p>
        </p:txBody>
      </p:sp>
      <p:sp>
        <p:nvSpPr>
          <p:cNvPr id="3" name="TextBox 2">
            <a:extLst>
              <a:ext uri="{FF2B5EF4-FFF2-40B4-BE49-F238E27FC236}">
                <a16:creationId xmlns:a16="http://schemas.microsoft.com/office/drawing/2014/main" id="{9B822AFF-0119-81F6-D0A2-1F89C24D4B47}"/>
              </a:ext>
            </a:extLst>
          </p:cNvPr>
          <p:cNvSpPr txBox="1"/>
          <p:nvPr/>
        </p:nvSpPr>
        <p:spPr>
          <a:xfrm>
            <a:off x="4125686" y="4419599"/>
            <a:ext cx="3635828" cy="1938992"/>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lvl="2" algn="ctr"/>
            <a:r>
              <a:rPr lang="en-US" sz="2400" b="1" dirty="0">
                <a:solidFill>
                  <a:schemeClr val="bg1"/>
                </a:solidFill>
              </a:rPr>
              <a:t>Availability</a:t>
            </a:r>
          </a:p>
          <a:p>
            <a:pPr marL="0" lvl="2" algn="ctr"/>
            <a:endParaRPr lang="en-US" sz="2400" b="1" dirty="0">
              <a:solidFill>
                <a:schemeClr val="bg1"/>
              </a:solidFill>
            </a:endParaRPr>
          </a:p>
          <a:p>
            <a:pPr marL="0" lvl="2" algn="ctr"/>
            <a:r>
              <a:rPr lang="en-US" sz="2400" b="1" dirty="0">
                <a:solidFill>
                  <a:schemeClr val="bg1"/>
                </a:solidFill>
              </a:rPr>
              <a:t>Consistency</a:t>
            </a:r>
          </a:p>
          <a:p>
            <a:pPr marL="0" lvl="2" algn="ctr"/>
            <a:endParaRPr lang="en-US" sz="2400" b="1" dirty="0">
              <a:solidFill>
                <a:schemeClr val="bg1"/>
              </a:solidFill>
            </a:endParaRPr>
          </a:p>
          <a:p>
            <a:pPr marL="0" lvl="2" algn="ctr"/>
            <a:r>
              <a:rPr lang="en-US" sz="2400" b="1" dirty="0">
                <a:solidFill>
                  <a:schemeClr val="bg1"/>
                </a:solidFill>
              </a:rPr>
              <a:t>Partition-tolerance</a:t>
            </a:r>
            <a:endParaRPr lang="en-ES" dirty="0">
              <a:solidFill>
                <a:schemeClr val="bg1"/>
              </a:solidFill>
            </a:endParaRPr>
          </a:p>
        </p:txBody>
      </p:sp>
    </p:spTree>
    <p:extLst>
      <p:ext uri="{BB962C8B-B14F-4D97-AF65-F5344CB8AC3E}">
        <p14:creationId xmlns:p14="http://schemas.microsoft.com/office/powerpoint/2010/main" val="2769091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CAP Theorem</a:t>
            </a:r>
          </a:p>
        </p:txBody>
      </p:sp>
      <p:sp>
        <p:nvSpPr>
          <p:cNvPr id="3" name="Content Placeholder 2"/>
          <p:cNvSpPr>
            <a:spLocks noGrp="1"/>
          </p:cNvSpPr>
          <p:nvPr>
            <p:ph idx="1"/>
          </p:nvPr>
        </p:nvSpPr>
        <p:spPr/>
        <p:txBody>
          <a:bodyPr>
            <a:normAutofit/>
          </a:bodyPr>
          <a:lstStyle/>
          <a:p>
            <a:r>
              <a:rPr lang="en-US" b="1" u="sng"/>
              <a:t>C</a:t>
            </a:r>
            <a:r>
              <a:rPr lang="en-US"/>
              <a:t>onsistency:</a:t>
            </a:r>
          </a:p>
          <a:p>
            <a:pPr lvl="1"/>
            <a:r>
              <a:rPr lang="en-US"/>
              <a:t>All nodes should see the same data at the same time</a:t>
            </a:r>
          </a:p>
          <a:p>
            <a:r>
              <a:rPr lang="en-US" b="1" u="sng"/>
              <a:t>A</a:t>
            </a:r>
            <a:r>
              <a:rPr lang="en-US"/>
              <a:t>vailability:</a:t>
            </a:r>
          </a:p>
          <a:p>
            <a:pPr lvl="1"/>
            <a:r>
              <a:rPr lang="en-US"/>
              <a:t>Node failures do not prevent survivors from continuing to operate</a:t>
            </a:r>
          </a:p>
          <a:p>
            <a:r>
              <a:rPr lang="en-US" b="1" u="sng"/>
              <a:t>P</a:t>
            </a:r>
            <a:r>
              <a:rPr lang="en-US"/>
              <a:t>artition-tolerance:</a:t>
            </a:r>
          </a:p>
          <a:p>
            <a:pPr lvl="1"/>
            <a:r>
              <a:rPr lang="en-US"/>
              <a:t>The system continues to operate despite network partitions</a:t>
            </a:r>
          </a:p>
          <a:p>
            <a:r>
              <a:rPr lang="en-US"/>
              <a:t>A distributed system can satisfy any two of these guarantees at the same time </a:t>
            </a:r>
            <a:r>
              <a:rPr lang="en-US" b="1"/>
              <a:t>but not all three</a:t>
            </a:r>
          </a:p>
          <a:p>
            <a:pPr marL="457200" lvl="1" indent="0">
              <a:buNone/>
            </a:pPr>
            <a:endParaRPr lang="en-US"/>
          </a:p>
        </p:txBody>
      </p:sp>
    </p:spTree>
    <p:extLst>
      <p:ext uri="{BB962C8B-B14F-4D97-AF65-F5344CB8AC3E}">
        <p14:creationId xmlns:p14="http://schemas.microsoft.com/office/powerpoint/2010/main" val="307137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253" y="114217"/>
            <a:ext cx="8229600" cy="1143000"/>
          </a:xfrm>
        </p:spPr>
        <p:txBody>
          <a:bodyPr/>
          <a:lstStyle/>
          <a:p>
            <a:r>
              <a:rPr lang="en-US"/>
              <a:t>CAP Theorem</a:t>
            </a:r>
          </a:p>
        </p:txBody>
      </p:sp>
      <p:sp>
        <p:nvSpPr>
          <p:cNvPr id="4" name="Oval 3"/>
          <p:cNvSpPr/>
          <p:nvPr/>
        </p:nvSpPr>
        <p:spPr>
          <a:xfrm>
            <a:off x="3181676"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5" name="Oval 4"/>
          <p:cNvSpPr/>
          <p:nvPr/>
        </p:nvSpPr>
        <p:spPr>
          <a:xfrm>
            <a:off x="5593339"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A</a:t>
            </a:r>
          </a:p>
        </p:txBody>
      </p:sp>
      <p:sp>
        <p:nvSpPr>
          <p:cNvPr id="6" name="Oval 5"/>
          <p:cNvSpPr/>
          <p:nvPr/>
        </p:nvSpPr>
        <p:spPr>
          <a:xfrm>
            <a:off x="4371464" y="3088108"/>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P</a:t>
            </a:r>
          </a:p>
        </p:txBody>
      </p:sp>
      <p:sp>
        <p:nvSpPr>
          <p:cNvPr id="7" name="Multiply 6"/>
          <p:cNvSpPr/>
          <p:nvPr/>
        </p:nvSpPr>
        <p:spPr>
          <a:xfrm>
            <a:off x="5721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046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CAP Theorem: Proof</a:t>
            </a:r>
          </a:p>
        </p:txBody>
      </p:sp>
      <p:sp>
        <p:nvSpPr>
          <p:cNvPr id="3" name="Content Placeholder 2"/>
          <p:cNvSpPr>
            <a:spLocks noGrp="1"/>
          </p:cNvSpPr>
          <p:nvPr>
            <p:ph idx="1"/>
          </p:nvPr>
        </p:nvSpPr>
        <p:spPr>
          <a:xfrm>
            <a:off x="1981202" y="1747252"/>
            <a:ext cx="5224379" cy="1782012"/>
          </a:xfrm>
        </p:spPr>
        <p:txBody>
          <a:bodyPr>
            <a:normAutofit/>
          </a:bodyPr>
          <a:lstStyle/>
          <a:p>
            <a:pPr marL="0" indent="0">
              <a:buNone/>
            </a:pPr>
            <a:r>
              <a:rPr lang="en-US" dirty="0"/>
              <a:t>2002: Proven by research conducted by Nancy Lynch and Seth Gilbert at MIT</a:t>
            </a:r>
          </a:p>
          <a:p>
            <a:endParaRPr lang="en-US" dirty="0"/>
          </a:p>
        </p:txBody>
      </p:sp>
      <p:pic>
        <p:nvPicPr>
          <p:cNvPr id="6" name="Picture 5"/>
          <p:cNvPicPr>
            <a:picLocks noChangeAspect="1"/>
          </p:cNvPicPr>
          <p:nvPr/>
        </p:nvPicPr>
        <p:blipFill>
          <a:blip r:embed="rId2"/>
          <a:stretch>
            <a:fillRect/>
          </a:stretch>
        </p:blipFill>
        <p:spPr>
          <a:xfrm>
            <a:off x="7603742" y="1737893"/>
            <a:ext cx="2369101" cy="4401096"/>
          </a:xfrm>
          <a:prstGeom prst="rect">
            <a:avLst/>
          </a:prstGeom>
        </p:spPr>
      </p:pic>
      <p:sp>
        <p:nvSpPr>
          <p:cNvPr id="7" name="TextBox 6"/>
          <p:cNvSpPr txBox="1"/>
          <p:nvPr/>
        </p:nvSpPr>
        <p:spPr>
          <a:xfrm>
            <a:off x="1815543" y="3844482"/>
            <a:ext cx="5685966" cy="1569660"/>
          </a:xfrm>
          <a:prstGeom prst="rect">
            <a:avLst/>
          </a:prstGeom>
          <a:noFill/>
        </p:spPr>
        <p:txBody>
          <a:bodyPr wrap="square" rtlCol="0">
            <a:spAutoFit/>
          </a:bodyPr>
          <a:lstStyle/>
          <a:p>
            <a:r>
              <a:rPr lang="en-US" sz="2400"/>
              <a:t>Gilbert, Seth, and Nancy Lynch. "Brewer's conjecture and  the feasibility of consistent, available, partition-tolerant web services." ACM SIGACT News 33.2 (2002): 51-59.</a:t>
            </a:r>
          </a:p>
        </p:txBody>
      </p:sp>
    </p:spTree>
    <p:extLst>
      <p:ext uri="{BB962C8B-B14F-4D97-AF65-F5344CB8AC3E}">
        <p14:creationId xmlns:p14="http://schemas.microsoft.com/office/powerpoint/2010/main" val="3827642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CAP Theorem</a:t>
            </a:r>
          </a:p>
        </p:txBody>
      </p:sp>
      <p:sp>
        <p:nvSpPr>
          <p:cNvPr id="3" name="Content Placeholder 2"/>
          <p:cNvSpPr>
            <a:spLocks noGrp="1"/>
          </p:cNvSpPr>
          <p:nvPr>
            <p:ph idx="1"/>
          </p:nvPr>
        </p:nvSpPr>
        <p:spPr>
          <a:xfrm>
            <a:off x="609599" y="1747255"/>
            <a:ext cx="4584066" cy="4528285"/>
          </a:xfrm>
        </p:spPr>
        <p:txBody>
          <a:bodyPr>
            <a:normAutofit fontScale="85000" lnSpcReduction="20000"/>
          </a:bodyPr>
          <a:lstStyle/>
          <a:p>
            <a:pPr marL="0" indent="0">
              <a:buNone/>
            </a:pPr>
            <a:r>
              <a:rPr lang="en-GB" b="0" i="0" u="none" strike="noStrike" dirty="0">
                <a:solidFill>
                  <a:srgbClr val="000000"/>
                </a:solidFill>
                <a:effectLst/>
                <a:latin typeface="Helvetica Neue" panose="02000503000000020004" pitchFamily="2" charset="0"/>
              </a:rPr>
              <a:t>Let's consider a simple system is composed of two servers, </a:t>
            </a:r>
            <a:r>
              <a:rPr lang="en-GB" b="0" i="0" u="none" strike="noStrike" dirty="0">
                <a:solidFill>
                  <a:srgbClr val="000000"/>
                </a:solidFill>
                <a:effectLst/>
                <a:latin typeface="MJXc-TeX-math-I"/>
              </a:rPr>
              <a:t>G</a:t>
            </a:r>
            <a:r>
              <a:rPr lang="en-GB" b="0" i="0" u="none" strike="noStrike" dirty="0">
                <a:solidFill>
                  <a:srgbClr val="000000"/>
                </a:solidFill>
                <a:effectLst/>
                <a:latin typeface="MJXc-TeX-main-R"/>
              </a:rPr>
              <a:t>1</a:t>
            </a:r>
            <a:r>
              <a:rPr lang="en-GB" b="0" i="0" u="none" strike="noStrike" dirty="0">
                <a:solidFill>
                  <a:srgbClr val="000000"/>
                </a:solidFill>
                <a:effectLst/>
                <a:latin typeface="Helvetica Neue" panose="02000503000000020004" pitchFamily="2" charset="0"/>
              </a:rPr>
              <a:t> and </a:t>
            </a:r>
            <a:r>
              <a:rPr lang="en-GB" b="0" i="0" u="none" strike="noStrike" dirty="0">
                <a:solidFill>
                  <a:srgbClr val="000000"/>
                </a:solidFill>
                <a:effectLst/>
                <a:latin typeface="MJXc-TeX-math-I"/>
              </a:rPr>
              <a:t>G</a:t>
            </a:r>
            <a:r>
              <a:rPr lang="en-GB" b="0" i="0" u="none" strike="noStrike" dirty="0">
                <a:solidFill>
                  <a:srgbClr val="000000"/>
                </a:solidFill>
                <a:effectLst/>
                <a:latin typeface="MJXc-TeX-main-R"/>
              </a:rPr>
              <a:t>2</a:t>
            </a:r>
            <a:r>
              <a:rPr lang="en-GB" b="0" i="0" u="none" strike="noStrike" dirty="0">
                <a:solidFill>
                  <a:srgbClr val="000000"/>
                </a:solidFill>
                <a:effectLst/>
                <a:latin typeface="Helvetica Neue" panose="02000503000000020004" pitchFamily="2" charset="0"/>
              </a:rPr>
              <a:t>.</a:t>
            </a:r>
          </a:p>
          <a:p>
            <a:pPr marL="0" indent="0">
              <a:buNone/>
            </a:pPr>
            <a:endParaRPr lang="en-GB" b="0" i="0" u="none" strike="noStrike" dirty="0">
              <a:solidFill>
                <a:srgbClr val="000000"/>
              </a:solidFill>
              <a:effectLst/>
              <a:latin typeface="Helvetica Neue" panose="02000503000000020004" pitchFamily="2" charset="0"/>
            </a:endParaRPr>
          </a:p>
          <a:p>
            <a:pPr marL="0" indent="0">
              <a:buNone/>
            </a:pPr>
            <a:r>
              <a:rPr lang="en-GB" b="0" i="0" u="none" strike="noStrike" dirty="0">
                <a:solidFill>
                  <a:srgbClr val="000000"/>
                </a:solidFill>
                <a:effectLst/>
                <a:latin typeface="Helvetica Neue" panose="02000503000000020004" pitchFamily="2" charset="0"/>
              </a:rPr>
              <a:t>Both servers are keeping track of the same variable, </a:t>
            </a:r>
            <a:r>
              <a:rPr lang="en-GB" b="0" i="0" u="none" strike="noStrike" dirty="0">
                <a:solidFill>
                  <a:srgbClr val="000000"/>
                </a:solidFill>
                <a:effectLst/>
                <a:latin typeface="MJXc-TeX-math-I"/>
              </a:rPr>
              <a:t>v</a:t>
            </a:r>
            <a:r>
              <a:rPr lang="en-GB" b="0" i="0" u="none" strike="noStrike" dirty="0">
                <a:solidFill>
                  <a:srgbClr val="000000"/>
                </a:solidFill>
                <a:effectLst/>
                <a:latin typeface="Helvetica Neue" panose="02000503000000020004" pitchFamily="2" charset="0"/>
              </a:rPr>
              <a:t>, whose value is initially </a:t>
            </a:r>
            <a:r>
              <a:rPr lang="en-GB" b="0" i="0" u="none" strike="noStrike" dirty="0">
                <a:solidFill>
                  <a:srgbClr val="000000"/>
                </a:solidFill>
                <a:effectLst/>
                <a:latin typeface="MJXc-TeX-math-I"/>
              </a:rPr>
              <a:t>v</a:t>
            </a:r>
            <a:r>
              <a:rPr lang="en-GB" b="0" i="0" u="none" strike="noStrike" dirty="0">
                <a:solidFill>
                  <a:srgbClr val="000000"/>
                </a:solidFill>
                <a:effectLst/>
                <a:latin typeface="MJXc-TeX-main-R"/>
              </a:rPr>
              <a:t>0</a:t>
            </a:r>
          </a:p>
          <a:p>
            <a:pPr marL="0" indent="0">
              <a:buNone/>
            </a:pPr>
            <a:endParaRPr lang="en-GB" dirty="0">
              <a:solidFill>
                <a:srgbClr val="000000"/>
              </a:solidFill>
              <a:latin typeface="Helvetica Neue" panose="02000503000000020004" pitchFamily="2" charset="0"/>
            </a:endParaRPr>
          </a:p>
          <a:p>
            <a:pPr marL="0" indent="0">
              <a:buNone/>
            </a:pPr>
            <a:r>
              <a:rPr lang="en-GB" b="0" i="0" u="none" strike="noStrike" dirty="0">
                <a:solidFill>
                  <a:srgbClr val="000000"/>
                </a:solidFill>
                <a:effectLst/>
                <a:latin typeface="MJXc-TeX-math-I"/>
              </a:rPr>
              <a:t>G</a:t>
            </a:r>
            <a:r>
              <a:rPr lang="en-GB" b="0" i="0" u="none" strike="noStrike" dirty="0">
                <a:solidFill>
                  <a:srgbClr val="000000"/>
                </a:solidFill>
                <a:effectLst/>
                <a:latin typeface="MJXc-TeX-main-R"/>
              </a:rPr>
              <a:t>1</a:t>
            </a:r>
            <a:r>
              <a:rPr lang="en-GB" b="0" i="0" u="none" strike="noStrike" dirty="0">
                <a:solidFill>
                  <a:srgbClr val="000000"/>
                </a:solidFill>
                <a:effectLst/>
                <a:latin typeface="Helvetica Neue" panose="02000503000000020004" pitchFamily="2" charset="0"/>
              </a:rPr>
              <a:t> and </a:t>
            </a:r>
            <a:r>
              <a:rPr lang="en-GB" b="0" i="0" u="none" strike="noStrike" dirty="0">
                <a:solidFill>
                  <a:srgbClr val="000000"/>
                </a:solidFill>
                <a:effectLst/>
                <a:latin typeface="MJXc-TeX-math-I"/>
              </a:rPr>
              <a:t>G</a:t>
            </a:r>
            <a:r>
              <a:rPr lang="en-GB" b="0" i="0" u="none" strike="noStrike" dirty="0">
                <a:solidFill>
                  <a:srgbClr val="000000"/>
                </a:solidFill>
                <a:effectLst/>
                <a:latin typeface="MJXc-TeX-main-R"/>
              </a:rPr>
              <a:t>2</a:t>
            </a:r>
            <a:r>
              <a:rPr lang="en-GB" b="0" i="0" u="none" strike="noStrike" dirty="0">
                <a:solidFill>
                  <a:srgbClr val="000000"/>
                </a:solidFill>
                <a:effectLst/>
                <a:latin typeface="Helvetica Neue" panose="02000503000000020004" pitchFamily="2" charset="0"/>
              </a:rPr>
              <a:t> can communicate with each other and can also communicate with external clients. </a:t>
            </a:r>
            <a:endParaRPr lang="en-US" dirty="0"/>
          </a:p>
        </p:txBody>
      </p:sp>
      <p:pic>
        <p:nvPicPr>
          <p:cNvPr id="6" name="Picture 5">
            <a:extLst>
              <a:ext uri="{FF2B5EF4-FFF2-40B4-BE49-F238E27FC236}">
                <a16:creationId xmlns:a16="http://schemas.microsoft.com/office/drawing/2014/main" id="{0BD92A3F-97CB-A4F2-AD66-991E5050E052}"/>
              </a:ext>
            </a:extLst>
          </p:cNvPr>
          <p:cNvPicPr>
            <a:picLocks noChangeAspect="1"/>
          </p:cNvPicPr>
          <p:nvPr/>
        </p:nvPicPr>
        <p:blipFill>
          <a:blip r:embed="rId2"/>
          <a:stretch>
            <a:fillRect/>
          </a:stretch>
        </p:blipFill>
        <p:spPr>
          <a:xfrm>
            <a:off x="6763950" y="1872514"/>
            <a:ext cx="4584067" cy="3789249"/>
          </a:xfrm>
          <a:prstGeom prst="rect">
            <a:avLst/>
          </a:prstGeom>
        </p:spPr>
      </p:pic>
    </p:spTree>
    <p:extLst>
      <p:ext uri="{BB962C8B-B14F-4D97-AF65-F5344CB8AC3E}">
        <p14:creationId xmlns:p14="http://schemas.microsoft.com/office/powerpoint/2010/main" val="856615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310E-CEEA-FE93-F6EB-53D0DA2D2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D787E-97C1-738B-F818-BF663255965C}"/>
              </a:ext>
            </a:extLst>
          </p:cNvPr>
          <p:cNvSpPr>
            <a:spLocks noGrp="1"/>
          </p:cNvSpPr>
          <p:nvPr>
            <p:ph type="title"/>
          </p:nvPr>
        </p:nvSpPr>
        <p:spPr/>
        <p:txBody>
          <a:bodyPr/>
          <a:lstStyle/>
          <a:p>
            <a:r>
              <a:rPr lang="en-US" dirty="0">
                <a:solidFill>
                  <a:schemeClr val="accent1"/>
                </a:solidFill>
              </a:rPr>
              <a:t>CAP Theorem</a:t>
            </a:r>
          </a:p>
        </p:txBody>
      </p:sp>
      <p:sp>
        <p:nvSpPr>
          <p:cNvPr id="3" name="Content Placeholder 2">
            <a:extLst>
              <a:ext uri="{FF2B5EF4-FFF2-40B4-BE49-F238E27FC236}">
                <a16:creationId xmlns:a16="http://schemas.microsoft.com/office/drawing/2014/main" id="{F1725893-F947-196F-83E8-9D2447A2E1FE}"/>
              </a:ext>
            </a:extLst>
          </p:cNvPr>
          <p:cNvSpPr>
            <a:spLocks noGrp="1"/>
          </p:cNvSpPr>
          <p:nvPr>
            <p:ph idx="1"/>
          </p:nvPr>
        </p:nvSpPr>
        <p:spPr>
          <a:xfrm>
            <a:off x="609599" y="1747255"/>
            <a:ext cx="4584066" cy="4528285"/>
          </a:xfrm>
        </p:spPr>
        <p:txBody>
          <a:bodyPr>
            <a:normAutofit/>
          </a:bodyPr>
          <a:lstStyle/>
          <a:p>
            <a:pPr marL="0" indent="0">
              <a:buNone/>
            </a:pPr>
            <a:r>
              <a:rPr lang="en-GB" sz="2400" b="0" i="0" u="none" strike="noStrike" dirty="0">
                <a:solidFill>
                  <a:srgbClr val="000000"/>
                </a:solidFill>
                <a:effectLst/>
                <a:latin typeface="Helvetica Neue" panose="02000503000000020004" pitchFamily="2" charset="0"/>
              </a:rPr>
              <a:t>A client can request to write and read from any server</a:t>
            </a:r>
          </a:p>
          <a:p>
            <a:pPr marL="0" indent="0">
              <a:buNone/>
            </a:pPr>
            <a:r>
              <a:rPr lang="en-GB" sz="2400" b="0" i="0" u="none" strike="noStrike" dirty="0">
                <a:solidFill>
                  <a:srgbClr val="000000"/>
                </a:solidFill>
                <a:effectLst/>
                <a:latin typeface="Helvetica Neue" panose="02000503000000020004" pitchFamily="2" charset="0"/>
              </a:rPr>
              <a:t>When a server receives a request, it performs any computations it wants and then responds to the client</a:t>
            </a:r>
          </a:p>
          <a:p>
            <a:pPr marL="0" indent="0">
              <a:buNone/>
            </a:pPr>
            <a:r>
              <a:rPr lang="en-GB" sz="2400" b="0" i="0" u="none" strike="noStrike" dirty="0">
                <a:solidFill>
                  <a:srgbClr val="000000"/>
                </a:solidFill>
                <a:effectLst/>
                <a:latin typeface="Helvetica Neue" panose="02000503000000020004" pitchFamily="2" charset="0"/>
              </a:rPr>
              <a:t>For example, here is what a write looks like.</a:t>
            </a:r>
            <a:endParaRPr lang="en-US" sz="2400" dirty="0"/>
          </a:p>
        </p:txBody>
      </p:sp>
      <p:pic>
        <p:nvPicPr>
          <p:cNvPr id="4" name="Picture 3">
            <a:extLst>
              <a:ext uri="{FF2B5EF4-FFF2-40B4-BE49-F238E27FC236}">
                <a16:creationId xmlns:a16="http://schemas.microsoft.com/office/drawing/2014/main" id="{506FDE9C-0F60-68AC-3E71-EAA1EB6B2956}"/>
              </a:ext>
            </a:extLst>
          </p:cNvPr>
          <p:cNvPicPr>
            <a:picLocks noChangeAspect="1"/>
          </p:cNvPicPr>
          <p:nvPr/>
        </p:nvPicPr>
        <p:blipFill>
          <a:blip r:embed="rId2"/>
          <a:stretch>
            <a:fillRect/>
          </a:stretch>
        </p:blipFill>
        <p:spPr>
          <a:xfrm>
            <a:off x="5743966" y="1822105"/>
            <a:ext cx="3175000" cy="2438400"/>
          </a:xfrm>
          <a:prstGeom prst="rect">
            <a:avLst/>
          </a:prstGeom>
        </p:spPr>
      </p:pic>
      <p:pic>
        <p:nvPicPr>
          <p:cNvPr id="5" name="Picture 4">
            <a:extLst>
              <a:ext uri="{FF2B5EF4-FFF2-40B4-BE49-F238E27FC236}">
                <a16:creationId xmlns:a16="http://schemas.microsoft.com/office/drawing/2014/main" id="{4CAA3EF6-2476-A4E1-81FB-BF02279DE834}"/>
              </a:ext>
            </a:extLst>
          </p:cNvPr>
          <p:cNvPicPr>
            <a:picLocks noChangeAspect="1"/>
          </p:cNvPicPr>
          <p:nvPr/>
        </p:nvPicPr>
        <p:blipFill>
          <a:blip r:embed="rId3"/>
          <a:stretch>
            <a:fillRect/>
          </a:stretch>
        </p:blipFill>
        <p:spPr>
          <a:xfrm>
            <a:off x="9100514" y="1782353"/>
            <a:ext cx="2771967" cy="2513250"/>
          </a:xfrm>
          <a:prstGeom prst="rect">
            <a:avLst/>
          </a:prstGeom>
        </p:spPr>
      </p:pic>
      <p:pic>
        <p:nvPicPr>
          <p:cNvPr id="7" name="Picture 6">
            <a:extLst>
              <a:ext uri="{FF2B5EF4-FFF2-40B4-BE49-F238E27FC236}">
                <a16:creationId xmlns:a16="http://schemas.microsoft.com/office/drawing/2014/main" id="{50756BF5-5EFB-C9EF-D445-2BFA97FB3CC2}"/>
              </a:ext>
            </a:extLst>
          </p:cNvPr>
          <p:cNvPicPr>
            <a:picLocks noChangeAspect="1"/>
          </p:cNvPicPr>
          <p:nvPr/>
        </p:nvPicPr>
        <p:blipFill>
          <a:blip r:embed="rId4"/>
          <a:stretch>
            <a:fillRect/>
          </a:stretch>
        </p:blipFill>
        <p:spPr>
          <a:xfrm>
            <a:off x="7552798" y="4330700"/>
            <a:ext cx="2933700" cy="2527300"/>
          </a:xfrm>
          <a:prstGeom prst="rect">
            <a:avLst/>
          </a:prstGeom>
        </p:spPr>
      </p:pic>
    </p:spTree>
    <p:extLst>
      <p:ext uri="{BB962C8B-B14F-4D97-AF65-F5344CB8AC3E}">
        <p14:creationId xmlns:p14="http://schemas.microsoft.com/office/powerpoint/2010/main" val="815480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772DB-D09A-343D-CA16-E055B81FB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A48BB-08DA-18D1-3889-4DD39387C3F0}"/>
              </a:ext>
            </a:extLst>
          </p:cNvPr>
          <p:cNvSpPr>
            <a:spLocks noGrp="1"/>
          </p:cNvSpPr>
          <p:nvPr>
            <p:ph type="title"/>
          </p:nvPr>
        </p:nvSpPr>
        <p:spPr/>
        <p:txBody>
          <a:bodyPr/>
          <a:lstStyle/>
          <a:p>
            <a:r>
              <a:rPr lang="en-US" dirty="0">
                <a:solidFill>
                  <a:schemeClr val="accent1"/>
                </a:solidFill>
              </a:rPr>
              <a:t>CAP Theorem</a:t>
            </a:r>
          </a:p>
        </p:txBody>
      </p:sp>
      <p:sp>
        <p:nvSpPr>
          <p:cNvPr id="3" name="Content Placeholder 2">
            <a:extLst>
              <a:ext uri="{FF2B5EF4-FFF2-40B4-BE49-F238E27FC236}">
                <a16:creationId xmlns:a16="http://schemas.microsoft.com/office/drawing/2014/main" id="{DCB39571-C43A-03CF-C9E3-AE6C81EA5F07}"/>
              </a:ext>
            </a:extLst>
          </p:cNvPr>
          <p:cNvSpPr>
            <a:spLocks noGrp="1"/>
          </p:cNvSpPr>
          <p:nvPr>
            <p:ph idx="1"/>
          </p:nvPr>
        </p:nvSpPr>
        <p:spPr>
          <a:xfrm>
            <a:off x="609599" y="1747255"/>
            <a:ext cx="4584066" cy="4528285"/>
          </a:xfrm>
        </p:spPr>
        <p:txBody>
          <a:bodyPr>
            <a:normAutofit/>
          </a:bodyPr>
          <a:lstStyle/>
          <a:p>
            <a:pPr marL="0" indent="0">
              <a:buNone/>
            </a:pPr>
            <a:r>
              <a:rPr lang="en-GB" sz="2400" dirty="0">
                <a:solidFill>
                  <a:srgbClr val="000000"/>
                </a:solidFill>
                <a:latin typeface="Helvetica Neue" panose="02000503000000020004" pitchFamily="2" charset="0"/>
              </a:rPr>
              <a:t>H</a:t>
            </a:r>
            <a:r>
              <a:rPr lang="en-GB" sz="2400" b="0" i="0" u="none" strike="noStrike" dirty="0">
                <a:solidFill>
                  <a:srgbClr val="000000"/>
                </a:solidFill>
                <a:effectLst/>
                <a:latin typeface="Helvetica Neue" panose="02000503000000020004" pitchFamily="2" charset="0"/>
              </a:rPr>
              <a:t>ere is what a write looks like.</a:t>
            </a:r>
            <a:endParaRPr lang="en-US" sz="2400" dirty="0"/>
          </a:p>
        </p:txBody>
      </p:sp>
      <p:pic>
        <p:nvPicPr>
          <p:cNvPr id="6" name="Picture 5">
            <a:extLst>
              <a:ext uri="{FF2B5EF4-FFF2-40B4-BE49-F238E27FC236}">
                <a16:creationId xmlns:a16="http://schemas.microsoft.com/office/drawing/2014/main" id="{C9B9BE82-FB6F-2DD3-1369-5F27FE0C329B}"/>
              </a:ext>
            </a:extLst>
          </p:cNvPr>
          <p:cNvPicPr>
            <a:picLocks noChangeAspect="1"/>
          </p:cNvPicPr>
          <p:nvPr/>
        </p:nvPicPr>
        <p:blipFill>
          <a:blip r:embed="rId2"/>
          <a:stretch>
            <a:fillRect/>
          </a:stretch>
        </p:blipFill>
        <p:spPr>
          <a:xfrm>
            <a:off x="6096000" y="1870727"/>
            <a:ext cx="5816600" cy="2565400"/>
          </a:xfrm>
          <a:prstGeom prst="rect">
            <a:avLst/>
          </a:prstGeom>
        </p:spPr>
      </p:pic>
    </p:spTree>
    <p:extLst>
      <p:ext uri="{BB962C8B-B14F-4D97-AF65-F5344CB8AC3E}">
        <p14:creationId xmlns:p14="http://schemas.microsoft.com/office/powerpoint/2010/main" val="990031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EB1F-C973-96DD-12CB-3F468CE51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46B87-51CD-AE8B-3E3F-FF387731422C}"/>
              </a:ext>
            </a:extLst>
          </p:cNvPr>
          <p:cNvSpPr>
            <a:spLocks noGrp="1"/>
          </p:cNvSpPr>
          <p:nvPr>
            <p:ph type="title"/>
          </p:nvPr>
        </p:nvSpPr>
        <p:spPr/>
        <p:txBody>
          <a:bodyPr/>
          <a:lstStyle/>
          <a:p>
            <a:r>
              <a:rPr lang="en-US" dirty="0">
                <a:solidFill>
                  <a:schemeClr val="accent1"/>
                </a:solidFill>
              </a:rPr>
              <a:t>CAP Theorem</a:t>
            </a:r>
          </a:p>
        </p:txBody>
      </p:sp>
      <p:sp>
        <p:nvSpPr>
          <p:cNvPr id="3" name="Content Placeholder 2">
            <a:extLst>
              <a:ext uri="{FF2B5EF4-FFF2-40B4-BE49-F238E27FC236}">
                <a16:creationId xmlns:a16="http://schemas.microsoft.com/office/drawing/2014/main" id="{C128FBEB-F98B-F5DC-340A-B646ECBCBB20}"/>
              </a:ext>
            </a:extLst>
          </p:cNvPr>
          <p:cNvSpPr>
            <a:spLocks noGrp="1"/>
          </p:cNvSpPr>
          <p:nvPr>
            <p:ph idx="1"/>
          </p:nvPr>
        </p:nvSpPr>
        <p:spPr>
          <a:xfrm>
            <a:off x="609600" y="1108984"/>
            <a:ext cx="11290127" cy="1375666"/>
          </a:xfrm>
        </p:spPr>
        <p:txBody>
          <a:bodyPr>
            <a:normAutofit/>
          </a:bodyPr>
          <a:lstStyle/>
          <a:p>
            <a:pPr marL="0" indent="0">
              <a:buNone/>
            </a:pPr>
            <a:r>
              <a:rPr lang="en-GB" sz="2800" b="1" i="0" u="none" strike="noStrike" dirty="0">
                <a:solidFill>
                  <a:srgbClr val="000000"/>
                </a:solidFill>
                <a:effectLst/>
                <a:latin typeface="Helvetica Neue" panose="02000503000000020004" pitchFamily="2" charset="0"/>
              </a:rPr>
              <a:t>Consistency</a:t>
            </a:r>
          </a:p>
          <a:p>
            <a:pPr marL="0" indent="0">
              <a:buNone/>
            </a:pPr>
            <a:r>
              <a:rPr lang="en-GB" sz="2400" dirty="0">
                <a:solidFill>
                  <a:srgbClr val="000000"/>
                </a:solidFill>
                <a:latin typeface="Helvetica Neue" panose="02000503000000020004" pitchFamily="2" charset="0"/>
              </a:rPr>
              <a:t>Any read operation that begins after a write operation completes must return that value, or the result of a later write operation</a:t>
            </a:r>
            <a:endParaRPr lang="en-US" sz="2400" dirty="0">
              <a:solidFill>
                <a:srgbClr val="000000"/>
              </a:solidFill>
              <a:latin typeface="Helvetica Neue" panose="02000503000000020004" pitchFamily="2" charset="0"/>
            </a:endParaRPr>
          </a:p>
        </p:txBody>
      </p:sp>
      <p:pic>
        <p:nvPicPr>
          <p:cNvPr id="6" name="Picture 5">
            <a:extLst>
              <a:ext uri="{FF2B5EF4-FFF2-40B4-BE49-F238E27FC236}">
                <a16:creationId xmlns:a16="http://schemas.microsoft.com/office/drawing/2014/main" id="{8C177FBA-5DB8-3D50-5A2C-2093D5AE804D}"/>
              </a:ext>
            </a:extLst>
          </p:cNvPr>
          <p:cNvPicPr>
            <a:picLocks noChangeAspect="1"/>
          </p:cNvPicPr>
          <p:nvPr/>
        </p:nvPicPr>
        <p:blipFill>
          <a:blip r:embed="rId2"/>
          <a:stretch>
            <a:fillRect/>
          </a:stretch>
        </p:blipFill>
        <p:spPr>
          <a:xfrm>
            <a:off x="1027906" y="2484650"/>
            <a:ext cx="10136187" cy="2263636"/>
          </a:xfrm>
          <a:prstGeom prst="rect">
            <a:avLst/>
          </a:prstGeom>
        </p:spPr>
      </p:pic>
      <p:pic>
        <p:nvPicPr>
          <p:cNvPr id="8" name="Picture 7">
            <a:extLst>
              <a:ext uri="{FF2B5EF4-FFF2-40B4-BE49-F238E27FC236}">
                <a16:creationId xmlns:a16="http://schemas.microsoft.com/office/drawing/2014/main" id="{A8B90CAB-4259-5652-338C-817F86B15161}"/>
              </a:ext>
            </a:extLst>
          </p:cNvPr>
          <p:cNvPicPr>
            <a:picLocks noChangeAspect="1"/>
          </p:cNvPicPr>
          <p:nvPr/>
        </p:nvPicPr>
        <p:blipFill>
          <a:blip r:embed="rId3"/>
          <a:stretch>
            <a:fillRect/>
          </a:stretch>
        </p:blipFill>
        <p:spPr>
          <a:xfrm>
            <a:off x="4884841" y="4777042"/>
            <a:ext cx="2422318" cy="2067323"/>
          </a:xfrm>
          <a:prstGeom prst="rect">
            <a:avLst/>
          </a:prstGeom>
        </p:spPr>
      </p:pic>
      <p:sp>
        <p:nvSpPr>
          <p:cNvPr id="9" name="TextBox 8">
            <a:extLst>
              <a:ext uri="{FF2B5EF4-FFF2-40B4-BE49-F238E27FC236}">
                <a16:creationId xmlns:a16="http://schemas.microsoft.com/office/drawing/2014/main" id="{3E3B2035-B1CB-14F9-D156-FAA06F309EFE}"/>
              </a:ext>
            </a:extLst>
          </p:cNvPr>
          <p:cNvSpPr txBox="1"/>
          <p:nvPr/>
        </p:nvSpPr>
        <p:spPr>
          <a:xfrm>
            <a:off x="8542751" y="5285984"/>
            <a:ext cx="3039649" cy="461665"/>
          </a:xfrm>
          <a:prstGeom prst="rect">
            <a:avLst/>
          </a:prstGeom>
          <a:noFill/>
        </p:spPr>
        <p:txBody>
          <a:bodyPr wrap="square" rtlCol="0">
            <a:spAutoFit/>
          </a:bodyPr>
          <a:lstStyle/>
          <a:p>
            <a:r>
              <a:rPr lang="en-ES" sz="2400" b="1" dirty="0">
                <a:solidFill>
                  <a:srgbClr val="FF0000"/>
                </a:solidFill>
              </a:rPr>
              <a:t>Inconsistency example</a:t>
            </a:r>
          </a:p>
        </p:txBody>
      </p:sp>
    </p:spTree>
    <p:extLst>
      <p:ext uri="{BB962C8B-B14F-4D97-AF65-F5344CB8AC3E}">
        <p14:creationId xmlns:p14="http://schemas.microsoft.com/office/powerpoint/2010/main" val="82494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BCACC-3E91-89B1-A81F-EB6D0349D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AEBB9-54C5-73CF-4284-8B1F705B7FDA}"/>
              </a:ext>
            </a:extLst>
          </p:cNvPr>
          <p:cNvSpPr>
            <a:spLocks noGrp="1"/>
          </p:cNvSpPr>
          <p:nvPr>
            <p:ph type="title"/>
          </p:nvPr>
        </p:nvSpPr>
        <p:spPr/>
        <p:txBody>
          <a:bodyPr/>
          <a:lstStyle/>
          <a:p>
            <a:r>
              <a:rPr lang="en-US">
                <a:solidFill>
                  <a:schemeClr val="accent1"/>
                </a:solidFill>
              </a:rPr>
              <a:t>CAP Theorem</a:t>
            </a:r>
          </a:p>
        </p:txBody>
      </p:sp>
      <p:sp>
        <p:nvSpPr>
          <p:cNvPr id="3" name="Content Placeholder 2">
            <a:extLst>
              <a:ext uri="{FF2B5EF4-FFF2-40B4-BE49-F238E27FC236}">
                <a16:creationId xmlns:a16="http://schemas.microsoft.com/office/drawing/2014/main" id="{F7877D0B-0AEE-212C-07E1-E6CEA0EF7644}"/>
              </a:ext>
            </a:extLst>
          </p:cNvPr>
          <p:cNvSpPr>
            <a:spLocks noGrp="1"/>
          </p:cNvSpPr>
          <p:nvPr>
            <p:ph idx="1"/>
          </p:nvPr>
        </p:nvSpPr>
        <p:spPr>
          <a:xfrm>
            <a:off x="195943" y="1239612"/>
            <a:ext cx="11290127" cy="1707086"/>
          </a:xfrm>
        </p:spPr>
        <p:txBody>
          <a:bodyPr>
            <a:normAutofit fontScale="55000" lnSpcReduction="20000"/>
          </a:bodyPr>
          <a:lstStyle/>
          <a:p>
            <a:pPr marL="0" indent="0">
              <a:spcAft>
                <a:spcPts val="24"/>
              </a:spcAft>
              <a:buNone/>
            </a:pPr>
            <a:r>
              <a:rPr lang="en-GB" sz="5100" b="1">
                <a:solidFill>
                  <a:srgbClr val="000000"/>
                </a:solidFill>
                <a:latin typeface="Helvetica Neue" panose="02000503000000020004" pitchFamily="2" charset="0"/>
              </a:rPr>
              <a:t>Availability</a:t>
            </a:r>
          </a:p>
          <a:p>
            <a:pPr marL="0" indent="0">
              <a:lnSpc>
                <a:spcPct val="120000"/>
              </a:lnSpc>
              <a:spcAft>
                <a:spcPts val="24"/>
              </a:spcAft>
              <a:buNone/>
            </a:pPr>
            <a:r>
              <a:rPr lang="en-GB" sz="3600">
                <a:solidFill>
                  <a:srgbClr val="000000"/>
                </a:solidFill>
                <a:latin typeface="Helvetica Neue" panose="02000503000000020004" pitchFamily="2" charset="0"/>
              </a:rPr>
              <a:t>Every request received by a non-failing node in the system must result in a response</a:t>
            </a:r>
          </a:p>
          <a:p>
            <a:pPr marL="0" indent="0">
              <a:lnSpc>
                <a:spcPct val="120000"/>
              </a:lnSpc>
              <a:spcAft>
                <a:spcPts val="24"/>
              </a:spcAft>
              <a:buNone/>
            </a:pPr>
            <a:r>
              <a:rPr lang="en-GB" sz="3600">
                <a:solidFill>
                  <a:srgbClr val="000000"/>
                </a:solidFill>
                <a:latin typeface="Helvetica Neue" panose="02000503000000020004" pitchFamily="2" charset="0"/>
              </a:rPr>
              <a:t>If our client sends a request to a server and the server has not crashed, then the server must eventually respond to the client. The server is not allowed to ignore the client's requests</a:t>
            </a:r>
          </a:p>
        </p:txBody>
      </p:sp>
      <p:sp>
        <p:nvSpPr>
          <p:cNvPr id="4" name="Content Placeholder 2">
            <a:extLst>
              <a:ext uri="{FF2B5EF4-FFF2-40B4-BE49-F238E27FC236}">
                <a16:creationId xmlns:a16="http://schemas.microsoft.com/office/drawing/2014/main" id="{683B622E-2C87-2050-839E-078840180CC6}"/>
              </a:ext>
            </a:extLst>
          </p:cNvPr>
          <p:cNvSpPr txBox="1">
            <a:spLocks/>
          </p:cNvSpPr>
          <p:nvPr/>
        </p:nvSpPr>
        <p:spPr>
          <a:xfrm>
            <a:off x="195942" y="2946698"/>
            <a:ext cx="11290127" cy="19574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Light"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Light" pitchFamily="34"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Light" pitchFamily="3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Light" pitchFamily="34"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Light"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24"/>
              </a:spcAft>
              <a:buNone/>
            </a:pPr>
            <a:r>
              <a:rPr lang="en-GB" sz="2800" b="1">
                <a:solidFill>
                  <a:srgbClr val="000000"/>
                </a:solidFill>
                <a:latin typeface="Helvetica Neue" panose="02000503000000020004" pitchFamily="2" charset="0"/>
              </a:rPr>
              <a:t>Partition Tolerance</a:t>
            </a:r>
          </a:p>
          <a:p>
            <a:pPr marL="0" indent="0">
              <a:lnSpc>
                <a:spcPct val="120000"/>
              </a:lnSpc>
              <a:spcAft>
                <a:spcPts val="24"/>
              </a:spcAft>
              <a:buNone/>
            </a:pPr>
            <a:r>
              <a:rPr lang="en-GB" sz="2000">
                <a:solidFill>
                  <a:srgbClr val="000000"/>
                </a:solidFill>
                <a:latin typeface="Helvetica Neue" panose="02000503000000020004" pitchFamily="2" charset="0"/>
              </a:rPr>
              <a:t>The network will be allowed to lose arbitrarily many messages sent from one node to another. This means that any messages G1 and G2 send to one another can be dropped.</a:t>
            </a:r>
          </a:p>
        </p:txBody>
      </p:sp>
      <p:pic>
        <p:nvPicPr>
          <p:cNvPr id="5" name="Picture 4">
            <a:extLst>
              <a:ext uri="{FF2B5EF4-FFF2-40B4-BE49-F238E27FC236}">
                <a16:creationId xmlns:a16="http://schemas.microsoft.com/office/drawing/2014/main" id="{1464CA8E-C0B3-EBF8-20C9-C61EB1908D41}"/>
              </a:ext>
            </a:extLst>
          </p:cNvPr>
          <p:cNvPicPr>
            <a:picLocks noChangeAspect="1"/>
          </p:cNvPicPr>
          <p:nvPr/>
        </p:nvPicPr>
        <p:blipFill>
          <a:blip r:embed="rId2"/>
          <a:stretch>
            <a:fillRect/>
          </a:stretch>
        </p:blipFill>
        <p:spPr>
          <a:xfrm>
            <a:off x="4217045" y="4475758"/>
            <a:ext cx="2654822" cy="2254311"/>
          </a:xfrm>
          <a:prstGeom prst="rect">
            <a:avLst/>
          </a:prstGeom>
        </p:spPr>
      </p:pic>
    </p:spTree>
    <p:extLst>
      <p:ext uri="{BB962C8B-B14F-4D97-AF65-F5344CB8AC3E}">
        <p14:creationId xmlns:p14="http://schemas.microsoft.com/office/powerpoint/2010/main" val="3710052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9C6BC-F9EA-BD20-8D75-0677BAE4D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91943-6BB6-5117-93E8-3207F7286F3C}"/>
              </a:ext>
            </a:extLst>
          </p:cNvPr>
          <p:cNvSpPr>
            <a:spLocks noGrp="1"/>
          </p:cNvSpPr>
          <p:nvPr>
            <p:ph type="title"/>
          </p:nvPr>
        </p:nvSpPr>
        <p:spPr/>
        <p:txBody>
          <a:bodyPr/>
          <a:lstStyle/>
          <a:p>
            <a:r>
              <a:rPr lang="en-US" dirty="0">
                <a:solidFill>
                  <a:schemeClr val="accent1"/>
                </a:solidFill>
              </a:rPr>
              <a:t>CAP Theorem</a:t>
            </a:r>
          </a:p>
        </p:txBody>
      </p:sp>
      <p:sp>
        <p:nvSpPr>
          <p:cNvPr id="3" name="Content Placeholder 2">
            <a:extLst>
              <a:ext uri="{FF2B5EF4-FFF2-40B4-BE49-F238E27FC236}">
                <a16:creationId xmlns:a16="http://schemas.microsoft.com/office/drawing/2014/main" id="{AA2ABB50-FE70-2D93-DD89-F784AE3E14D4}"/>
              </a:ext>
            </a:extLst>
          </p:cNvPr>
          <p:cNvSpPr>
            <a:spLocks noGrp="1"/>
          </p:cNvSpPr>
          <p:nvPr>
            <p:ph idx="1"/>
          </p:nvPr>
        </p:nvSpPr>
        <p:spPr>
          <a:xfrm>
            <a:off x="609600" y="1108984"/>
            <a:ext cx="11290127" cy="1375666"/>
          </a:xfrm>
        </p:spPr>
        <p:txBody>
          <a:bodyPr>
            <a:normAutofit fontScale="92500"/>
          </a:bodyPr>
          <a:lstStyle/>
          <a:p>
            <a:pPr marL="0" indent="0">
              <a:buNone/>
            </a:pPr>
            <a:r>
              <a:rPr lang="en-GB" sz="2800" b="1" i="0" u="none" strike="noStrike" dirty="0">
                <a:solidFill>
                  <a:srgbClr val="000000"/>
                </a:solidFill>
                <a:effectLst/>
                <a:latin typeface="Helvetica Neue" panose="02000503000000020004" pitchFamily="2" charset="0"/>
              </a:rPr>
              <a:t>Consistency</a:t>
            </a:r>
          </a:p>
          <a:p>
            <a:pPr marL="0" indent="0">
              <a:buNone/>
            </a:pPr>
            <a:r>
              <a:rPr lang="en-GB" sz="2400" dirty="0">
                <a:solidFill>
                  <a:srgbClr val="000000"/>
                </a:solidFill>
                <a:latin typeface="Helvetica Neue" panose="02000503000000020004" pitchFamily="2" charset="0"/>
              </a:rPr>
              <a:t>In this system, G1 replicates its value to G2 before sending an acknowledgement to the client. Thus, when the client reads from G2, it gets the most up to date value of v: v1.</a:t>
            </a:r>
            <a:endParaRPr lang="en-US" sz="2400" dirty="0">
              <a:solidFill>
                <a:srgbClr val="000000"/>
              </a:solidFill>
              <a:latin typeface="Helvetica Neue" panose="02000503000000020004" pitchFamily="2" charset="0"/>
            </a:endParaRPr>
          </a:p>
        </p:txBody>
      </p:sp>
      <p:pic>
        <p:nvPicPr>
          <p:cNvPr id="4" name="Picture 3">
            <a:extLst>
              <a:ext uri="{FF2B5EF4-FFF2-40B4-BE49-F238E27FC236}">
                <a16:creationId xmlns:a16="http://schemas.microsoft.com/office/drawing/2014/main" id="{573CBD92-8A92-7099-D9CA-8886F179B5FB}"/>
              </a:ext>
            </a:extLst>
          </p:cNvPr>
          <p:cNvPicPr>
            <a:picLocks noChangeAspect="1"/>
          </p:cNvPicPr>
          <p:nvPr/>
        </p:nvPicPr>
        <p:blipFill>
          <a:blip r:embed="rId2"/>
          <a:stretch>
            <a:fillRect/>
          </a:stretch>
        </p:blipFill>
        <p:spPr>
          <a:xfrm>
            <a:off x="1574838" y="2484650"/>
            <a:ext cx="9510696" cy="2122647"/>
          </a:xfrm>
          <a:prstGeom prst="rect">
            <a:avLst/>
          </a:prstGeom>
        </p:spPr>
      </p:pic>
      <p:pic>
        <p:nvPicPr>
          <p:cNvPr id="5" name="Picture 4">
            <a:extLst>
              <a:ext uri="{FF2B5EF4-FFF2-40B4-BE49-F238E27FC236}">
                <a16:creationId xmlns:a16="http://schemas.microsoft.com/office/drawing/2014/main" id="{3D69A655-FEEF-CF4A-B0C9-600C8D2891BE}"/>
              </a:ext>
            </a:extLst>
          </p:cNvPr>
          <p:cNvPicPr>
            <a:picLocks noChangeAspect="1"/>
          </p:cNvPicPr>
          <p:nvPr/>
        </p:nvPicPr>
        <p:blipFill>
          <a:blip r:embed="rId3"/>
          <a:stretch>
            <a:fillRect/>
          </a:stretch>
        </p:blipFill>
        <p:spPr>
          <a:xfrm>
            <a:off x="1574838" y="4687449"/>
            <a:ext cx="9510696" cy="2042494"/>
          </a:xfrm>
          <a:prstGeom prst="rect">
            <a:avLst/>
          </a:prstGeom>
        </p:spPr>
      </p:pic>
    </p:spTree>
    <p:extLst>
      <p:ext uri="{BB962C8B-B14F-4D97-AF65-F5344CB8AC3E}">
        <p14:creationId xmlns:p14="http://schemas.microsoft.com/office/powerpoint/2010/main" val="12017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6EFFF-90B2-03CB-FB9A-C623C50B5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2FCFB-FE84-01B5-D5E1-F35EB921458C}"/>
              </a:ext>
            </a:extLst>
          </p:cNvPr>
          <p:cNvSpPr>
            <a:spLocks noGrp="1"/>
          </p:cNvSpPr>
          <p:nvPr>
            <p:ph type="title"/>
          </p:nvPr>
        </p:nvSpPr>
        <p:spPr/>
        <p:txBody>
          <a:bodyPr/>
          <a:lstStyle/>
          <a:p>
            <a:r>
              <a:rPr lang="en-US" dirty="0">
                <a:solidFill>
                  <a:schemeClr val="accent1"/>
                </a:solidFill>
              </a:rPr>
              <a:t>CAP Theorem: Proof</a:t>
            </a:r>
          </a:p>
        </p:txBody>
      </p:sp>
      <p:sp>
        <p:nvSpPr>
          <p:cNvPr id="3" name="Content Placeholder 2">
            <a:extLst>
              <a:ext uri="{FF2B5EF4-FFF2-40B4-BE49-F238E27FC236}">
                <a16:creationId xmlns:a16="http://schemas.microsoft.com/office/drawing/2014/main" id="{F7D57798-C45D-76D0-34C5-F8620D5722B5}"/>
              </a:ext>
            </a:extLst>
          </p:cNvPr>
          <p:cNvSpPr>
            <a:spLocks noGrp="1"/>
          </p:cNvSpPr>
          <p:nvPr>
            <p:ph idx="1"/>
          </p:nvPr>
        </p:nvSpPr>
        <p:spPr>
          <a:xfrm>
            <a:off x="609599" y="1283546"/>
            <a:ext cx="11290127" cy="1375666"/>
          </a:xfrm>
        </p:spPr>
        <p:txBody>
          <a:bodyPr>
            <a:normAutofit/>
          </a:bodyPr>
          <a:lstStyle/>
          <a:p>
            <a:pPr marL="0" indent="0">
              <a:buNone/>
            </a:pPr>
            <a:r>
              <a:rPr lang="en-GB" sz="2400" dirty="0">
                <a:solidFill>
                  <a:srgbClr val="000000"/>
                </a:solidFill>
                <a:latin typeface="Helvetica Neue" panose="02000503000000020004" pitchFamily="2" charset="0"/>
              </a:rPr>
              <a:t>Assume for contradiction that there does exist a system that is consistent, available, and partition tolerant. The first thing we do is partition our system. It looks like this.</a:t>
            </a:r>
            <a:endParaRPr lang="en-US" sz="2400" dirty="0">
              <a:solidFill>
                <a:srgbClr val="000000"/>
              </a:solidFill>
              <a:latin typeface="Helvetica Neue" panose="02000503000000020004" pitchFamily="2" charset="0"/>
            </a:endParaRPr>
          </a:p>
        </p:txBody>
      </p:sp>
      <p:pic>
        <p:nvPicPr>
          <p:cNvPr id="7" name="Picture 6">
            <a:extLst>
              <a:ext uri="{FF2B5EF4-FFF2-40B4-BE49-F238E27FC236}">
                <a16:creationId xmlns:a16="http://schemas.microsoft.com/office/drawing/2014/main" id="{A45CFC0F-1483-82C4-1A02-A9AAF4BD5968}"/>
              </a:ext>
            </a:extLst>
          </p:cNvPr>
          <p:cNvPicPr>
            <a:picLocks noChangeAspect="1"/>
          </p:cNvPicPr>
          <p:nvPr/>
        </p:nvPicPr>
        <p:blipFill>
          <a:blip r:embed="rId2"/>
          <a:stretch>
            <a:fillRect/>
          </a:stretch>
        </p:blipFill>
        <p:spPr>
          <a:xfrm>
            <a:off x="4247018" y="3071633"/>
            <a:ext cx="2654822" cy="2254311"/>
          </a:xfrm>
          <a:prstGeom prst="rect">
            <a:avLst/>
          </a:prstGeom>
        </p:spPr>
      </p:pic>
    </p:spTree>
    <p:extLst>
      <p:ext uri="{BB962C8B-B14F-4D97-AF65-F5344CB8AC3E}">
        <p14:creationId xmlns:p14="http://schemas.microsoft.com/office/powerpoint/2010/main" val="581535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2EF48-926C-F342-FCD9-46EB35BC5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9EA68-06F8-3F0E-1EF8-78BB738A9AC5}"/>
              </a:ext>
            </a:extLst>
          </p:cNvPr>
          <p:cNvSpPr>
            <a:spLocks noGrp="1"/>
          </p:cNvSpPr>
          <p:nvPr>
            <p:ph type="title"/>
          </p:nvPr>
        </p:nvSpPr>
        <p:spPr/>
        <p:txBody>
          <a:bodyPr/>
          <a:lstStyle/>
          <a:p>
            <a:r>
              <a:rPr lang="en-US" dirty="0">
                <a:solidFill>
                  <a:schemeClr val="accent1"/>
                </a:solidFill>
              </a:rPr>
              <a:t>CAP Theorem: Proof</a:t>
            </a:r>
          </a:p>
        </p:txBody>
      </p:sp>
      <p:pic>
        <p:nvPicPr>
          <p:cNvPr id="5" name="Picture 4">
            <a:extLst>
              <a:ext uri="{FF2B5EF4-FFF2-40B4-BE49-F238E27FC236}">
                <a16:creationId xmlns:a16="http://schemas.microsoft.com/office/drawing/2014/main" id="{665B30F7-9846-501B-A354-DB55F89B7C2C}"/>
              </a:ext>
            </a:extLst>
          </p:cNvPr>
          <p:cNvPicPr>
            <a:picLocks noChangeAspect="1"/>
          </p:cNvPicPr>
          <p:nvPr/>
        </p:nvPicPr>
        <p:blipFill>
          <a:blip r:embed="rId2"/>
          <a:stretch>
            <a:fillRect/>
          </a:stretch>
        </p:blipFill>
        <p:spPr>
          <a:xfrm>
            <a:off x="1613034" y="3030983"/>
            <a:ext cx="8965931" cy="2618255"/>
          </a:xfrm>
          <a:prstGeom prst="rect">
            <a:avLst/>
          </a:prstGeom>
        </p:spPr>
      </p:pic>
      <p:sp>
        <p:nvSpPr>
          <p:cNvPr id="8" name="Content Placeholder 7">
            <a:extLst>
              <a:ext uri="{FF2B5EF4-FFF2-40B4-BE49-F238E27FC236}">
                <a16:creationId xmlns:a16="http://schemas.microsoft.com/office/drawing/2014/main" id="{361058EE-5B62-0D8B-2F8E-EC3FF35D0D0C}"/>
              </a:ext>
            </a:extLst>
          </p:cNvPr>
          <p:cNvSpPr>
            <a:spLocks noGrp="1"/>
          </p:cNvSpPr>
          <p:nvPr>
            <p:ph idx="1"/>
          </p:nvPr>
        </p:nvSpPr>
        <p:spPr>
          <a:xfrm>
            <a:off x="609600" y="1600202"/>
            <a:ext cx="10972800" cy="2370550"/>
          </a:xfrm>
        </p:spPr>
        <p:txBody>
          <a:bodyPr>
            <a:normAutofit/>
          </a:bodyPr>
          <a:lstStyle/>
          <a:p>
            <a:pPr marL="0" indent="0" algn="l">
              <a:buNone/>
            </a:pPr>
            <a:r>
              <a:rPr lang="en-GB" sz="2400" b="0" i="0" u="none" strike="noStrike" dirty="0">
                <a:solidFill>
                  <a:srgbClr val="000000"/>
                </a:solidFill>
                <a:effectLst/>
                <a:latin typeface="Helvetica Neue" panose="02000503000000020004" pitchFamily="2" charset="0"/>
              </a:rPr>
              <a:t>Next, we have our client request that </a:t>
            </a:r>
            <a:r>
              <a:rPr lang="en-GB" sz="2400" b="0" i="0" u="none" strike="noStrike" dirty="0">
                <a:solidFill>
                  <a:srgbClr val="000000"/>
                </a:solidFill>
                <a:effectLst/>
                <a:latin typeface="MJXc-TeX-math-I"/>
              </a:rPr>
              <a:t>v</a:t>
            </a:r>
            <a:r>
              <a:rPr lang="en-GB" sz="2400" b="0" i="0" u="none" strike="noStrike" dirty="0">
                <a:solidFill>
                  <a:srgbClr val="000000"/>
                </a:solidFill>
                <a:effectLst/>
                <a:latin typeface="MJXc-TeX-main-R"/>
              </a:rPr>
              <a:t>1</a:t>
            </a:r>
            <a:r>
              <a:rPr lang="en-GB" sz="2400" b="0" i="0" u="none" strike="noStrike" dirty="0">
                <a:solidFill>
                  <a:srgbClr val="000000"/>
                </a:solidFill>
                <a:effectLst/>
                <a:latin typeface="Helvetica Neue" panose="02000503000000020004" pitchFamily="2" charset="0"/>
              </a:rPr>
              <a:t> be written to </a:t>
            </a:r>
            <a:r>
              <a:rPr lang="en-GB" sz="2400" b="0" i="0" u="none" strike="noStrike" dirty="0">
                <a:solidFill>
                  <a:srgbClr val="000000"/>
                </a:solidFill>
                <a:effectLst/>
                <a:latin typeface="MJXc-TeX-math-I"/>
              </a:rPr>
              <a:t>G</a:t>
            </a:r>
            <a:r>
              <a:rPr lang="en-GB" sz="2400" b="0" i="0" u="none" strike="noStrike" dirty="0">
                <a:solidFill>
                  <a:srgbClr val="000000"/>
                </a:solidFill>
                <a:effectLst/>
                <a:latin typeface="MJXc-TeX-main-R"/>
              </a:rPr>
              <a:t>1</a:t>
            </a:r>
            <a:r>
              <a:rPr lang="en-GB" sz="2400" b="0" i="0" u="none" strike="noStrike" dirty="0">
                <a:solidFill>
                  <a:srgbClr val="000000"/>
                </a:solidFill>
                <a:effectLst/>
                <a:latin typeface="Helvetica Neue" panose="02000503000000020004" pitchFamily="2" charset="0"/>
              </a:rPr>
              <a:t>. Since our system is available, </a:t>
            </a:r>
            <a:r>
              <a:rPr lang="en-GB" sz="2400" b="0" i="0" u="none" strike="noStrike" dirty="0">
                <a:solidFill>
                  <a:srgbClr val="000000"/>
                </a:solidFill>
                <a:effectLst/>
                <a:latin typeface="MJXc-TeX-math-I"/>
              </a:rPr>
              <a:t>G</a:t>
            </a:r>
            <a:r>
              <a:rPr lang="en-GB" sz="2400" b="0" i="0" u="none" strike="noStrike" dirty="0">
                <a:solidFill>
                  <a:srgbClr val="000000"/>
                </a:solidFill>
                <a:effectLst/>
                <a:latin typeface="MJXc-TeX-main-R"/>
              </a:rPr>
              <a:t>1</a:t>
            </a:r>
            <a:r>
              <a:rPr lang="en-GB" sz="2400" b="0" i="0" u="none" strike="noStrike" dirty="0">
                <a:solidFill>
                  <a:srgbClr val="000000"/>
                </a:solidFill>
                <a:effectLst/>
                <a:latin typeface="Helvetica Neue" panose="02000503000000020004" pitchFamily="2" charset="0"/>
              </a:rPr>
              <a:t> must respond. Since the network is partitioned, however, </a:t>
            </a:r>
            <a:r>
              <a:rPr lang="en-GB" sz="2400" b="0" i="0" u="none" strike="noStrike" dirty="0">
                <a:solidFill>
                  <a:srgbClr val="000000"/>
                </a:solidFill>
                <a:effectLst/>
                <a:latin typeface="MJXc-TeX-math-I"/>
              </a:rPr>
              <a:t>G</a:t>
            </a:r>
            <a:r>
              <a:rPr lang="en-GB" sz="2400" b="0" i="0" u="none" strike="noStrike" dirty="0">
                <a:solidFill>
                  <a:srgbClr val="000000"/>
                </a:solidFill>
                <a:effectLst/>
                <a:latin typeface="MJXc-TeX-main-R"/>
              </a:rPr>
              <a:t>1</a:t>
            </a:r>
            <a:r>
              <a:rPr lang="en-GB" sz="2400" b="0" i="0" u="none" strike="noStrike" dirty="0">
                <a:solidFill>
                  <a:srgbClr val="000000"/>
                </a:solidFill>
                <a:effectLst/>
                <a:latin typeface="Helvetica Neue" panose="02000503000000020004" pitchFamily="2" charset="0"/>
              </a:rPr>
              <a:t> cannot replicate its data to </a:t>
            </a:r>
            <a:r>
              <a:rPr lang="en-GB" sz="2400" b="0" i="0" u="none" strike="noStrike" dirty="0">
                <a:solidFill>
                  <a:srgbClr val="000000"/>
                </a:solidFill>
                <a:effectLst/>
                <a:latin typeface="MJXc-TeX-math-I"/>
              </a:rPr>
              <a:t>G</a:t>
            </a:r>
            <a:r>
              <a:rPr lang="en-GB" sz="2400" b="0" i="0" u="none" strike="noStrike" dirty="0">
                <a:solidFill>
                  <a:srgbClr val="000000"/>
                </a:solidFill>
                <a:effectLst/>
                <a:latin typeface="MJXc-TeX-main-R"/>
              </a:rPr>
              <a:t>2</a:t>
            </a:r>
            <a:endParaRPr lang="el-GR" sz="2400" b="0" i="0" u="none" strike="noStrike" dirty="0">
              <a:solidFill>
                <a:srgbClr val="000000"/>
              </a:solidFill>
              <a:effectLst/>
              <a:latin typeface="Helvetica Neue" panose="02000503000000020004" pitchFamily="2" charset="0"/>
            </a:endParaRPr>
          </a:p>
          <a:p>
            <a:pPr marL="0" indent="0">
              <a:buNone/>
            </a:pPr>
            <a:br>
              <a:rPr lang="el-GR" sz="2400" dirty="0"/>
            </a:br>
            <a:endParaRPr lang="en-ES" sz="2400" dirty="0"/>
          </a:p>
        </p:txBody>
      </p:sp>
    </p:spTree>
    <p:extLst>
      <p:ext uri="{BB962C8B-B14F-4D97-AF65-F5344CB8AC3E}">
        <p14:creationId xmlns:p14="http://schemas.microsoft.com/office/powerpoint/2010/main" val="2886082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414D-529F-E8FB-B42B-E8234A9B1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E6F26-4503-C8F5-B1FA-B66E5B6ED2B2}"/>
              </a:ext>
            </a:extLst>
          </p:cNvPr>
          <p:cNvSpPr>
            <a:spLocks noGrp="1"/>
          </p:cNvSpPr>
          <p:nvPr>
            <p:ph type="title"/>
          </p:nvPr>
        </p:nvSpPr>
        <p:spPr/>
        <p:txBody>
          <a:bodyPr/>
          <a:lstStyle/>
          <a:p>
            <a:r>
              <a:rPr lang="en-US" dirty="0">
                <a:solidFill>
                  <a:schemeClr val="accent1"/>
                </a:solidFill>
              </a:rPr>
              <a:t>CAP Theorem: Proof</a:t>
            </a:r>
          </a:p>
        </p:txBody>
      </p:sp>
      <p:sp>
        <p:nvSpPr>
          <p:cNvPr id="8" name="Content Placeholder 7">
            <a:extLst>
              <a:ext uri="{FF2B5EF4-FFF2-40B4-BE49-F238E27FC236}">
                <a16:creationId xmlns:a16="http://schemas.microsoft.com/office/drawing/2014/main" id="{877F7519-D064-DE33-D2AD-5D7675B3A370}"/>
              </a:ext>
            </a:extLst>
          </p:cNvPr>
          <p:cNvSpPr>
            <a:spLocks noGrp="1"/>
          </p:cNvSpPr>
          <p:nvPr>
            <p:ph idx="1"/>
          </p:nvPr>
        </p:nvSpPr>
        <p:spPr>
          <a:xfrm>
            <a:off x="609600" y="1417638"/>
            <a:ext cx="10972800" cy="5165724"/>
          </a:xfrm>
        </p:spPr>
        <p:txBody>
          <a:bodyPr>
            <a:normAutofit lnSpcReduction="10000"/>
          </a:bodyPr>
          <a:lstStyle/>
          <a:p>
            <a:pPr marL="0" indent="0" algn="l">
              <a:buNone/>
            </a:pPr>
            <a:r>
              <a:rPr lang="en-GB" sz="2400" dirty="0">
                <a:solidFill>
                  <a:srgbClr val="000000"/>
                </a:solidFill>
                <a:latin typeface="Helvetica Neue" panose="02000503000000020004" pitchFamily="2" charset="0"/>
              </a:rPr>
              <a:t>Next, we have our client issue a read request to G2. Again, since our system is available, G2must respond. And since the network is partitioned, G2 cannot update its value from G1. It returns v0</a:t>
            </a:r>
          </a:p>
          <a:p>
            <a:pPr marL="0" indent="0" algn="l">
              <a:buNone/>
            </a:pPr>
            <a:endParaRPr lang="en-GB" sz="2400" dirty="0">
              <a:solidFill>
                <a:srgbClr val="000000"/>
              </a:solidFill>
              <a:latin typeface="Helvetica Neue" panose="02000503000000020004" pitchFamily="2" charset="0"/>
            </a:endParaRPr>
          </a:p>
          <a:p>
            <a:pPr marL="0" indent="0" algn="l">
              <a:buNone/>
            </a:pPr>
            <a:endParaRPr lang="es-ES" sz="2400" dirty="0">
              <a:solidFill>
                <a:srgbClr val="000000"/>
              </a:solidFill>
              <a:latin typeface="Helvetica Neue" panose="02000503000000020004" pitchFamily="2" charset="0"/>
            </a:endParaRPr>
          </a:p>
          <a:p>
            <a:pPr marL="0" indent="0" algn="l">
              <a:buNone/>
            </a:pPr>
            <a:endParaRPr lang="es-ES" sz="2400" dirty="0">
              <a:solidFill>
                <a:srgbClr val="000000"/>
              </a:solidFill>
              <a:latin typeface="Helvetica Neue" panose="02000503000000020004" pitchFamily="2" charset="0"/>
            </a:endParaRPr>
          </a:p>
          <a:p>
            <a:pPr marL="0" indent="0" algn="l">
              <a:buNone/>
            </a:pPr>
            <a:endParaRPr lang="es-ES" sz="2400" dirty="0">
              <a:solidFill>
                <a:srgbClr val="000000"/>
              </a:solidFill>
              <a:latin typeface="Helvetica Neue" panose="02000503000000020004" pitchFamily="2" charset="0"/>
            </a:endParaRPr>
          </a:p>
          <a:p>
            <a:pPr marL="0" indent="0" algn="l">
              <a:buNone/>
            </a:pPr>
            <a:br>
              <a:rPr lang="el-GR" sz="2400" dirty="0">
                <a:solidFill>
                  <a:srgbClr val="000000"/>
                </a:solidFill>
                <a:latin typeface="Helvetica Neue" panose="02000503000000020004" pitchFamily="2" charset="0"/>
              </a:rPr>
            </a:br>
            <a:endParaRPr lang="es-ES" sz="2400" dirty="0">
              <a:solidFill>
                <a:srgbClr val="000000"/>
              </a:solidFill>
              <a:latin typeface="Helvetica Neue" panose="02000503000000020004" pitchFamily="2" charset="0"/>
            </a:endParaRPr>
          </a:p>
          <a:p>
            <a:pPr marL="0" indent="0" algn="l">
              <a:buNone/>
            </a:pPr>
            <a:endParaRPr lang="es-ES" sz="2400" dirty="0">
              <a:solidFill>
                <a:srgbClr val="000000"/>
              </a:solidFill>
              <a:latin typeface="Helvetica Neue" panose="02000503000000020004" pitchFamily="2" charset="0"/>
            </a:endParaRPr>
          </a:p>
          <a:p>
            <a:pPr marL="0" indent="0">
              <a:buNone/>
            </a:pPr>
            <a:endParaRPr lang="en-GB" sz="2400" dirty="0">
              <a:solidFill>
                <a:srgbClr val="000000"/>
              </a:solidFill>
              <a:latin typeface="Helvetica Neue" panose="02000503000000020004" pitchFamily="2" charset="0"/>
            </a:endParaRPr>
          </a:p>
          <a:p>
            <a:pPr marL="0" indent="0">
              <a:buNone/>
            </a:pPr>
            <a:r>
              <a:rPr lang="en-GB" sz="2400" dirty="0">
                <a:solidFill>
                  <a:srgbClr val="000000"/>
                </a:solidFill>
                <a:latin typeface="Helvetica Neue" panose="02000503000000020004" pitchFamily="2" charset="0"/>
              </a:rPr>
              <a:t>G2 returns v0 to our client after the client had already written v1 to G1. This is inconsistent. This is a contradiction, so </a:t>
            </a:r>
            <a:r>
              <a:rPr lang="en-GB" sz="2400" dirty="0" err="1">
                <a:solidFill>
                  <a:srgbClr val="000000"/>
                </a:solidFill>
                <a:latin typeface="Helvetica Neue" panose="02000503000000020004" pitchFamily="2" charset="0"/>
              </a:rPr>
              <a:t>nop</a:t>
            </a:r>
            <a:r>
              <a:rPr lang="en-GB" sz="2400" dirty="0">
                <a:solidFill>
                  <a:srgbClr val="000000"/>
                </a:solidFill>
                <a:latin typeface="Helvetica Neue" panose="02000503000000020004" pitchFamily="2" charset="0"/>
              </a:rPr>
              <a:t> such system exists</a:t>
            </a:r>
            <a:endParaRPr lang="en-ES" sz="2400" dirty="0">
              <a:solidFill>
                <a:srgbClr val="000000"/>
              </a:solidFill>
              <a:latin typeface="Helvetica Neue" panose="02000503000000020004" pitchFamily="2" charset="0"/>
            </a:endParaRPr>
          </a:p>
        </p:txBody>
      </p:sp>
      <p:pic>
        <p:nvPicPr>
          <p:cNvPr id="3" name="Picture 2">
            <a:extLst>
              <a:ext uri="{FF2B5EF4-FFF2-40B4-BE49-F238E27FC236}">
                <a16:creationId xmlns:a16="http://schemas.microsoft.com/office/drawing/2014/main" id="{CC83C6F2-26EF-F5F1-123F-57ADED219FE3}"/>
              </a:ext>
            </a:extLst>
          </p:cNvPr>
          <p:cNvPicPr>
            <a:picLocks noChangeAspect="1"/>
          </p:cNvPicPr>
          <p:nvPr/>
        </p:nvPicPr>
        <p:blipFill>
          <a:blip r:embed="rId2"/>
          <a:stretch>
            <a:fillRect/>
          </a:stretch>
        </p:blipFill>
        <p:spPr>
          <a:xfrm>
            <a:off x="3194050" y="2743200"/>
            <a:ext cx="5803900" cy="2514600"/>
          </a:xfrm>
          <a:prstGeom prst="rect">
            <a:avLst/>
          </a:prstGeom>
        </p:spPr>
      </p:pic>
    </p:spTree>
    <p:extLst>
      <p:ext uri="{BB962C8B-B14F-4D97-AF65-F5344CB8AC3E}">
        <p14:creationId xmlns:p14="http://schemas.microsoft.com/office/powerpoint/2010/main" val="3695140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Why this is important?</a:t>
            </a:r>
          </a:p>
        </p:txBody>
      </p:sp>
      <p:sp>
        <p:nvSpPr>
          <p:cNvPr id="3" name="Content Placeholder 2"/>
          <p:cNvSpPr>
            <a:spLocks noGrp="1"/>
          </p:cNvSpPr>
          <p:nvPr>
            <p:ph idx="1"/>
          </p:nvPr>
        </p:nvSpPr>
        <p:spPr>
          <a:xfrm>
            <a:off x="859971" y="1417641"/>
            <a:ext cx="10722429" cy="4708525"/>
          </a:xfrm>
        </p:spPr>
        <p:txBody>
          <a:bodyPr>
            <a:normAutofit/>
          </a:bodyPr>
          <a:lstStyle/>
          <a:p>
            <a:r>
              <a:rPr lang="en-US" dirty="0"/>
              <a:t>The future of computer systems is </a:t>
            </a:r>
            <a:r>
              <a:rPr lang="en-US" b="1" dirty="0"/>
              <a:t>distributed</a:t>
            </a:r>
            <a:r>
              <a:rPr lang="en-US" dirty="0"/>
              <a:t> (IoT, Big Data Trend, etc.)</a:t>
            </a:r>
          </a:p>
          <a:p>
            <a:r>
              <a:rPr lang="en-US" dirty="0"/>
              <a:t>CAP theorem describes the </a:t>
            </a:r>
            <a:r>
              <a:rPr lang="en-US" b="1" dirty="0"/>
              <a:t>trade-offs </a:t>
            </a:r>
            <a:r>
              <a:rPr lang="en-US" dirty="0"/>
              <a:t>involved in distributed systems</a:t>
            </a:r>
          </a:p>
          <a:p>
            <a:r>
              <a:rPr lang="en-US" dirty="0"/>
              <a:t>A proper understanding of CAP theorem is essential to </a:t>
            </a:r>
            <a:r>
              <a:rPr lang="en-US" b="1" dirty="0"/>
              <a:t>making decisions </a:t>
            </a:r>
            <a:r>
              <a:rPr lang="en-US" dirty="0"/>
              <a:t>about the future of distributed system </a:t>
            </a:r>
            <a:r>
              <a:rPr lang="en-US" b="1" dirty="0"/>
              <a:t>design</a:t>
            </a:r>
          </a:p>
          <a:p>
            <a:r>
              <a:rPr lang="en-US" dirty="0"/>
              <a:t>Misunderstanding can lead to </a:t>
            </a:r>
            <a:r>
              <a:rPr lang="en-US" b="1" dirty="0"/>
              <a:t>erroneous or inappropriate</a:t>
            </a:r>
            <a:r>
              <a:rPr lang="en-US" dirty="0"/>
              <a:t> design choices</a:t>
            </a:r>
          </a:p>
        </p:txBody>
      </p:sp>
    </p:spTree>
    <p:extLst>
      <p:ext uri="{BB962C8B-B14F-4D97-AF65-F5344CB8AC3E}">
        <p14:creationId xmlns:p14="http://schemas.microsoft.com/office/powerpoint/2010/main" val="2409026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1055" y="274638"/>
            <a:ext cx="8689473" cy="1143000"/>
          </a:xfrm>
        </p:spPr>
        <p:txBody>
          <a:bodyPr>
            <a:normAutofit fontScale="90000"/>
          </a:bodyPr>
          <a:lstStyle/>
          <a:p>
            <a:r>
              <a:rPr lang="en-US">
                <a:solidFill>
                  <a:schemeClr val="accent1"/>
                </a:solidFill>
              </a:rPr>
              <a:t>Problem for Relational Database to Scale</a:t>
            </a:r>
          </a:p>
        </p:txBody>
      </p:sp>
      <p:sp>
        <p:nvSpPr>
          <p:cNvPr id="3" name="Content Placeholder 2"/>
          <p:cNvSpPr>
            <a:spLocks noGrp="1"/>
          </p:cNvSpPr>
          <p:nvPr>
            <p:ph idx="1"/>
          </p:nvPr>
        </p:nvSpPr>
        <p:spPr/>
        <p:txBody>
          <a:bodyPr/>
          <a:lstStyle/>
          <a:p>
            <a:r>
              <a:rPr lang="en-US"/>
              <a:t>The Relational Database is built on the principle of </a:t>
            </a:r>
            <a:r>
              <a:rPr lang="en-US" b="1"/>
              <a:t>ACID</a:t>
            </a:r>
            <a:r>
              <a:rPr lang="en-US"/>
              <a:t> (Atomicity, Consistency, Isolation, Durability)</a:t>
            </a:r>
          </a:p>
          <a:p>
            <a:r>
              <a:rPr lang="en-US"/>
              <a:t>It implies that a truly distributed relational database should have </a:t>
            </a:r>
            <a:r>
              <a:rPr lang="en-US" b="1"/>
              <a:t>availability, consistency and partition tolerance</a:t>
            </a:r>
            <a:r>
              <a:rPr lang="en-US"/>
              <a:t>.</a:t>
            </a:r>
          </a:p>
          <a:p>
            <a:r>
              <a:rPr lang="en-US"/>
              <a:t>Which unfortunately is </a:t>
            </a:r>
            <a:r>
              <a:rPr lang="en-US" b="1"/>
              <a:t>impossible</a:t>
            </a:r>
            <a:r>
              <a:rPr lang="en-US"/>
              <a:t> …</a:t>
            </a:r>
          </a:p>
        </p:txBody>
      </p:sp>
    </p:spTree>
    <p:extLst>
      <p:ext uri="{BB962C8B-B14F-4D97-AF65-F5344CB8AC3E}">
        <p14:creationId xmlns:p14="http://schemas.microsoft.com/office/powerpoint/2010/main" val="2874906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158" y="114220"/>
            <a:ext cx="8529052" cy="955257"/>
          </a:xfrm>
        </p:spPr>
        <p:txBody>
          <a:bodyPr>
            <a:normAutofit/>
          </a:bodyPr>
          <a:lstStyle/>
          <a:p>
            <a:r>
              <a:rPr lang="en-US">
                <a:solidFill>
                  <a:schemeClr val="accent1"/>
                </a:solidFill>
              </a:rPr>
              <a:t>Revisit CAP Theorem</a:t>
            </a:r>
          </a:p>
        </p:txBody>
      </p:sp>
      <p:grpSp>
        <p:nvGrpSpPr>
          <p:cNvPr id="3" name="Group 2"/>
          <p:cNvGrpSpPr/>
          <p:nvPr/>
        </p:nvGrpSpPr>
        <p:grpSpPr>
          <a:xfrm>
            <a:off x="7310644" y="2160742"/>
            <a:ext cx="3916958" cy="3261308"/>
            <a:chOff x="1657674" y="1417639"/>
            <a:chExt cx="5748420" cy="5012571"/>
          </a:xfrm>
        </p:grpSpPr>
        <p:sp>
          <p:nvSpPr>
            <p:cNvPr id="4" name="Oval 3"/>
            <p:cNvSpPr/>
            <p:nvPr/>
          </p:nvSpPr>
          <p:spPr>
            <a:xfrm>
              <a:off x="1657674"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5" name="Oval 4"/>
            <p:cNvSpPr/>
            <p:nvPr/>
          </p:nvSpPr>
          <p:spPr>
            <a:xfrm>
              <a:off x="4069338"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A</a:t>
              </a:r>
            </a:p>
          </p:txBody>
        </p:sp>
        <p:sp>
          <p:nvSpPr>
            <p:cNvPr id="6" name="Oval 5"/>
            <p:cNvSpPr/>
            <p:nvPr/>
          </p:nvSpPr>
          <p:spPr>
            <a:xfrm>
              <a:off x="2847464" y="3088105"/>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P</a:t>
              </a:r>
            </a:p>
          </p:txBody>
        </p:sp>
        <p:sp>
          <p:nvSpPr>
            <p:cNvPr id="7" name="Multiply 6"/>
            <p:cNvSpPr/>
            <p:nvPr/>
          </p:nvSpPr>
          <p:spPr>
            <a:xfrm>
              <a:off x="4197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p:cNvSpPr txBox="1"/>
          <p:nvPr/>
        </p:nvSpPr>
        <p:spPr>
          <a:xfrm>
            <a:off x="964398" y="1069477"/>
            <a:ext cx="4892842" cy="5632312"/>
          </a:xfrm>
          <a:prstGeom prst="rect">
            <a:avLst/>
          </a:prstGeom>
          <a:noFill/>
        </p:spPr>
        <p:txBody>
          <a:bodyPr wrap="square" rtlCol="0">
            <a:spAutoFit/>
          </a:bodyPr>
          <a:lstStyle/>
          <a:p>
            <a:r>
              <a:rPr lang="en-US" sz="2800" dirty="0"/>
              <a:t>Of the following three guarantees potentially offered a by distributed systems:</a:t>
            </a:r>
          </a:p>
          <a:p>
            <a:pPr marL="742950" lvl="1" indent="-285750">
              <a:buFontTx/>
              <a:buChar char="•"/>
            </a:pPr>
            <a:r>
              <a:rPr lang="en-US" sz="2800" dirty="0"/>
              <a:t>Consistency</a:t>
            </a:r>
          </a:p>
          <a:p>
            <a:pPr marL="742950" lvl="1" indent="-285750">
              <a:buFontTx/>
              <a:buChar char="•"/>
            </a:pPr>
            <a:r>
              <a:rPr lang="en-US" sz="2800" dirty="0"/>
              <a:t>Availability</a:t>
            </a:r>
          </a:p>
          <a:p>
            <a:pPr marL="742950" lvl="1" indent="-285750">
              <a:buFontTx/>
              <a:buChar char="•"/>
            </a:pPr>
            <a:r>
              <a:rPr lang="en-US" sz="2800" dirty="0"/>
              <a:t>Partition tolerance</a:t>
            </a:r>
          </a:p>
          <a:p>
            <a:pPr lvl="1"/>
            <a:endParaRPr lang="en-US" sz="1200" dirty="0"/>
          </a:p>
          <a:p>
            <a:r>
              <a:rPr lang="en-US" sz="2800" dirty="0"/>
              <a:t>Pick two</a:t>
            </a:r>
          </a:p>
          <a:p>
            <a:endParaRPr lang="en-US" sz="1200" dirty="0"/>
          </a:p>
          <a:p>
            <a:r>
              <a:rPr lang="en-US" sz="2800" dirty="0"/>
              <a:t>This suggests there are three kinds of distributed systems:</a:t>
            </a:r>
          </a:p>
          <a:p>
            <a:pPr marL="742950" lvl="1" indent="-285750">
              <a:buFontTx/>
              <a:buChar char="•"/>
            </a:pPr>
            <a:r>
              <a:rPr lang="en-US" sz="2800" dirty="0"/>
              <a:t>CP</a:t>
            </a:r>
          </a:p>
          <a:p>
            <a:pPr marL="742950" lvl="1" indent="-285750">
              <a:buFontTx/>
              <a:buChar char="•"/>
            </a:pPr>
            <a:r>
              <a:rPr lang="en-US" sz="2800" dirty="0"/>
              <a:t>AP</a:t>
            </a:r>
          </a:p>
          <a:p>
            <a:pPr marL="742950" lvl="1" indent="-285750">
              <a:buFontTx/>
              <a:buChar char="•"/>
            </a:pPr>
            <a:r>
              <a:rPr lang="en-US" sz="2800" dirty="0"/>
              <a:t>CA</a:t>
            </a:r>
          </a:p>
        </p:txBody>
      </p:sp>
      <p:sp>
        <p:nvSpPr>
          <p:cNvPr id="9" name="Rectangle 8"/>
          <p:cNvSpPr/>
          <p:nvPr/>
        </p:nvSpPr>
        <p:spPr>
          <a:xfrm>
            <a:off x="4335000" y="5522261"/>
            <a:ext cx="2406316" cy="6550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i="1" dirty="0">
                <a:solidFill>
                  <a:schemeClr val="bg1"/>
                </a:solidFill>
              </a:rPr>
              <a:t>Any problems?</a:t>
            </a:r>
          </a:p>
        </p:txBody>
      </p:sp>
    </p:spTree>
    <p:extLst>
      <p:ext uri="{BB962C8B-B14F-4D97-AF65-F5344CB8AC3E}">
        <p14:creationId xmlns:p14="http://schemas.microsoft.com/office/powerpoint/2010/main" val="37890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A popular misconception: 2 out 3</a:t>
            </a:r>
          </a:p>
        </p:txBody>
      </p:sp>
      <p:sp>
        <p:nvSpPr>
          <p:cNvPr id="3" name="Content Placeholder 2"/>
          <p:cNvSpPr>
            <a:spLocks noGrp="1"/>
          </p:cNvSpPr>
          <p:nvPr>
            <p:ph idx="1"/>
          </p:nvPr>
        </p:nvSpPr>
        <p:spPr>
          <a:xfrm>
            <a:off x="293168" y="1666801"/>
            <a:ext cx="6177317" cy="4525963"/>
          </a:xfrm>
        </p:spPr>
        <p:txBody>
          <a:bodyPr/>
          <a:lstStyle/>
          <a:p>
            <a:pPr marL="0" indent="0">
              <a:buNone/>
            </a:pPr>
            <a:r>
              <a:rPr lang="en-US" dirty="0"/>
              <a:t>How about CA?</a:t>
            </a:r>
          </a:p>
          <a:p>
            <a:pPr marL="0" indent="0">
              <a:buNone/>
            </a:pPr>
            <a:r>
              <a:rPr lang="en-US" dirty="0"/>
              <a:t>Can a distributed system (with unreliable network) really be not tolerant of partitions?</a:t>
            </a:r>
          </a:p>
        </p:txBody>
      </p:sp>
      <p:sp>
        <p:nvSpPr>
          <p:cNvPr id="5" name="Oval 4"/>
          <p:cNvSpPr/>
          <p:nvPr/>
        </p:nvSpPr>
        <p:spPr>
          <a:xfrm>
            <a:off x="7166871" y="1753905"/>
            <a:ext cx="2448895" cy="2329580"/>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6" name="Oval 5"/>
          <p:cNvSpPr/>
          <p:nvPr/>
        </p:nvSpPr>
        <p:spPr>
          <a:xfrm>
            <a:off x="8810174" y="1753905"/>
            <a:ext cx="2601037" cy="2329580"/>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A</a:t>
            </a:r>
          </a:p>
        </p:txBody>
      </p:sp>
    </p:spTree>
    <p:extLst>
      <p:ext uri="{BB962C8B-B14F-4D97-AF65-F5344CB8AC3E}">
        <p14:creationId xmlns:p14="http://schemas.microsoft.com/office/powerpoint/2010/main" val="25897064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A few witnesses</a:t>
            </a:r>
          </a:p>
        </p:txBody>
      </p:sp>
      <p:sp>
        <p:nvSpPr>
          <p:cNvPr id="3" name="Content Placeholder 2"/>
          <p:cNvSpPr>
            <a:spLocks noGrp="1"/>
          </p:cNvSpPr>
          <p:nvPr>
            <p:ph idx="1"/>
          </p:nvPr>
        </p:nvSpPr>
        <p:spPr>
          <a:xfrm>
            <a:off x="325677" y="1600203"/>
            <a:ext cx="10972799" cy="4525963"/>
          </a:xfrm>
        </p:spPr>
        <p:txBody>
          <a:bodyPr>
            <a:normAutofit/>
          </a:bodyPr>
          <a:lstStyle/>
          <a:p>
            <a:pPr marL="0" indent="0">
              <a:buNone/>
            </a:pPr>
            <a:r>
              <a:rPr lang="en-US" dirty="0"/>
              <a:t>Coda Hale, Yammer software engineer:</a:t>
            </a:r>
          </a:p>
          <a:p>
            <a:pPr marL="457200" lvl="1" indent="0">
              <a:buNone/>
            </a:pPr>
            <a:r>
              <a:rPr lang="en-US" dirty="0"/>
              <a:t>“Of the CAP theorem’s Consistency, Availability, and Partition Tolerance, </a:t>
            </a:r>
            <a:r>
              <a:rPr lang="en-US" b="1" dirty="0"/>
              <a:t>Partition Tolerance is mandatory in distributed systems</a:t>
            </a:r>
            <a:r>
              <a:rPr lang="en-US" dirty="0"/>
              <a:t>. You cannot not choose it.”</a:t>
            </a:r>
          </a:p>
        </p:txBody>
      </p:sp>
      <p:sp>
        <p:nvSpPr>
          <p:cNvPr id="5" name="TextBox 4"/>
          <p:cNvSpPr txBox="1"/>
          <p:nvPr/>
        </p:nvSpPr>
        <p:spPr>
          <a:xfrm>
            <a:off x="1981202" y="6126163"/>
            <a:ext cx="6442789" cy="400110"/>
          </a:xfrm>
          <a:prstGeom prst="rect">
            <a:avLst/>
          </a:prstGeom>
          <a:noFill/>
        </p:spPr>
        <p:txBody>
          <a:bodyPr wrap="none" rtlCol="0">
            <a:spAutoFit/>
          </a:bodyPr>
          <a:lstStyle/>
          <a:p>
            <a:r>
              <a:rPr lang="en-US" sz="2000">
                <a:hlinkClick r:id="rId2"/>
              </a:rPr>
              <a:t>http://codahale.com/you-cant-sacrifice-partition-tolerance/</a:t>
            </a:r>
            <a:r>
              <a:rPr lang="en-US" sz="2000"/>
              <a:t> </a:t>
            </a:r>
          </a:p>
        </p:txBody>
      </p:sp>
      <p:pic>
        <p:nvPicPr>
          <p:cNvPr id="6" name="Picture 5"/>
          <p:cNvPicPr>
            <a:picLocks noChangeAspect="1"/>
          </p:cNvPicPr>
          <p:nvPr/>
        </p:nvPicPr>
        <p:blipFill>
          <a:blip r:embed="rId3"/>
          <a:stretch>
            <a:fillRect/>
          </a:stretch>
        </p:blipFill>
        <p:spPr>
          <a:xfrm>
            <a:off x="7360964" y="3695046"/>
            <a:ext cx="1836510" cy="2310803"/>
          </a:xfrm>
          <a:prstGeom prst="rect">
            <a:avLst/>
          </a:prstGeom>
        </p:spPr>
      </p:pic>
    </p:spTree>
    <p:extLst>
      <p:ext uri="{BB962C8B-B14F-4D97-AF65-F5344CB8AC3E}">
        <p14:creationId xmlns:p14="http://schemas.microsoft.com/office/powerpoint/2010/main" val="2892198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A few witnesses</a:t>
            </a:r>
          </a:p>
        </p:txBody>
      </p:sp>
      <p:sp>
        <p:nvSpPr>
          <p:cNvPr id="3" name="Content Placeholder 2"/>
          <p:cNvSpPr>
            <a:spLocks noGrp="1"/>
          </p:cNvSpPr>
          <p:nvPr>
            <p:ph idx="1"/>
          </p:nvPr>
        </p:nvSpPr>
        <p:spPr/>
        <p:txBody>
          <a:bodyPr/>
          <a:lstStyle/>
          <a:p>
            <a:pPr marL="0" indent="0">
              <a:buNone/>
            </a:pPr>
            <a:r>
              <a:rPr lang="en-US" dirty="0"/>
              <a:t>Werner </a:t>
            </a:r>
            <a:r>
              <a:rPr lang="en-US" dirty="0" err="1"/>
              <a:t>Vogels</a:t>
            </a:r>
            <a:r>
              <a:rPr lang="en-US" dirty="0"/>
              <a:t>, Amazon CTO</a:t>
            </a:r>
          </a:p>
          <a:p>
            <a:pPr marL="457200" lvl="1" indent="0">
              <a:buNone/>
            </a:pPr>
            <a:r>
              <a:rPr lang="en-US" dirty="0"/>
              <a:t>“An important observation is that in larger distributed-scale systems, network partitions are a given; therefore, </a:t>
            </a:r>
            <a:r>
              <a:rPr lang="en-US" b="1" dirty="0"/>
              <a:t>consistency and availability cannot be achieved at the same time</a:t>
            </a:r>
            <a:r>
              <a:rPr lang="en-US" dirty="0"/>
              <a:t>.”</a:t>
            </a:r>
          </a:p>
          <a:p>
            <a:pPr marL="457200" lvl="1" indent="0">
              <a:buNone/>
            </a:pPr>
            <a:endParaRPr lang="en-US" dirty="0"/>
          </a:p>
        </p:txBody>
      </p:sp>
      <p:pic>
        <p:nvPicPr>
          <p:cNvPr id="4" name="Picture 3"/>
          <p:cNvPicPr>
            <a:picLocks noChangeAspect="1"/>
          </p:cNvPicPr>
          <p:nvPr/>
        </p:nvPicPr>
        <p:blipFill>
          <a:blip r:embed="rId2"/>
          <a:stretch>
            <a:fillRect/>
          </a:stretch>
        </p:blipFill>
        <p:spPr>
          <a:xfrm>
            <a:off x="7763588" y="3840164"/>
            <a:ext cx="2301140" cy="2286000"/>
          </a:xfrm>
          <a:prstGeom prst="rect">
            <a:avLst/>
          </a:prstGeom>
        </p:spPr>
      </p:pic>
      <p:sp>
        <p:nvSpPr>
          <p:cNvPr id="5" name="TextBox 4"/>
          <p:cNvSpPr txBox="1"/>
          <p:nvPr/>
        </p:nvSpPr>
        <p:spPr>
          <a:xfrm>
            <a:off x="1820781" y="6318281"/>
            <a:ext cx="8847221" cy="400110"/>
          </a:xfrm>
          <a:prstGeom prst="rect">
            <a:avLst/>
          </a:prstGeom>
          <a:noFill/>
        </p:spPr>
        <p:txBody>
          <a:bodyPr wrap="square" rtlCol="0">
            <a:spAutoFit/>
          </a:bodyPr>
          <a:lstStyle/>
          <a:p>
            <a:r>
              <a:rPr lang="en-US" sz="2000">
                <a:hlinkClick r:id="rId3"/>
              </a:rPr>
              <a:t>http://www.allthingsdistributed.com/2008/12/eventually_consistent.html</a:t>
            </a:r>
            <a:r>
              <a:rPr lang="en-US" sz="2000"/>
              <a:t> </a:t>
            </a:r>
          </a:p>
        </p:txBody>
      </p:sp>
    </p:spTree>
    <p:extLst>
      <p:ext uri="{BB962C8B-B14F-4D97-AF65-F5344CB8AC3E}">
        <p14:creationId xmlns:p14="http://schemas.microsoft.com/office/powerpoint/2010/main" val="1446192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A few witnesses</a:t>
            </a:r>
          </a:p>
        </p:txBody>
      </p:sp>
      <p:sp>
        <p:nvSpPr>
          <p:cNvPr id="3" name="Content Placeholder 2"/>
          <p:cNvSpPr>
            <a:spLocks noGrp="1"/>
          </p:cNvSpPr>
          <p:nvPr>
            <p:ph idx="1"/>
          </p:nvPr>
        </p:nvSpPr>
        <p:spPr/>
        <p:txBody>
          <a:bodyPr/>
          <a:lstStyle/>
          <a:p>
            <a:pPr marL="0" indent="0">
              <a:buNone/>
            </a:pPr>
            <a:r>
              <a:rPr lang="en-US" dirty="0"/>
              <a:t>Daneil Abadi, Co-founder of </a:t>
            </a:r>
            <a:r>
              <a:rPr lang="en-US" dirty="0" err="1"/>
              <a:t>Hadapt</a:t>
            </a:r>
            <a:endParaRPr lang="en-US" dirty="0"/>
          </a:p>
          <a:p>
            <a:pPr marL="457200" lvl="1" indent="0">
              <a:buNone/>
            </a:pPr>
            <a:r>
              <a:rPr lang="en-US" dirty="0"/>
              <a:t>So in reality, there are only two types of systems ... I.e., if there is a partition, </a:t>
            </a:r>
            <a:r>
              <a:rPr lang="en-US" b="1" dirty="0"/>
              <a:t>does the system give up availability or consistency? </a:t>
            </a:r>
          </a:p>
        </p:txBody>
      </p:sp>
      <p:sp>
        <p:nvSpPr>
          <p:cNvPr id="4" name="TextBox 3"/>
          <p:cNvSpPr txBox="1"/>
          <p:nvPr/>
        </p:nvSpPr>
        <p:spPr>
          <a:xfrm>
            <a:off x="1574042" y="6134548"/>
            <a:ext cx="9234244" cy="400110"/>
          </a:xfrm>
          <a:prstGeom prst="rect">
            <a:avLst/>
          </a:prstGeom>
          <a:noFill/>
        </p:spPr>
        <p:txBody>
          <a:bodyPr wrap="none" rtlCol="0">
            <a:spAutoFit/>
          </a:bodyPr>
          <a:lstStyle/>
          <a:p>
            <a:r>
              <a:rPr lang="en-US" sz="2000" dirty="0">
                <a:hlinkClick r:id="rId3"/>
              </a:rPr>
              <a:t>http://dbmsmusings.blogspot.com/2010/04/problems-with-cap-and-yahoos-little.html</a:t>
            </a:r>
            <a:r>
              <a:rPr lang="en-US" sz="2000" dirty="0"/>
              <a:t> </a:t>
            </a:r>
          </a:p>
        </p:txBody>
      </p:sp>
      <p:pic>
        <p:nvPicPr>
          <p:cNvPr id="6" name="Picture 5"/>
          <p:cNvPicPr>
            <a:picLocks noChangeAspect="1"/>
          </p:cNvPicPr>
          <p:nvPr/>
        </p:nvPicPr>
        <p:blipFill>
          <a:blip r:embed="rId4"/>
          <a:stretch>
            <a:fillRect/>
          </a:stretch>
        </p:blipFill>
        <p:spPr>
          <a:xfrm>
            <a:off x="7547152" y="3429000"/>
            <a:ext cx="1703805" cy="2416423"/>
          </a:xfrm>
          <a:prstGeom prst="rect">
            <a:avLst/>
          </a:prstGeom>
        </p:spPr>
      </p:pic>
    </p:spTree>
    <p:extLst>
      <p:ext uri="{BB962C8B-B14F-4D97-AF65-F5344CB8AC3E}">
        <p14:creationId xmlns:p14="http://schemas.microsoft.com/office/powerpoint/2010/main" val="1857231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CAP Theorem Reformulation</a:t>
            </a:r>
          </a:p>
        </p:txBody>
      </p:sp>
      <p:sp>
        <p:nvSpPr>
          <p:cNvPr id="6" name="TextBox 5"/>
          <p:cNvSpPr txBox="1"/>
          <p:nvPr/>
        </p:nvSpPr>
        <p:spPr>
          <a:xfrm>
            <a:off x="1820780" y="1628801"/>
            <a:ext cx="8390020" cy="3970318"/>
          </a:xfrm>
          <a:prstGeom prst="rect">
            <a:avLst/>
          </a:prstGeom>
          <a:noFill/>
        </p:spPr>
        <p:txBody>
          <a:bodyPr wrap="square" rtlCol="0">
            <a:spAutoFit/>
          </a:bodyPr>
          <a:lstStyle/>
          <a:p>
            <a:r>
              <a:rPr lang="en-US" sz="2800" dirty="0"/>
              <a:t>Prof. Eric Brewer in 2012: father of CAP theorem</a:t>
            </a:r>
          </a:p>
          <a:p>
            <a:endParaRPr lang="en-US" sz="2800" dirty="0"/>
          </a:p>
          <a:p>
            <a:pPr lvl="1"/>
            <a:r>
              <a:rPr lang="en-US" sz="2800" dirty="0"/>
              <a:t>“The “2 of 3” formulation was always </a:t>
            </a:r>
            <a:r>
              <a:rPr lang="en-US" sz="2800" b="1" dirty="0"/>
              <a:t>misleading</a:t>
            </a:r>
            <a:r>
              <a:rPr lang="en-US" sz="2800" dirty="0"/>
              <a:t> because it tended to oversimplify the tensions among properties. ...</a:t>
            </a:r>
          </a:p>
          <a:p>
            <a:pPr lvl="1"/>
            <a:endParaRPr lang="en-US" sz="2800" b="1" dirty="0"/>
          </a:p>
          <a:p>
            <a:pPr lvl="1"/>
            <a:r>
              <a:rPr lang="en-US" sz="2800" b="1" dirty="0"/>
              <a:t>CAP prohibits only a tiny part of the design space</a:t>
            </a:r>
            <a:r>
              <a:rPr lang="en-US" sz="2800" dirty="0"/>
              <a:t>: </a:t>
            </a:r>
            <a:r>
              <a:rPr lang="en-US" sz="2800" i="1" dirty="0"/>
              <a:t>perfect availability and consistency in the presence of partitions</a:t>
            </a:r>
            <a:r>
              <a:rPr lang="en-US" sz="2800" dirty="0"/>
              <a:t>, which are rare.”</a:t>
            </a:r>
          </a:p>
        </p:txBody>
      </p:sp>
      <p:sp>
        <p:nvSpPr>
          <p:cNvPr id="3" name="TextBox 2"/>
          <p:cNvSpPr txBox="1"/>
          <p:nvPr/>
        </p:nvSpPr>
        <p:spPr>
          <a:xfrm>
            <a:off x="1820779" y="6249731"/>
            <a:ext cx="8934056" cy="400110"/>
          </a:xfrm>
          <a:prstGeom prst="rect">
            <a:avLst/>
          </a:prstGeom>
          <a:noFill/>
        </p:spPr>
        <p:txBody>
          <a:bodyPr wrap="none" rtlCol="0">
            <a:spAutoFit/>
          </a:bodyPr>
          <a:lstStyle/>
          <a:p>
            <a:r>
              <a:rPr lang="en-US" sz="2000">
                <a:hlinkClick r:id="rId2"/>
              </a:rPr>
              <a:t>http://www.infoq.com/articles/cap-twelve-years-later-how-the-rules-have-changed</a:t>
            </a:r>
            <a:r>
              <a:rPr lang="en-US" sz="2000"/>
              <a:t> </a:t>
            </a:r>
          </a:p>
        </p:txBody>
      </p:sp>
    </p:spTree>
    <p:extLst>
      <p:ext uri="{BB962C8B-B14F-4D97-AF65-F5344CB8AC3E}">
        <p14:creationId xmlns:p14="http://schemas.microsoft.com/office/powerpoint/2010/main" val="3144145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5158" y="114220"/>
            <a:ext cx="8529052" cy="955257"/>
          </a:xfrm>
        </p:spPr>
        <p:txBody>
          <a:bodyPr>
            <a:normAutofit/>
          </a:bodyPr>
          <a:lstStyle/>
          <a:p>
            <a:r>
              <a:rPr lang="en-US">
                <a:solidFill>
                  <a:schemeClr val="accent1"/>
                </a:solidFill>
              </a:rPr>
              <a:t>Consistency or Availability</a:t>
            </a:r>
          </a:p>
        </p:txBody>
      </p:sp>
      <p:grpSp>
        <p:nvGrpSpPr>
          <p:cNvPr id="3" name="Group 2"/>
          <p:cNvGrpSpPr/>
          <p:nvPr/>
        </p:nvGrpSpPr>
        <p:grpSpPr>
          <a:xfrm>
            <a:off x="6858000" y="1983656"/>
            <a:ext cx="4704373" cy="3753116"/>
            <a:chOff x="1657674" y="1417639"/>
            <a:chExt cx="5748420" cy="5012571"/>
          </a:xfrm>
        </p:grpSpPr>
        <p:sp>
          <p:nvSpPr>
            <p:cNvPr id="4" name="Oval 3"/>
            <p:cNvSpPr/>
            <p:nvPr/>
          </p:nvSpPr>
          <p:spPr>
            <a:xfrm>
              <a:off x="1657674"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5" name="Oval 4"/>
            <p:cNvSpPr/>
            <p:nvPr/>
          </p:nvSpPr>
          <p:spPr>
            <a:xfrm>
              <a:off x="4069338"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A</a:t>
              </a:r>
            </a:p>
          </p:txBody>
        </p:sp>
        <p:sp>
          <p:nvSpPr>
            <p:cNvPr id="6" name="Oval 5"/>
            <p:cNvSpPr/>
            <p:nvPr/>
          </p:nvSpPr>
          <p:spPr>
            <a:xfrm>
              <a:off x="2847464" y="3088105"/>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P</a:t>
              </a:r>
            </a:p>
          </p:txBody>
        </p:sp>
        <p:sp>
          <p:nvSpPr>
            <p:cNvPr id="7" name="Multiply 6"/>
            <p:cNvSpPr/>
            <p:nvPr/>
          </p:nvSpPr>
          <p:spPr>
            <a:xfrm>
              <a:off x="4197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p:cNvSpPr txBox="1"/>
          <p:nvPr/>
        </p:nvSpPr>
        <p:spPr>
          <a:xfrm>
            <a:off x="615550" y="1812621"/>
            <a:ext cx="5255625" cy="3924151"/>
          </a:xfrm>
          <a:prstGeom prst="rect">
            <a:avLst/>
          </a:prstGeom>
          <a:noFill/>
        </p:spPr>
        <p:txBody>
          <a:bodyPr wrap="square" rtlCol="0">
            <a:spAutoFit/>
          </a:bodyPr>
          <a:lstStyle/>
          <a:p>
            <a:r>
              <a:rPr lang="en-US" sz="2400" dirty="0"/>
              <a:t>Consistency and Availability is not “binary” decision</a:t>
            </a:r>
          </a:p>
          <a:p>
            <a:pPr lvl="1"/>
            <a:endParaRPr lang="en-US" sz="1100" dirty="0"/>
          </a:p>
          <a:p>
            <a:r>
              <a:rPr lang="en-US" sz="2400" dirty="0"/>
              <a:t>AP systems relax consistency in favor of availability – but are not inconsistent</a:t>
            </a:r>
          </a:p>
          <a:p>
            <a:endParaRPr lang="en-US" sz="1100" dirty="0"/>
          </a:p>
          <a:p>
            <a:r>
              <a:rPr lang="en-US" sz="2400" dirty="0"/>
              <a:t>CP systems sacrifice availability for consistency- but are not unavailable</a:t>
            </a:r>
          </a:p>
          <a:p>
            <a:endParaRPr lang="en-US" sz="1100" dirty="0"/>
          </a:p>
          <a:p>
            <a:r>
              <a:rPr lang="en-US" sz="2400" dirty="0"/>
              <a:t>This suggests both AP and CP systems can offer a degree of consistency, and availability, as well as partition tolerance</a:t>
            </a:r>
          </a:p>
        </p:txBody>
      </p:sp>
    </p:spTree>
    <p:extLst>
      <p:ext uri="{BB962C8B-B14F-4D97-AF65-F5344CB8AC3E}">
        <p14:creationId xmlns:p14="http://schemas.microsoft.com/office/powerpoint/2010/main" val="4280783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Types of Consistency</a:t>
            </a:r>
          </a:p>
        </p:txBody>
      </p:sp>
      <p:sp>
        <p:nvSpPr>
          <p:cNvPr id="3" name="Content Placeholder 2"/>
          <p:cNvSpPr>
            <a:spLocks noGrp="1"/>
          </p:cNvSpPr>
          <p:nvPr>
            <p:ph idx="1"/>
          </p:nvPr>
        </p:nvSpPr>
        <p:spPr>
          <a:xfrm>
            <a:off x="1066800" y="1417639"/>
            <a:ext cx="10384971" cy="5146257"/>
          </a:xfrm>
        </p:spPr>
        <p:txBody>
          <a:bodyPr>
            <a:normAutofit lnSpcReduction="10000"/>
          </a:bodyPr>
          <a:lstStyle/>
          <a:p>
            <a:pPr marL="0" indent="0">
              <a:buNone/>
            </a:pPr>
            <a:r>
              <a:rPr lang="en-US" b="1" dirty="0"/>
              <a:t>Strong Consistency</a:t>
            </a:r>
          </a:p>
          <a:p>
            <a:pPr marL="457200" lvl="1" indent="0">
              <a:buNone/>
            </a:pPr>
            <a:r>
              <a:rPr lang="en-US" dirty="0"/>
              <a:t>After the update completes, </a:t>
            </a:r>
            <a:r>
              <a:rPr lang="en-US" b="1" dirty="0"/>
              <a:t>any subsequent access</a:t>
            </a:r>
            <a:r>
              <a:rPr lang="en-US" dirty="0"/>
              <a:t> will return the </a:t>
            </a:r>
            <a:r>
              <a:rPr lang="en-US" b="1" dirty="0"/>
              <a:t>same</a:t>
            </a:r>
            <a:r>
              <a:rPr lang="en-US" dirty="0"/>
              <a:t> updated value.</a:t>
            </a:r>
          </a:p>
          <a:p>
            <a:pPr marL="0" indent="0">
              <a:buNone/>
            </a:pPr>
            <a:r>
              <a:rPr lang="en-US" b="1" dirty="0"/>
              <a:t>Weak Consistency</a:t>
            </a:r>
          </a:p>
          <a:p>
            <a:pPr marL="457200" lvl="1" indent="0">
              <a:buNone/>
            </a:pPr>
            <a:r>
              <a:rPr lang="en-US" dirty="0"/>
              <a:t>It is </a:t>
            </a:r>
            <a:r>
              <a:rPr lang="en-US" b="1" dirty="0"/>
              <a:t>not guaranteed </a:t>
            </a:r>
            <a:r>
              <a:rPr lang="en-US" dirty="0"/>
              <a:t>that subsequent accesses will return the updated value.</a:t>
            </a:r>
          </a:p>
          <a:p>
            <a:pPr marL="0" indent="0">
              <a:buNone/>
            </a:pPr>
            <a:r>
              <a:rPr lang="en-US" b="1" dirty="0"/>
              <a:t>Eventual Consistency</a:t>
            </a:r>
          </a:p>
          <a:p>
            <a:pPr marL="457200" lvl="1" indent="0">
              <a:buNone/>
            </a:pPr>
            <a:r>
              <a:rPr lang="en-US" dirty="0"/>
              <a:t>Specific form of weak consistency</a:t>
            </a:r>
          </a:p>
          <a:p>
            <a:pPr marL="457200" lvl="1" indent="0">
              <a:buNone/>
            </a:pPr>
            <a:r>
              <a:rPr lang="en-US" dirty="0"/>
              <a:t>It is guaranteed that if </a:t>
            </a:r>
            <a:r>
              <a:rPr lang="en-US" b="1" dirty="0"/>
              <a:t>no new updates </a:t>
            </a:r>
            <a:r>
              <a:rPr lang="en-US" dirty="0"/>
              <a:t>are made to object, </a:t>
            </a:r>
            <a:r>
              <a:rPr lang="en-US" b="1" dirty="0"/>
              <a:t>eventually</a:t>
            </a:r>
            <a:r>
              <a:rPr lang="en-US" dirty="0"/>
              <a:t> all accesses will return the last updated value (e.g., </a:t>
            </a:r>
            <a:r>
              <a:rPr lang="en-US" i="1" dirty="0"/>
              <a:t>propagate updates to replicas in a lazy fashion</a:t>
            </a:r>
            <a:r>
              <a:rPr lang="en-US" dirty="0"/>
              <a:t>)</a:t>
            </a:r>
          </a:p>
        </p:txBody>
      </p:sp>
    </p:spTree>
    <p:extLst>
      <p:ext uri="{BB962C8B-B14F-4D97-AF65-F5344CB8AC3E}">
        <p14:creationId xmlns:p14="http://schemas.microsoft.com/office/powerpoint/2010/main" val="2596998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Eventual Consistency Variations</a:t>
            </a:r>
          </a:p>
        </p:txBody>
      </p:sp>
      <p:sp>
        <p:nvSpPr>
          <p:cNvPr id="3" name="Content Placeholder 2"/>
          <p:cNvSpPr>
            <a:spLocks noGrp="1"/>
          </p:cNvSpPr>
          <p:nvPr>
            <p:ph idx="1"/>
          </p:nvPr>
        </p:nvSpPr>
        <p:spPr>
          <a:xfrm>
            <a:off x="1143000" y="1417639"/>
            <a:ext cx="10199914" cy="5146257"/>
          </a:xfrm>
        </p:spPr>
        <p:txBody>
          <a:bodyPr>
            <a:normAutofit/>
          </a:bodyPr>
          <a:lstStyle/>
          <a:p>
            <a:pPr marL="0" indent="0">
              <a:buNone/>
            </a:pPr>
            <a:r>
              <a:rPr lang="en-US" b="1" dirty="0"/>
              <a:t>Causal consistency</a:t>
            </a:r>
          </a:p>
          <a:p>
            <a:pPr marL="457200" lvl="1" indent="0">
              <a:buNone/>
            </a:pPr>
            <a:r>
              <a:rPr lang="en-US" dirty="0"/>
              <a:t>Processes that have causal relationship will see consistent data</a:t>
            </a:r>
          </a:p>
          <a:p>
            <a:pPr marL="0" indent="0">
              <a:buNone/>
            </a:pPr>
            <a:r>
              <a:rPr lang="en-US" b="1" dirty="0"/>
              <a:t>Read-your-write consistency</a:t>
            </a:r>
          </a:p>
          <a:p>
            <a:pPr marL="457200" lvl="1" indent="0">
              <a:buNone/>
            </a:pPr>
            <a:r>
              <a:rPr lang="en-US" dirty="0"/>
              <a:t>A process always accesses the data item after it’s update operation and never sees an older value</a:t>
            </a:r>
          </a:p>
          <a:p>
            <a:pPr marL="0" indent="0">
              <a:buNone/>
            </a:pPr>
            <a:r>
              <a:rPr lang="en-US" b="1" dirty="0"/>
              <a:t>Session consistency</a:t>
            </a:r>
          </a:p>
          <a:p>
            <a:pPr marL="457200" lvl="1" indent="0">
              <a:buNone/>
            </a:pPr>
            <a:r>
              <a:rPr lang="en-US" dirty="0"/>
              <a:t>As long as session exists, system guarantees read-your-write consistency</a:t>
            </a:r>
          </a:p>
          <a:p>
            <a:pPr marL="457200" lvl="1" indent="0">
              <a:buNone/>
            </a:pPr>
            <a:r>
              <a:rPr lang="en-US" dirty="0"/>
              <a:t>Guarantees do not overlap sessions</a:t>
            </a:r>
          </a:p>
        </p:txBody>
      </p:sp>
    </p:spTree>
    <p:extLst>
      <p:ext uri="{BB962C8B-B14F-4D97-AF65-F5344CB8AC3E}">
        <p14:creationId xmlns:p14="http://schemas.microsoft.com/office/powerpoint/2010/main" val="747087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Eventual Consistency Variations</a:t>
            </a:r>
          </a:p>
        </p:txBody>
      </p:sp>
      <p:sp>
        <p:nvSpPr>
          <p:cNvPr id="3" name="Content Placeholder 2"/>
          <p:cNvSpPr>
            <a:spLocks noGrp="1"/>
          </p:cNvSpPr>
          <p:nvPr>
            <p:ph idx="1"/>
          </p:nvPr>
        </p:nvSpPr>
        <p:spPr>
          <a:xfrm>
            <a:off x="936172" y="1417639"/>
            <a:ext cx="10406742" cy="5146257"/>
          </a:xfrm>
        </p:spPr>
        <p:txBody>
          <a:bodyPr>
            <a:normAutofit/>
          </a:bodyPr>
          <a:lstStyle/>
          <a:p>
            <a:pPr marL="0" indent="0">
              <a:buNone/>
            </a:pPr>
            <a:r>
              <a:rPr lang="en-US" b="1" dirty="0"/>
              <a:t>Monotonic read consistency</a:t>
            </a:r>
          </a:p>
          <a:p>
            <a:pPr marL="457200" lvl="1" indent="0">
              <a:buNone/>
            </a:pPr>
            <a:r>
              <a:rPr lang="en-US" dirty="0"/>
              <a:t>If a process has seen a particular value of data item, any subsequent processes will never return any previous values</a:t>
            </a:r>
          </a:p>
          <a:p>
            <a:pPr marL="0" indent="0">
              <a:buNone/>
            </a:pPr>
            <a:r>
              <a:rPr lang="en-US" b="1" dirty="0"/>
              <a:t>Monotonic write consistency</a:t>
            </a:r>
          </a:p>
          <a:p>
            <a:pPr marL="457200" lvl="1" indent="0">
              <a:buNone/>
            </a:pPr>
            <a:r>
              <a:rPr lang="en-US" dirty="0"/>
              <a:t>The system guarantees to serialize the writes by the </a:t>
            </a:r>
            <a:r>
              <a:rPr lang="en-US" i="1" dirty="0"/>
              <a:t>same</a:t>
            </a:r>
            <a:r>
              <a:rPr lang="en-US" dirty="0"/>
              <a:t> process </a:t>
            </a:r>
          </a:p>
          <a:p>
            <a:pPr marL="0" indent="0">
              <a:buNone/>
            </a:pPr>
            <a:r>
              <a:rPr lang="en-US" b="1" dirty="0"/>
              <a:t>In practice </a:t>
            </a:r>
          </a:p>
          <a:p>
            <a:pPr marL="457200" lvl="1" indent="0">
              <a:buNone/>
            </a:pPr>
            <a:r>
              <a:rPr lang="en-US" dirty="0"/>
              <a:t>A number of these properties can be combined</a:t>
            </a:r>
          </a:p>
          <a:p>
            <a:pPr marL="457200" lvl="1" indent="0">
              <a:buNone/>
            </a:pPr>
            <a:r>
              <a:rPr lang="en-US" dirty="0"/>
              <a:t>Monotonic reads and read-your-writes are most desirable</a:t>
            </a:r>
          </a:p>
        </p:txBody>
      </p:sp>
    </p:spTree>
    <p:extLst>
      <p:ext uri="{BB962C8B-B14F-4D97-AF65-F5344CB8AC3E}">
        <p14:creationId xmlns:p14="http://schemas.microsoft.com/office/powerpoint/2010/main" val="4266707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Facebook Example</a:t>
            </a:r>
          </a:p>
        </p:txBody>
      </p:sp>
      <p:sp>
        <p:nvSpPr>
          <p:cNvPr id="3" name="Content Placeholder 2"/>
          <p:cNvSpPr>
            <a:spLocks noGrp="1"/>
          </p:cNvSpPr>
          <p:nvPr>
            <p:ph idx="1"/>
          </p:nvPr>
        </p:nvSpPr>
        <p:spPr>
          <a:xfrm>
            <a:off x="609600" y="1611087"/>
            <a:ext cx="10972800" cy="4525963"/>
          </a:xfrm>
        </p:spPr>
        <p:txBody>
          <a:bodyPr/>
          <a:lstStyle/>
          <a:p>
            <a:pPr marL="0" indent="0">
              <a:buNone/>
            </a:pPr>
            <a:r>
              <a:rPr lang="en-US" dirty="0"/>
              <a:t>Bob finds an interesting story and shares with Alice by posting on her Facebook wall</a:t>
            </a:r>
          </a:p>
          <a:p>
            <a:pPr marL="0" indent="0">
              <a:buNone/>
            </a:pPr>
            <a:r>
              <a:rPr lang="en-US" dirty="0"/>
              <a:t>Bob asks Alice to check it out</a:t>
            </a:r>
          </a:p>
          <a:p>
            <a:pPr marL="0" indent="0">
              <a:buNone/>
            </a:pPr>
            <a:r>
              <a:rPr lang="en-US" dirty="0"/>
              <a:t>Alice logs in her account, checks her Facebook wall but finds:</a:t>
            </a:r>
          </a:p>
          <a:p>
            <a:pPr marL="0" indent="0">
              <a:buNone/>
            </a:pPr>
            <a:r>
              <a:rPr lang="en-US" dirty="0"/>
              <a:t>	- </a:t>
            </a:r>
            <a:r>
              <a:rPr lang="en-US" b="1" dirty="0"/>
              <a:t>Nothing is there!</a:t>
            </a:r>
          </a:p>
        </p:txBody>
      </p:sp>
      <p:pic>
        <p:nvPicPr>
          <p:cNvPr id="4" name="Picture 3"/>
          <p:cNvPicPr>
            <a:picLocks noChangeAspect="1"/>
          </p:cNvPicPr>
          <p:nvPr/>
        </p:nvPicPr>
        <p:blipFill>
          <a:blip r:embed="rId2"/>
          <a:stretch>
            <a:fillRect/>
          </a:stretch>
        </p:blipFill>
        <p:spPr>
          <a:xfrm>
            <a:off x="2247226" y="5072142"/>
            <a:ext cx="2417519" cy="1468979"/>
          </a:xfrm>
          <a:prstGeom prst="rect">
            <a:avLst/>
          </a:prstGeom>
        </p:spPr>
      </p:pic>
      <p:pic>
        <p:nvPicPr>
          <p:cNvPr id="5" name="Picture 4"/>
          <p:cNvPicPr>
            <a:picLocks noChangeAspect="1"/>
          </p:cNvPicPr>
          <p:nvPr/>
        </p:nvPicPr>
        <p:blipFill>
          <a:blip r:embed="rId3"/>
          <a:stretch>
            <a:fillRect/>
          </a:stretch>
        </p:blipFill>
        <p:spPr>
          <a:xfrm>
            <a:off x="8023972" y="4684300"/>
            <a:ext cx="1952400" cy="1952400"/>
          </a:xfrm>
          <a:prstGeom prst="rect">
            <a:avLst/>
          </a:prstGeom>
        </p:spPr>
      </p:pic>
      <p:pic>
        <p:nvPicPr>
          <p:cNvPr id="6" name="Picture 5"/>
          <p:cNvPicPr>
            <a:picLocks noChangeAspect="1"/>
          </p:cNvPicPr>
          <p:nvPr/>
        </p:nvPicPr>
        <p:blipFill>
          <a:blip r:embed="rId4"/>
          <a:stretch>
            <a:fillRect/>
          </a:stretch>
        </p:blipFill>
        <p:spPr>
          <a:xfrm>
            <a:off x="5548502" y="4889075"/>
            <a:ext cx="1560652" cy="1560652"/>
          </a:xfrm>
          <a:prstGeom prst="rect">
            <a:avLst/>
          </a:prstGeom>
        </p:spPr>
      </p:pic>
      <p:sp>
        <p:nvSpPr>
          <p:cNvPr id="7" name="Right Arrow 6"/>
          <p:cNvSpPr/>
          <p:nvPr/>
        </p:nvSpPr>
        <p:spPr>
          <a:xfrm>
            <a:off x="4664745" y="5775877"/>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7259270" y="5798454"/>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7413597" y="4852547"/>
            <a:ext cx="505555" cy="923330"/>
          </a:xfrm>
          <a:prstGeom prst="rect">
            <a:avLst/>
          </a:prstGeom>
          <a:noFill/>
          <a:ln>
            <a:noFill/>
          </a:ln>
        </p:spPr>
        <p:txBody>
          <a:bodyPr wrap="none" lIns="91440" tIns="45720" rIns="91440" bIns="45720">
            <a:spAutoFit/>
          </a:bodyPr>
          <a:lstStyle/>
          <a:p>
            <a:pPr algn="ctr"/>
            <a:r>
              <a:rPr lang="en-US" sz="5400" b="1">
                <a:ln w="12700">
                  <a:solidFill>
                    <a:schemeClr val="tx2">
                      <a:satMod val="155000"/>
                    </a:schemeClr>
                  </a:solidFill>
                  <a:prstDash val="solid"/>
                </a:ln>
                <a:solidFill>
                  <a:schemeClr val="accent5"/>
                </a:solidFill>
                <a:effectLst>
                  <a:outerShdw blurRad="41275" dist="20320" dir="1800000" algn="tl" rotWithShape="0">
                    <a:srgbClr val="000000">
                      <a:alpha val="40000"/>
                    </a:srgbClr>
                  </a:outerShdw>
                </a:effectLst>
              </a:rPr>
              <a:t>?</a:t>
            </a:r>
          </a:p>
        </p:txBody>
      </p:sp>
    </p:spTree>
    <p:extLst>
      <p:ext uri="{BB962C8B-B14F-4D97-AF65-F5344CB8AC3E}">
        <p14:creationId xmlns:p14="http://schemas.microsoft.com/office/powerpoint/2010/main" val="4165943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Facebook Example</a:t>
            </a:r>
          </a:p>
        </p:txBody>
      </p:sp>
      <p:sp>
        <p:nvSpPr>
          <p:cNvPr id="3" name="Content Placeholder 2"/>
          <p:cNvSpPr>
            <a:spLocks noGrp="1"/>
          </p:cNvSpPr>
          <p:nvPr>
            <p:ph idx="1"/>
          </p:nvPr>
        </p:nvSpPr>
        <p:spPr/>
        <p:txBody>
          <a:bodyPr/>
          <a:lstStyle/>
          <a:p>
            <a:pPr marL="0" indent="0">
              <a:buNone/>
            </a:pPr>
            <a:r>
              <a:rPr lang="en-US" dirty="0"/>
              <a:t>Bob tells Alice to wait a bit and check out later</a:t>
            </a:r>
          </a:p>
          <a:p>
            <a:pPr marL="0" indent="0">
              <a:buNone/>
            </a:pPr>
            <a:r>
              <a:rPr lang="en-US" dirty="0"/>
              <a:t>Alice waits for a minute or so and checks back:</a:t>
            </a:r>
          </a:p>
          <a:p>
            <a:pPr marL="0" indent="0">
              <a:buNone/>
            </a:pPr>
            <a:r>
              <a:rPr lang="en-US" dirty="0"/>
              <a:t>	- </a:t>
            </a:r>
            <a:r>
              <a:rPr lang="en-US" b="1" dirty="0"/>
              <a:t>She finds the story Bob shared with her!</a:t>
            </a:r>
          </a:p>
        </p:txBody>
      </p:sp>
      <p:pic>
        <p:nvPicPr>
          <p:cNvPr id="4" name="Picture 3"/>
          <p:cNvPicPr>
            <a:picLocks noChangeAspect="1"/>
          </p:cNvPicPr>
          <p:nvPr/>
        </p:nvPicPr>
        <p:blipFill>
          <a:blip r:embed="rId2"/>
          <a:stretch>
            <a:fillRect/>
          </a:stretch>
        </p:blipFill>
        <p:spPr>
          <a:xfrm>
            <a:off x="1981202" y="5072142"/>
            <a:ext cx="2417519" cy="1468979"/>
          </a:xfrm>
          <a:prstGeom prst="rect">
            <a:avLst/>
          </a:prstGeom>
        </p:spPr>
      </p:pic>
      <p:pic>
        <p:nvPicPr>
          <p:cNvPr id="5" name="Picture 4"/>
          <p:cNvPicPr>
            <a:picLocks noChangeAspect="1"/>
          </p:cNvPicPr>
          <p:nvPr/>
        </p:nvPicPr>
        <p:blipFill>
          <a:blip r:embed="rId3"/>
          <a:stretch>
            <a:fillRect/>
          </a:stretch>
        </p:blipFill>
        <p:spPr>
          <a:xfrm>
            <a:off x="8258400" y="4684300"/>
            <a:ext cx="1952400" cy="1952400"/>
          </a:xfrm>
          <a:prstGeom prst="rect">
            <a:avLst/>
          </a:prstGeom>
        </p:spPr>
      </p:pic>
      <p:pic>
        <p:nvPicPr>
          <p:cNvPr id="6" name="Picture 5"/>
          <p:cNvPicPr>
            <a:picLocks noChangeAspect="1"/>
          </p:cNvPicPr>
          <p:nvPr/>
        </p:nvPicPr>
        <p:blipFill>
          <a:blip r:embed="rId4"/>
          <a:stretch>
            <a:fillRect/>
          </a:stretch>
        </p:blipFill>
        <p:spPr>
          <a:xfrm>
            <a:off x="5357327" y="4884343"/>
            <a:ext cx="1560652" cy="1560652"/>
          </a:xfrm>
          <a:prstGeom prst="rect">
            <a:avLst/>
          </a:prstGeom>
        </p:spPr>
      </p:pic>
      <p:sp>
        <p:nvSpPr>
          <p:cNvPr id="7" name="Right Arrow 6"/>
          <p:cNvSpPr/>
          <p:nvPr/>
        </p:nvSpPr>
        <p:spPr>
          <a:xfrm>
            <a:off x="4398720" y="5775877"/>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7259270" y="5798454"/>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5"/>
          <a:stretch>
            <a:fillRect/>
          </a:stretch>
        </p:blipFill>
        <p:spPr>
          <a:xfrm>
            <a:off x="7152409" y="4566206"/>
            <a:ext cx="1105993" cy="1011866"/>
          </a:xfrm>
          <a:prstGeom prst="rect">
            <a:avLst/>
          </a:prstGeom>
        </p:spPr>
      </p:pic>
    </p:spTree>
    <p:extLst>
      <p:ext uri="{BB962C8B-B14F-4D97-AF65-F5344CB8AC3E}">
        <p14:creationId xmlns:p14="http://schemas.microsoft.com/office/powerpoint/2010/main" val="22857746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Facebook Example</a:t>
            </a:r>
          </a:p>
        </p:txBody>
      </p:sp>
      <p:sp>
        <p:nvSpPr>
          <p:cNvPr id="3" name="Content Placeholder 2"/>
          <p:cNvSpPr>
            <a:spLocks noGrp="1"/>
          </p:cNvSpPr>
          <p:nvPr>
            <p:ph idx="1"/>
          </p:nvPr>
        </p:nvSpPr>
        <p:spPr/>
        <p:txBody>
          <a:bodyPr>
            <a:normAutofit lnSpcReduction="10000"/>
          </a:bodyPr>
          <a:lstStyle/>
          <a:p>
            <a:pPr marL="0" indent="0">
              <a:buNone/>
            </a:pPr>
            <a:r>
              <a:rPr lang="en-US" dirty="0"/>
              <a:t>Reason: it is possible because Facebook uses an </a:t>
            </a:r>
            <a:r>
              <a:rPr lang="en-US" b="1" dirty="0"/>
              <a:t>eventual consistent model</a:t>
            </a:r>
          </a:p>
          <a:p>
            <a:pPr marL="0" indent="0">
              <a:buNone/>
            </a:pPr>
            <a:r>
              <a:rPr lang="en-US" dirty="0"/>
              <a:t>Why Facebook chooses eventual consistent model over the strong consistent one?</a:t>
            </a:r>
          </a:p>
          <a:p>
            <a:pPr marL="457200" lvl="1" indent="0">
              <a:buNone/>
            </a:pPr>
            <a:r>
              <a:rPr lang="en-US" dirty="0"/>
              <a:t>Facebook has more than 1 billion active users</a:t>
            </a:r>
          </a:p>
          <a:p>
            <a:pPr marL="457200" lvl="1" indent="0">
              <a:buNone/>
            </a:pPr>
            <a:r>
              <a:rPr lang="en-US" dirty="0"/>
              <a:t>It is non-trivial to efficiently and reliably store the huge amount of data generated at any given time</a:t>
            </a:r>
          </a:p>
          <a:p>
            <a:pPr marL="457200" lvl="1" indent="0">
              <a:buNone/>
            </a:pPr>
            <a:r>
              <a:rPr lang="en-US" dirty="0"/>
              <a:t>Eventual consistent model offers the option to </a:t>
            </a:r>
            <a:r>
              <a:rPr lang="en-US" b="1" dirty="0"/>
              <a:t>reduce the load and improve availability </a:t>
            </a:r>
          </a:p>
        </p:txBody>
      </p:sp>
    </p:spTree>
    <p:extLst>
      <p:ext uri="{BB962C8B-B14F-4D97-AF65-F5344CB8AC3E}">
        <p14:creationId xmlns:p14="http://schemas.microsoft.com/office/powerpoint/2010/main" val="215054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a:t>
            </a:r>
            <a:r>
              <a:rPr lang="en-US" err="1">
                <a:solidFill>
                  <a:schemeClr val="accent1"/>
                </a:solidFill>
              </a:rPr>
              <a:t>Dropbox</a:t>
            </a:r>
            <a:r>
              <a:rPr lang="en-US">
                <a:solidFill>
                  <a:schemeClr val="accent1"/>
                </a:solidFill>
              </a:rPr>
              <a:t> Example</a:t>
            </a:r>
          </a:p>
        </p:txBody>
      </p:sp>
      <p:sp>
        <p:nvSpPr>
          <p:cNvPr id="3" name="Content Placeholder 2"/>
          <p:cNvSpPr>
            <a:spLocks noGrp="1"/>
          </p:cNvSpPr>
          <p:nvPr>
            <p:ph idx="1"/>
          </p:nvPr>
        </p:nvSpPr>
        <p:spPr/>
        <p:txBody>
          <a:bodyPr/>
          <a:lstStyle/>
          <a:p>
            <a:pPr marL="0" indent="0">
              <a:buNone/>
            </a:pPr>
            <a:r>
              <a:rPr lang="en-US" dirty="0"/>
              <a:t>Dropbox enabled immediate consistency via synchronization in many cases.</a:t>
            </a:r>
          </a:p>
          <a:p>
            <a:pPr marL="0" indent="0">
              <a:buNone/>
            </a:pPr>
            <a:r>
              <a:rPr lang="en-US" dirty="0"/>
              <a:t>However, what happens in case of a network partition? </a:t>
            </a:r>
          </a:p>
        </p:txBody>
      </p:sp>
      <p:pic>
        <p:nvPicPr>
          <p:cNvPr id="10" name="Picture 9"/>
          <p:cNvPicPr>
            <a:picLocks noChangeAspect="1"/>
          </p:cNvPicPr>
          <p:nvPr/>
        </p:nvPicPr>
        <p:blipFill>
          <a:blip r:embed="rId2"/>
          <a:stretch>
            <a:fillRect/>
          </a:stretch>
        </p:blipFill>
        <p:spPr>
          <a:xfrm>
            <a:off x="7514299" y="3959820"/>
            <a:ext cx="2348508" cy="2348508"/>
          </a:xfrm>
          <a:prstGeom prst="rect">
            <a:avLst/>
          </a:prstGeom>
        </p:spPr>
      </p:pic>
      <p:pic>
        <p:nvPicPr>
          <p:cNvPr id="11" name="Picture 10"/>
          <p:cNvPicPr>
            <a:picLocks noChangeAspect="1"/>
          </p:cNvPicPr>
          <p:nvPr/>
        </p:nvPicPr>
        <p:blipFill>
          <a:blip r:embed="rId3"/>
          <a:stretch>
            <a:fillRect/>
          </a:stretch>
        </p:blipFill>
        <p:spPr>
          <a:xfrm>
            <a:off x="2220405" y="3959823"/>
            <a:ext cx="2793913" cy="2567057"/>
          </a:xfrm>
          <a:prstGeom prst="rect">
            <a:avLst/>
          </a:prstGeom>
        </p:spPr>
      </p:pic>
      <p:pic>
        <p:nvPicPr>
          <p:cNvPr id="12" name="Picture 11"/>
          <p:cNvPicPr>
            <a:picLocks noChangeAspect="1"/>
          </p:cNvPicPr>
          <p:nvPr/>
        </p:nvPicPr>
        <p:blipFill>
          <a:blip r:embed="rId4"/>
          <a:stretch>
            <a:fillRect/>
          </a:stretch>
        </p:blipFill>
        <p:spPr>
          <a:xfrm>
            <a:off x="5571199" y="4164641"/>
            <a:ext cx="1605227" cy="1605227"/>
          </a:xfrm>
          <a:prstGeom prst="rect">
            <a:avLst/>
          </a:prstGeom>
        </p:spPr>
      </p:pic>
    </p:spTree>
    <p:extLst>
      <p:ext uri="{BB962C8B-B14F-4D97-AF65-F5344CB8AC3E}">
        <p14:creationId xmlns:p14="http://schemas.microsoft.com/office/powerpoint/2010/main" val="570628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a:t>
            </a:r>
            <a:r>
              <a:rPr lang="en-US" err="1">
                <a:solidFill>
                  <a:schemeClr val="accent1"/>
                </a:solidFill>
              </a:rPr>
              <a:t>Dropbox</a:t>
            </a:r>
            <a:r>
              <a:rPr lang="en-US">
                <a:solidFill>
                  <a:schemeClr val="accent1"/>
                </a:solidFill>
              </a:rPr>
              <a:t> Example</a:t>
            </a:r>
          </a:p>
        </p:txBody>
      </p:sp>
      <p:sp>
        <p:nvSpPr>
          <p:cNvPr id="3" name="Content Placeholder 2"/>
          <p:cNvSpPr>
            <a:spLocks noGrp="1"/>
          </p:cNvSpPr>
          <p:nvPr>
            <p:ph idx="1"/>
          </p:nvPr>
        </p:nvSpPr>
        <p:spPr/>
        <p:txBody>
          <a:bodyPr>
            <a:normAutofit/>
          </a:bodyPr>
          <a:lstStyle/>
          <a:p>
            <a:pPr marL="0" indent="0">
              <a:buNone/>
            </a:pPr>
            <a:r>
              <a:rPr lang="en-US" dirty="0"/>
              <a:t>Let’s do a simple experiment here:</a:t>
            </a:r>
          </a:p>
          <a:p>
            <a:pPr lvl="1"/>
            <a:r>
              <a:rPr lang="en-US" dirty="0"/>
              <a:t>Open a file in your drop box</a:t>
            </a:r>
          </a:p>
          <a:p>
            <a:pPr lvl="1"/>
            <a:r>
              <a:rPr lang="en-US" dirty="0"/>
              <a:t>Disable your network connection (e.g., </a:t>
            </a:r>
            <a:r>
              <a:rPr lang="en-US" dirty="0" err="1"/>
              <a:t>WiFi</a:t>
            </a:r>
            <a:r>
              <a:rPr lang="en-US" dirty="0"/>
              <a:t>, 4G) </a:t>
            </a:r>
          </a:p>
          <a:p>
            <a:pPr lvl="1"/>
            <a:r>
              <a:rPr lang="en-US" dirty="0"/>
              <a:t>Try to edit the file in the drop box: can you do that?</a:t>
            </a:r>
          </a:p>
          <a:p>
            <a:pPr lvl="1"/>
            <a:r>
              <a:rPr lang="en-US" dirty="0"/>
              <a:t>Re-enable your network connection: what happens to your </a:t>
            </a:r>
            <a:r>
              <a:rPr lang="en-US" dirty="0" err="1"/>
              <a:t>dropbox</a:t>
            </a:r>
            <a:r>
              <a:rPr lang="en-US" dirty="0"/>
              <a:t> folder?</a:t>
            </a:r>
          </a:p>
        </p:txBody>
      </p:sp>
    </p:spTree>
    <p:extLst>
      <p:ext uri="{BB962C8B-B14F-4D97-AF65-F5344CB8AC3E}">
        <p14:creationId xmlns:p14="http://schemas.microsoft.com/office/powerpoint/2010/main" val="2499862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 </a:t>
            </a:r>
            <a:r>
              <a:rPr lang="en-US" err="1">
                <a:solidFill>
                  <a:schemeClr val="accent1"/>
                </a:solidFill>
              </a:rPr>
              <a:t>Dropbox</a:t>
            </a:r>
            <a:r>
              <a:rPr lang="en-US">
                <a:solidFill>
                  <a:schemeClr val="accent1"/>
                </a:solidFill>
              </a:rPr>
              <a:t> Example</a:t>
            </a:r>
          </a:p>
        </p:txBody>
      </p:sp>
      <p:sp>
        <p:nvSpPr>
          <p:cNvPr id="3" name="Content Placeholder 2"/>
          <p:cNvSpPr>
            <a:spLocks noGrp="1"/>
          </p:cNvSpPr>
          <p:nvPr>
            <p:ph idx="1"/>
          </p:nvPr>
        </p:nvSpPr>
        <p:spPr/>
        <p:txBody>
          <a:bodyPr>
            <a:normAutofit/>
          </a:bodyPr>
          <a:lstStyle/>
          <a:p>
            <a:pPr marL="0" indent="0">
              <a:buNone/>
            </a:pPr>
            <a:r>
              <a:rPr lang="en-US" dirty="0"/>
              <a:t>Dropbox embraces eventual consistency:</a:t>
            </a:r>
          </a:p>
          <a:p>
            <a:pPr lvl="1"/>
            <a:r>
              <a:rPr lang="en-US" dirty="0"/>
              <a:t>Immediate consistency is impossible in case of a network partition</a:t>
            </a:r>
          </a:p>
          <a:p>
            <a:pPr lvl="1"/>
            <a:r>
              <a:rPr lang="en-US" dirty="0"/>
              <a:t>Users will feel bad if their word documents freeze each time they hit </a:t>
            </a:r>
            <a:r>
              <a:rPr lang="en-US" dirty="0" err="1"/>
              <a:t>Ctrl+S</a:t>
            </a:r>
            <a:r>
              <a:rPr lang="en-US" dirty="0"/>
              <a:t> , simply due to the large latency to update all devices across WAN </a:t>
            </a:r>
          </a:p>
          <a:p>
            <a:pPr lvl="1"/>
            <a:r>
              <a:rPr lang="en-US" dirty="0"/>
              <a:t>Dropbox is oriented to </a:t>
            </a:r>
            <a:r>
              <a:rPr lang="en-US" b="1" dirty="0"/>
              <a:t>personal syncing</a:t>
            </a:r>
            <a:r>
              <a:rPr lang="en-US" dirty="0"/>
              <a:t>, not on collaboration, so it is not a real limitation.</a:t>
            </a:r>
          </a:p>
        </p:txBody>
      </p:sp>
    </p:spTree>
    <p:extLst>
      <p:ext uri="{BB962C8B-B14F-4D97-AF65-F5344CB8AC3E}">
        <p14:creationId xmlns:p14="http://schemas.microsoft.com/office/powerpoint/2010/main" val="1023800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24438"/>
            <a:ext cx="8229600" cy="1143000"/>
          </a:xfrm>
        </p:spPr>
        <p:txBody>
          <a:bodyPr>
            <a:normAutofit fontScale="90000"/>
          </a:bodyPr>
          <a:lstStyle/>
          <a:p>
            <a:r>
              <a:rPr lang="en-US">
                <a:solidFill>
                  <a:schemeClr val="accent1"/>
                </a:solidFill>
              </a:rPr>
              <a:t>Eventual Consistency</a:t>
            </a:r>
            <a:br>
              <a:rPr lang="en-US">
                <a:solidFill>
                  <a:schemeClr val="accent1"/>
                </a:solidFill>
              </a:rPr>
            </a:br>
            <a:r>
              <a:rPr lang="en-US">
                <a:solidFill>
                  <a:schemeClr val="accent1"/>
                </a:solidFill>
              </a:rPr>
              <a:t>- An ATM Example</a:t>
            </a:r>
          </a:p>
        </p:txBody>
      </p:sp>
      <p:sp>
        <p:nvSpPr>
          <p:cNvPr id="3" name="Content Placeholder 2"/>
          <p:cNvSpPr>
            <a:spLocks noGrp="1"/>
          </p:cNvSpPr>
          <p:nvPr>
            <p:ph idx="1"/>
          </p:nvPr>
        </p:nvSpPr>
        <p:spPr>
          <a:xfrm>
            <a:off x="555171" y="1390330"/>
            <a:ext cx="10580915" cy="4525963"/>
          </a:xfrm>
        </p:spPr>
        <p:txBody>
          <a:bodyPr>
            <a:normAutofit/>
          </a:bodyPr>
          <a:lstStyle/>
          <a:p>
            <a:pPr marL="0" indent="0">
              <a:buNone/>
            </a:pPr>
            <a:r>
              <a:rPr lang="en-US" sz="2800" dirty="0"/>
              <a:t>In design of automated teller machine (ATM):</a:t>
            </a:r>
          </a:p>
          <a:p>
            <a:pPr lvl="1"/>
            <a:r>
              <a:rPr lang="en-US" sz="2400" dirty="0"/>
              <a:t>Strong consistency appear to be a nature choice</a:t>
            </a:r>
          </a:p>
          <a:p>
            <a:pPr lvl="1"/>
            <a:r>
              <a:rPr lang="en-US" sz="2400" dirty="0"/>
              <a:t>However, in practice, </a:t>
            </a:r>
            <a:r>
              <a:rPr lang="en-US" sz="2400" b="1" dirty="0"/>
              <a:t>A beats C</a:t>
            </a:r>
          </a:p>
          <a:p>
            <a:pPr lvl="1"/>
            <a:r>
              <a:rPr lang="en-US" sz="2400" dirty="0"/>
              <a:t>Higher availability means </a:t>
            </a:r>
            <a:r>
              <a:rPr lang="en-US" sz="2400" b="1" dirty="0"/>
              <a:t>higher revenue</a:t>
            </a:r>
          </a:p>
          <a:p>
            <a:pPr lvl="1"/>
            <a:r>
              <a:rPr lang="en-US" sz="2400" dirty="0"/>
              <a:t>ATM will allow you to withdraw money </a:t>
            </a:r>
            <a:r>
              <a:rPr lang="en-US" sz="2400" i="1" dirty="0"/>
              <a:t>even if the machine is partitioned from the network</a:t>
            </a:r>
          </a:p>
          <a:p>
            <a:pPr lvl="1"/>
            <a:r>
              <a:rPr lang="en-US" sz="2400" dirty="0"/>
              <a:t>However, it puts </a:t>
            </a:r>
            <a:r>
              <a:rPr lang="en-US" sz="2400" b="1" dirty="0"/>
              <a:t>a limit </a:t>
            </a:r>
            <a:r>
              <a:rPr lang="en-US" sz="2400" dirty="0"/>
              <a:t>on the amount of withdraw (e.g., 100 EUR)</a:t>
            </a:r>
          </a:p>
          <a:p>
            <a:pPr lvl="1"/>
            <a:r>
              <a:rPr lang="en-US" sz="2400" dirty="0"/>
              <a:t>The bank might also charge you a fee when a overdraft happens</a:t>
            </a:r>
          </a:p>
          <a:p>
            <a:pPr marL="0" indent="0">
              <a:buNone/>
            </a:pPr>
            <a:endParaRPr lang="en-US" dirty="0"/>
          </a:p>
        </p:txBody>
      </p:sp>
      <p:pic>
        <p:nvPicPr>
          <p:cNvPr id="4" name="Picture 3"/>
          <p:cNvPicPr>
            <a:picLocks noChangeAspect="1"/>
          </p:cNvPicPr>
          <p:nvPr/>
        </p:nvPicPr>
        <p:blipFill>
          <a:blip r:embed="rId2"/>
          <a:stretch>
            <a:fillRect/>
          </a:stretch>
        </p:blipFill>
        <p:spPr>
          <a:xfrm>
            <a:off x="6532088" y="5230427"/>
            <a:ext cx="2625285" cy="1371732"/>
          </a:xfrm>
          <a:prstGeom prst="rect">
            <a:avLst/>
          </a:prstGeom>
        </p:spPr>
      </p:pic>
    </p:spTree>
    <p:extLst>
      <p:ext uri="{BB962C8B-B14F-4D97-AF65-F5344CB8AC3E}">
        <p14:creationId xmlns:p14="http://schemas.microsoft.com/office/powerpoint/2010/main" val="229321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olidFill>
                  <a:schemeClr val="accent1"/>
                </a:solidFill>
              </a:rPr>
              <a:t>Dynamic Tradeoff between </a:t>
            </a:r>
            <a:r>
              <a:rPr lang="en-US" b="1">
                <a:solidFill>
                  <a:schemeClr val="accent1"/>
                </a:solidFill>
              </a:rPr>
              <a:t>C</a:t>
            </a:r>
            <a:r>
              <a:rPr lang="en-US">
                <a:solidFill>
                  <a:schemeClr val="accent1"/>
                </a:solidFill>
              </a:rPr>
              <a:t> and </a:t>
            </a:r>
            <a:r>
              <a:rPr lang="en-US" b="1">
                <a:solidFill>
                  <a:schemeClr val="accent1"/>
                </a:solidFill>
              </a:rPr>
              <a:t>A</a:t>
            </a:r>
          </a:p>
        </p:txBody>
      </p:sp>
      <p:sp>
        <p:nvSpPr>
          <p:cNvPr id="3" name="Content Placeholder 2"/>
          <p:cNvSpPr>
            <a:spLocks noGrp="1"/>
          </p:cNvSpPr>
          <p:nvPr>
            <p:ph idx="1"/>
          </p:nvPr>
        </p:nvSpPr>
        <p:spPr/>
        <p:txBody>
          <a:bodyPr>
            <a:normAutofit/>
          </a:bodyPr>
          <a:lstStyle/>
          <a:p>
            <a:pPr marL="0" indent="0">
              <a:buNone/>
            </a:pPr>
            <a:r>
              <a:rPr lang="en-US" dirty="0"/>
              <a:t>An airline reservation system:</a:t>
            </a:r>
          </a:p>
          <a:p>
            <a:pPr lvl="1"/>
            <a:r>
              <a:rPr lang="en-US" dirty="0"/>
              <a:t>When most of seats are available: it is ok to rely on somewhat out-of-date data, availability is more critical</a:t>
            </a:r>
          </a:p>
          <a:p>
            <a:pPr lvl="1"/>
            <a:r>
              <a:rPr lang="en-US" dirty="0"/>
              <a:t>When the plane is close to be filled: it needs more accurate data to ensure the plane is not overbooked, consistency is more critical</a:t>
            </a:r>
          </a:p>
          <a:p>
            <a:pPr marL="0" indent="0">
              <a:buNone/>
            </a:pPr>
            <a:r>
              <a:rPr lang="en-US" dirty="0"/>
              <a:t>Neither strong consistency nor guaranteed availability, but it may significantly increase the tolerance of network disruption</a:t>
            </a:r>
          </a:p>
        </p:txBody>
      </p:sp>
    </p:spTree>
    <p:extLst>
      <p:ext uri="{BB962C8B-B14F-4D97-AF65-F5344CB8AC3E}">
        <p14:creationId xmlns:p14="http://schemas.microsoft.com/office/powerpoint/2010/main" val="1990595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olidFill>
                  <a:schemeClr val="accent1"/>
                </a:solidFill>
              </a:rPr>
              <a:t>Heterogeneity: Segmenting </a:t>
            </a:r>
            <a:r>
              <a:rPr lang="en-US" b="1">
                <a:solidFill>
                  <a:schemeClr val="accent1"/>
                </a:solidFill>
              </a:rPr>
              <a:t>C</a:t>
            </a:r>
            <a:r>
              <a:rPr lang="en-US">
                <a:solidFill>
                  <a:schemeClr val="accent1"/>
                </a:solidFill>
              </a:rPr>
              <a:t> and </a:t>
            </a:r>
            <a:r>
              <a:rPr lang="en-US" b="1">
                <a:solidFill>
                  <a:schemeClr val="accent1"/>
                </a:solidFill>
              </a:rPr>
              <a:t>A</a:t>
            </a:r>
          </a:p>
        </p:txBody>
      </p:sp>
      <p:sp>
        <p:nvSpPr>
          <p:cNvPr id="3" name="Content Placeholder 2"/>
          <p:cNvSpPr>
            <a:spLocks noGrp="1"/>
          </p:cNvSpPr>
          <p:nvPr>
            <p:ph idx="1"/>
          </p:nvPr>
        </p:nvSpPr>
        <p:spPr/>
        <p:txBody>
          <a:bodyPr>
            <a:normAutofit/>
          </a:bodyPr>
          <a:lstStyle/>
          <a:p>
            <a:pPr marL="0" indent="0">
              <a:buNone/>
            </a:pPr>
            <a:r>
              <a:rPr lang="en-US" b="1" dirty="0"/>
              <a:t>No single uniform requirement</a:t>
            </a:r>
          </a:p>
          <a:p>
            <a:pPr lvl="1"/>
            <a:r>
              <a:rPr lang="en-US" dirty="0"/>
              <a:t>Some aspects require strong consistency</a:t>
            </a:r>
          </a:p>
          <a:p>
            <a:pPr lvl="1"/>
            <a:r>
              <a:rPr lang="en-US" dirty="0"/>
              <a:t>Others require high availability</a:t>
            </a:r>
          </a:p>
          <a:p>
            <a:pPr marL="0" indent="0">
              <a:buNone/>
            </a:pPr>
            <a:r>
              <a:rPr lang="en-US" b="1" dirty="0"/>
              <a:t>Segment the system into different components</a:t>
            </a:r>
          </a:p>
          <a:p>
            <a:pPr lvl="1"/>
            <a:r>
              <a:rPr lang="en-US" dirty="0"/>
              <a:t>Each provides different types of guarantees </a:t>
            </a:r>
          </a:p>
          <a:p>
            <a:pPr marL="0" indent="0">
              <a:buNone/>
            </a:pPr>
            <a:r>
              <a:rPr lang="en-US" b="1" dirty="0"/>
              <a:t>Overall guarantees neither consistency nor availability</a:t>
            </a:r>
          </a:p>
          <a:p>
            <a:pPr lvl="1"/>
            <a:r>
              <a:rPr lang="en-US" dirty="0"/>
              <a:t>Each part of the service gets exactly what it needs 	</a:t>
            </a:r>
          </a:p>
          <a:p>
            <a:pPr marL="0" indent="0">
              <a:buNone/>
            </a:pPr>
            <a:r>
              <a:rPr lang="en-US" b="1" dirty="0"/>
              <a:t>Can be partitioned along different dimensions</a:t>
            </a:r>
          </a:p>
          <a:p>
            <a:endParaRPr lang="en-US" dirty="0"/>
          </a:p>
        </p:txBody>
      </p:sp>
    </p:spTree>
    <p:extLst>
      <p:ext uri="{BB962C8B-B14F-4D97-AF65-F5344CB8AC3E}">
        <p14:creationId xmlns:p14="http://schemas.microsoft.com/office/powerpoint/2010/main" val="12655620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lstStyle/>
          <a:p>
            <a:r>
              <a:rPr lang="en-US"/>
              <a:t>Data Partitioning</a:t>
            </a:r>
          </a:p>
          <a:p>
            <a:r>
              <a:rPr lang="en-US"/>
              <a:t>Operational Partitioning</a:t>
            </a:r>
          </a:p>
          <a:p>
            <a:r>
              <a:rPr lang="en-US"/>
              <a:t>Functional Partitioning</a:t>
            </a:r>
          </a:p>
          <a:p>
            <a:r>
              <a:rPr lang="en-US"/>
              <a:t>User Partitioning</a:t>
            </a:r>
          </a:p>
          <a:p>
            <a:r>
              <a:rPr lang="en-US"/>
              <a:t>Hierarchical Partitioning</a:t>
            </a:r>
          </a:p>
        </p:txBody>
      </p:sp>
    </p:spTree>
    <p:extLst>
      <p:ext uri="{BB962C8B-B14F-4D97-AF65-F5344CB8AC3E}">
        <p14:creationId xmlns:p14="http://schemas.microsoft.com/office/powerpoint/2010/main" val="12077076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normAutofit/>
          </a:bodyPr>
          <a:lstStyle/>
          <a:p>
            <a:pPr marL="0" indent="0">
              <a:buNone/>
            </a:pPr>
            <a:r>
              <a:rPr lang="en-US" dirty="0"/>
              <a:t>Data Partitioning</a:t>
            </a:r>
          </a:p>
          <a:p>
            <a:pPr lvl="1"/>
            <a:r>
              <a:rPr lang="en-US" dirty="0"/>
              <a:t>Different data may require different consistency and availability</a:t>
            </a:r>
          </a:p>
          <a:p>
            <a:pPr lvl="1"/>
            <a:r>
              <a:rPr lang="en-US" dirty="0"/>
              <a:t>Example:</a:t>
            </a:r>
          </a:p>
          <a:p>
            <a:pPr lvl="2"/>
            <a:r>
              <a:rPr lang="en-US" dirty="0"/>
              <a:t>Shopping cart: high availability, responsive, can sometimes suffer anomalies</a:t>
            </a:r>
          </a:p>
          <a:p>
            <a:pPr lvl="2"/>
            <a:r>
              <a:rPr lang="en-US" dirty="0"/>
              <a:t>Product information need to be available, slight variation in inventory is sufferable</a:t>
            </a:r>
          </a:p>
          <a:p>
            <a:pPr lvl="2"/>
            <a:r>
              <a:rPr lang="en-US" dirty="0"/>
              <a:t>Checkout, billing, shipping records must be consistent</a:t>
            </a:r>
          </a:p>
        </p:txBody>
      </p:sp>
    </p:spTree>
    <p:extLst>
      <p:ext uri="{BB962C8B-B14F-4D97-AF65-F5344CB8AC3E}">
        <p14:creationId xmlns:p14="http://schemas.microsoft.com/office/powerpoint/2010/main" val="1740099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normAutofit/>
          </a:bodyPr>
          <a:lstStyle/>
          <a:p>
            <a:pPr marL="0" indent="0">
              <a:buNone/>
            </a:pPr>
            <a:r>
              <a:rPr lang="en-US"/>
              <a:t>Operational Partitioning</a:t>
            </a:r>
          </a:p>
          <a:p>
            <a:pPr>
              <a:buFontTx/>
              <a:buChar char="•"/>
            </a:pPr>
            <a:r>
              <a:rPr lang="en-US"/>
              <a:t>Each operation may require different balance between consistency and availability</a:t>
            </a:r>
          </a:p>
          <a:p>
            <a:pPr>
              <a:buFontTx/>
              <a:buChar char="•"/>
            </a:pPr>
            <a:r>
              <a:rPr lang="en-US"/>
              <a:t>Example:</a:t>
            </a:r>
          </a:p>
          <a:p>
            <a:pPr lvl="1">
              <a:buFontTx/>
              <a:buChar char="•"/>
            </a:pPr>
            <a:r>
              <a:rPr lang="en-US"/>
              <a:t>Reads: high availability; e.g.., “query”</a:t>
            </a:r>
          </a:p>
          <a:p>
            <a:pPr lvl="1">
              <a:buFontTx/>
              <a:buChar char="•"/>
            </a:pPr>
            <a:r>
              <a:rPr lang="en-US"/>
              <a:t>Writes: high consistency, lock when writing; e.g., “purchase”</a:t>
            </a:r>
          </a:p>
        </p:txBody>
      </p:sp>
    </p:spTree>
    <p:extLst>
      <p:ext uri="{BB962C8B-B14F-4D97-AF65-F5344CB8AC3E}">
        <p14:creationId xmlns:p14="http://schemas.microsoft.com/office/powerpoint/2010/main" val="40806935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normAutofit/>
          </a:bodyPr>
          <a:lstStyle/>
          <a:p>
            <a:pPr marL="0" indent="0">
              <a:buNone/>
            </a:pPr>
            <a:r>
              <a:rPr lang="en-US"/>
              <a:t>Functional Partitioning</a:t>
            </a:r>
          </a:p>
          <a:p>
            <a:pPr>
              <a:buFontTx/>
              <a:buChar char="•"/>
            </a:pPr>
            <a:r>
              <a:rPr lang="en-US"/>
              <a:t>System consists of sub-services</a:t>
            </a:r>
          </a:p>
          <a:p>
            <a:pPr>
              <a:buFontTx/>
              <a:buChar char="•"/>
            </a:pPr>
            <a:r>
              <a:rPr lang="en-US"/>
              <a:t>Different sub-services provide different balances</a:t>
            </a:r>
          </a:p>
          <a:p>
            <a:r>
              <a:rPr lang="en-US"/>
              <a:t>Example: A comprehensive distributed system</a:t>
            </a:r>
          </a:p>
          <a:p>
            <a:pPr lvl="1"/>
            <a:r>
              <a:rPr lang="en-US"/>
              <a:t>Distributed lock service (e.g., Chubby, Zookeeper) :</a:t>
            </a:r>
          </a:p>
          <a:p>
            <a:pPr lvl="2"/>
            <a:r>
              <a:rPr lang="en-US"/>
              <a:t>Strong consistency</a:t>
            </a:r>
          </a:p>
          <a:p>
            <a:pPr lvl="1"/>
            <a:r>
              <a:rPr lang="en-US"/>
              <a:t>DNS service:</a:t>
            </a:r>
          </a:p>
          <a:p>
            <a:pPr lvl="2"/>
            <a:r>
              <a:rPr lang="en-US"/>
              <a:t>High availability</a:t>
            </a:r>
          </a:p>
        </p:txBody>
      </p:sp>
    </p:spTree>
    <p:extLst>
      <p:ext uri="{BB962C8B-B14F-4D97-AF65-F5344CB8AC3E}">
        <p14:creationId xmlns:p14="http://schemas.microsoft.com/office/powerpoint/2010/main" val="3655664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normAutofit/>
          </a:bodyPr>
          <a:lstStyle/>
          <a:p>
            <a:pPr marL="0" indent="0">
              <a:buNone/>
            </a:pPr>
            <a:r>
              <a:rPr lang="en-US"/>
              <a:t>User Partitioning</a:t>
            </a:r>
          </a:p>
          <a:p>
            <a:pPr>
              <a:buFontTx/>
              <a:buChar char="•"/>
            </a:pPr>
            <a:r>
              <a:rPr lang="en-US"/>
              <a:t>Try to keep related data close together to assure better performance</a:t>
            </a:r>
          </a:p>
          <a:p>
            <a:r>
              <a:rPr lang="en-US"/>
              <a:t>Example: </a:t>
            </a:r>
            <a:r>
              <a:rPr lang="en-US" err="1"/>
              <a:t>Craglist</a:t>
            </a:r>
            <a:endParaRPr lang="en-US"/>
          </a:p>
          <a:p>
            <a:pPr lvl="1"/>
            <a:r>
              <a:rPr lang="en-US"/>
              <a:t>Might want to divide its service into several data centers,  e.g., east coast and west coast</a:t>
            </a:r>
          </a:p>
          <a:p>
            <a:pPr lvl="2"/>
            <a:r>
              <a:rPr lang="en-US"/>
              <a:t>Users get high performance (e.g., high availability and good consistency) if they query servers closet to them</a:t>
            </a:r>
          </a:p>
          <a:p>
            <a:pPr lvl="2"/>
            <a:r>
              <a:rPr lang="en-US"/>
              <a:t>Poorer performance if a New York user query </a:t>
            </a:r>
            <a:r>
              <a:rPr lang="en-US" err="1"/>
              <a:t>Craglist</a:t>
            </a:r>
            <a:r>
              <a:rPr lang="en-US"/>
              <a:t> in San Francisco</a:t>
            </a:r>
          </a:p>
        </p:txBody>
      </p:sp>
    </p:spTree>
    <p:extLst>
      <p:ext uri="{BB962C8B-B14F-4D97-AF65-F5344CB8AC3E}">
        <p14:creationId xmlns:p14="http://schemas.microsoft.com/office/powerpoint/2010/main" val="35191196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Partitioning Examples</a:t>
            </a:r>
          </a:p>
        </p:txBody>
      </p:sp>
      <p:sp>
        <p:nvSpPr>
          <p:cNvPr id="3" name="Content Placeholder 2"/>
          <p:cNvSpPr>
            <a:spLocks noGrp="1"/>
          </p:cNvSpPr>
          <p:nvPr>
            <p:ph idx="1"/>
          </p:nvPr>
        </p:nvSpPr>
        <p:spPr/>
        <p:txBody>
          <a:bodyPr>
            <a:normAutofit/>
          </a:bodyPr>
          <a:lstStyle/>
          <a:p>
            <a:pPr marL="0" indent="0">
              <a:buNone/>
            </a:pPr>
            <a:r>
              <a:rPr lang="en-US"/>
              <a:t>Hierarchical Partitioning</a:t>
            </a:r>
          </a:p>
          <a:p>
            <a:pPr>
              <a:buFontTx/>
              <a:buChar char="•"/>
            </a:pPr>
            <a:r>
              <a:rPr lang="en-US"/>
              <a:t>Large global service with local “extensions”</a:t>
            </a:r>
          </a:p>
          <a:p>
            <a:r>
              <a:rPr lang="en-US"/>
              <a:t>Different location in hierarchy may use different consistency</a:t>
            </a:r>
          </a:p>
          <a:p>
            <a:r>
              <a:rPr lang="en-US"/>
              <a:t>Example: </a:t>
            </a:r>
          </a:p>
          <a:p>
            <a:pPr lvl="1"/>
            <a:r>
              <a:rPr lang="en-US"/>
              <a:t>Local servers (better connected) guarantee more consistency and availability</a:t>
            </a:r>
          </a:p>
          <a:p>
            <a:pPr lvl="1"/>
            <a:r>
              <a:rPr lang="en-US"/>
              <a:t>Global servers has more partition and relax one of the requirement</a:t>
            </a:r>
          </a:p>
        </p:txBody>
      </p:sp>
    </p:spTree>
    <p:extLst>
      <p:ext uri="{BB962C8B-B14F-4D97-AF65-F5344CB8AC3E}">
        <p14:creationId xmlns:p14="http://schemas.microsoft.com/office/powerpoint/2010/main" val="39052498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accent1"/>
                </a:solidFill>
              </a:rPr>
              <a:t>What if there are no partitions?</a:t>
            </a:r>
          </a:p>
        </p:txBody>
      </p:sp>
      <p:sp>
        <p:nvSpPr>
          <p:cNvPr id="3" name="Content Placeholder 2"/>
          <p:cNvSpPr>
            <a:spLocks noGrp="1"/>
          </p:cNvSpPr>
          <p:nvPr>
            <p:ph idx="1"/>
          </p:nvPr>
        </p:nvSpPr>
        <p:spPr>
          <a:xfrm>
            <a:off x="620485" y="1600200"/>
            <a:ext cx="10972799" cy="4936958"/>
          </a:xfrm>
        </p:spPr>
        <p:txBody>
          <a:bodyPr>
            <a:normAutofit/>
          </a:bodyPr>
          <a:lstStyle/>
          <a:p>
            <a:r>
              <a:rPr lang="en-US" dirty="0"/>
              <a:t>Tradeoff between </a:t>
            </a:r>
            <a:r>
              <a:rPr lang="en-US" b="1" dirty="0"/>
              <a:t>Consistency</a:t>
            </a:r>
            <a:r>
              <a:rPr lang="en-US" dirty="0"/>
              <a:t> and </a:t>
            </a:r>
            <a:r>
              <a:rPr lang="en-US" b="1" dirty="0"/>
              <a:t>Latency</a:t>
            </a:r>
            <a:r>
              <a:rPr lang="en-US" dirty="0"/>
              <a:t>:</a:t>
            </a:r>
          </a:p>
          <a:p>
            <a:r>
              <a:rPr lang="en-US" dirty="0"/>
              <a:t>Caused by the </a:t>
            </a:r>
            <a:r>
              <a:rPr lang="en-US" b="1" dirty="0"/>
              <a:t>possibility of failure </a:t>
            </a:r>
            <a:r>
              <a:rPr lang="en-US" dirty="0"/>
              <a:t>in distributed systems</a:t>
            </a:r>
          </a:p>
          <a:p>
            <a:pPr lvl="1"/>
            <a:r>
              <a:rPr lang="en-US" dirty="0"/>
              <a:t>High availability -&gt; replicate data -&gt; consistency problem</a:t>
            </a:r>
          </a:p>
          <a:p>
            <a:r>
              <a:rPr lang="en-US" dirty="0"/>
              <a:t>Basic idea:</a:t>
            </a:r>
          </a:p>
          <a:p>
            <a:pPr lvl="1"/>
            <a:r>
              <a:rPr lang="en-US" dirty="0"/>
              <a:t>Availability and latency are arguably </a:t>
            </a:r>
            <a:r>
              <a:rPr lang="en-US" b="1" dirty="0"/>
              <a:t>the same thing</a:t>
            </a:r>
            <a:r>
              <a:rPr lang="en-US" dirty="0"/>
              <a:t>: unavailable -&gt; extreme high latency</a:t>
            </a:r>
          </a:p>
          <a:p>
            <a:pPr lvl="1"/>
            <a:r>
              <a:rPr lang="en-US" dirty="0"/>
              <a:t>Achieving different levels of consistency/availability takes different amount of time</a:t>
            </a:r>
            <a:endParaRPr lang="en-US" b="1" dirty="0"/>
          </a:p>
          <a:p>
            <a:endParaRPr lang="en-US" dirty="0"/>
          </a:p>
        </p:txBody>
      </p:sp>
    </p:spTree>
    <p:extLst>
      <p:ext uri="{BB962C8B-B14F-4D97-AF65-F5344CB8AC3E}">
        <p14:creationId xmlns:p14="http://schemas.microsoft.com/office/powerpoint/2010/main" val="37688922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CAP -&gt; PACELC</a:t>
            </a:r>
          </a:p>
        </p:txBody>
      </p:sp>
      <p:sp>
        <p:nvSpPr>
          <p:cNvPr id="3" name="Content Placeholder 2"/>
          <p:cNvSpPr>
            <a:spLocks noGrp="1"/>
          </p:cNvSpPr>
          <p:nvPr>
            <p:ph idx="1"/>
          </p:nvPr>
        </p:nvSpPr>
        <p:spPr/>
        <p:txBody>
          <a:bodyPr>
            <a:normAutofit/>
          </a:bodyPr>
          <a:lstStyle/>
          <a:p>
            <a:pPr marL="0" indent="0">
              <a:buNone/>
            </a:pPr>
            <a:r>
              <a:rPr lang="en-US" sz="2800" dirty="0"/>
              <a:t>A more complete description of the space of potential tradeoffs for distributed system:</a:t>
            </a:r>
          </a:p>
          <a:p>
            <a:pPr marL="0" indent="0">
              <a:buNone/>
            </a:pPr>
            <a:endParaRPr lang="en-US" sz="2800" dirty="0"/>
          </a:p>
          <a:p>
            <a:pPr marL="457200" lvl="1" indent="0">
              <a:buNone/>
            </a:pPr>
            <a:r>
              <a:rPr lang="en-US" sz="2400" dirty="0"/>
              <a:t>If there is a </a:t>
            </a:r>
            <a:r>
              <a:rPr lang="en-US" sz="2400" b="1" dirty="0"/>
              <a:t>partition (P)</a:t>
            </a:r>
            <a:r>
              <a:rPr lang="en-US" sz="2400" dirty="0"/>
              <a:t>, how does the system trade off </a:t>
            </a:r>
            <a:r>
              <a:rPr lang="en-US" sz="2400" b="1" dirty="0"/>
              <a:t>availability and consistency (A and C)</a:t>
            </a:r>
            <a:r>
              <a:rPr lang="en-US" sz="2400" dirty="0"/>
              <a:t>; </a:t>
            </a:r>
            <a:r>
              <a:rPr lang="en-US" sz="2400" b="1" dirty="0"/>
              <a:t>else (E)</a:t>
            </a:r>
            <a:r>
              <a:rPr lang="en-US" sz="2400" dirty="0"/>
              <a:t>, when the system is running normally in the absence of partitions, how does the system trade off </a:t>
            </a:r>
            <a:r>
              <a:rPr lang="en-US" sz="2400" b="1" dirty="0"/>
              <a:t>latency (L) and consistency (C)</a:t>
            </a:r>
            <a:r>
              <a:rPr lang="en-US" sz="2400" dirty="0"/>
              <a:t>?</a:t>
            </a:r>
          </a:p>
        </p:txBody>
      </p:sp>
      <p:sp>
        <p:nvSpPr>
          <p:cNvPr id="4" name="TextBox 3"/>
          <p:cNvSpPr txBox="1"/>
          <p:nvPr/>
        </p:nvSpPr>
        <p:spPr>
          <a:xfrm>
            <a:off x="2057399" y="4549913"/>
            <a:ext cx="8284029" cy="707886"/>
          </a:xfrm>
          <a:prstGeom prst="rect">
            <a:avLst/>
          </a:prstGeom>
          <a:noFill/>
        </p:spPr>
        <p:txBody>
          <a:bodyPr wrap="square" rtlCol="0">
            <a:spAutoFit/>
          </a:bodyPr>
          <a:lstStyle/>
          <a:p>
            <a:r>
              <a:rPr lang="en-US" sz="2000" dirty="0"/>
              <a:t>Abadi, Daniel J. "Consistency tradeoffs in modern distributed database system design." Computer-IEEE Computer Magazine 45.2 (2012): 37.</a:t>
            </a:r>
          </a:p>
        </p:txBody>
      </p:sp>
    </p:spTree>
    <p:extLst>
      <p:ext uri="{BB962C8B-B14F-4D97-AF65-F5344CB8AC3E}">
        <p14:creationId xmlns:p14="http://schemas.microsoft.com/office/powerpoint/2010/main" val="1681586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833" y="274638"/>
            <a:ext cx="8229600" cy="1143000"/>
          </a:xfrm>
        </p:spPr>
        <p:txBody>
          <a:bodyPr>
            <a:normAutofit/>
          </a:bodyPr>
          <a:lstStyle/>
          <a:p>
            <a:r>
              <a:rPr lang="en-US" dirty="0">
                <a:solidFill>
                  <a:schemeClr val="accent1"/>
                </a:solidFill>
              </a:rPr>
              <a:t>PACELC</a:t>
            </a:r>
          </a:p>
        </p:txBody>
      </p:sp>
      <p:sp>
        <p:nvSpPr>
          <p:cNvPr id="5" name="Oval 4"/>
          <p:cNvSpPr/>
          <p:nvPr/>
        </p:nvSpPr>
        <p:spPr>
          <a:xfrm>
            <a:off x="2013805" y="2174612"/>
            <a:ext cx="2140664" cy="2052309"/>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6" name="Oval 5"/>
          <p:cNvSpPr/>
          <p:nvPr/>
        </p:nvSpPr>
        <p:spPr>
          <a:xfrm>
            <a:off x="3657107" y="2174612"/>
            <a:ext cx="2273657" cy="2052309"/>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A</a:t>
            </a:r>
          </a:p>
        </p:txBody>
      </p:sp>
      <p:sp>
        <p:nvSpPr>
          <p:cNvPr id="9" name="Oval 8"/>
          <p:cNvSpPr/>
          <p:nvPr/>
        </p:nvSpPr>
        <p:spPr>
          <a:xfrm>
            <a:off x="6417362" y="2073012"/>
            <a:ext cx="2140664" cy="2052309"/>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C</a:t>
            </a:r>
          </a:p>
        </p:txBody>
      </p:sp>
      <p:sp>
        <p:nvSpPr>
          <p:cNvPr id="10" name="Oval 9"/>
          <p:cNvSpPr/>
          <p:nvPr/>
        </p:nvSpPr>
        <p:spPr>
          <a:xfrm>
            <a:off x="8060664" y="2073012"/>
            <a:ext cx="2273657" cy="2052309"/>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a:t>L</a:t>
            </a:r>
          </a:p>
        </p:txBody>
      </p:sp>
      <p:cxnSp>
        <p:nvCxnSpPr>
          <p:cNvPr id="12" name="Straight Connector 11"/>
          <p:cNvCxnSpPr/>
          <p:nvPr/>
        </p:nvCxnSpPr>
        <p:spPr>
          <a:xfrm>
            <a:off x="6221445" y="1430419"/>
            <a:ext cx="0" cy="4117474"/>
          </a:xfrm>
          <a:prstGeom prst="line">
            <a:avLst/>
          </a:prstGeom>
          <a:ln w="10160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692183" y="4799262"/>
            <a:ext cx="2005263"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rPr>
              <a:t>Partitioned </a:t>
            </a:r>
          </a:p>
        </p:txBody>
      </p:sp>
      <p:sp>
        <p:nvSpPr>
          <p:cNvPr id="14" name="Rectangle 13"/>
          <p:cNvSpPr/>
          <p:nvPr/>
        </p:nvSpPr>
        <p:spPr>
          <a:xfrm>
            <a:off x="7403214" y="4633493"/>
            <a:ext cx="2005263"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rPr>
              <a:t>Normal </a:t>
            </a:r>
          </a:p>
        </p:txBody>
      </p:sp>
    </p:spTree>
    <p:extLst>
      <p:ext uri="{BB962C8B-B14F-4D97-AF65-F5344CB8AC3E}">
        <p14:creationId xmlns:p14="http://schemas.microsoft.com/office/powerpoint/2010/main" val="1144266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0638"/>
            <a:ext cx="8229600" cy="1143000"/>
          </a:xfrm>
        </p:spPr>
        <p:txBody>
          <a:bodyPr/>
          <a:lstStyle/>
          <a:p>
            <a:r>
              <a:rPr lang="en-US">
                <a:solidFill>
                  <a:schemeClr val="accent1"/>
                </a:solidFill>
              </a:rPr>
              <a:t>Examples</a:t>
            </a:r>
          </a:p>
        </p:txBody>
      </p:sp>
      <p:sp>
        <p:nvSpPr>
          <p:cNvPr id="3" name="Content Placeholder 2"/>
          <p:cNvSpPr>
            <a:spLocks noGrp="1"/>
          </p:cNvSpPr>
          <p:nvPr>
            <p:ph idx="1"/>
          </p:nvPr>
        </p:nvSpPr>
        <p:spPr>
          <a:xfrm>
            <a:off x="457200" y="1027669"/>
            <a:ext cx="11440886" cy="5279941"/>
          </a:xfrm>
        </p:spPr>
        <p:txBody>
          <a:bodyPr>
            <a:noAutofit/>
          </a:bodyPr>
          <a:lstStyle/>
          <a:p>
            <a:r>
              <a:rPr lang="en-US" sz="2600" b="1" dirty="0"/>
              <a:t>PA/EL Systems: </a:t>
            </a:r>
            <a:r>
              <a:rPr lang="en-US" sz="2600" dirty="0"/>
              <a:t>Give up both Cs for availability and lower latency</a:t>
            </a:r>
          </a:p>
          <a:p>
            <a:pPr lvl="1"/>
            <a:r>
              <a:rPr lang="en-US" sz="2600" dirty="0"/>
              <a:t>Dynamo, Cassandra, </a:t>
            </a:r>
            <a:r>
              <a:rPr lang="en-US" sz="2600" dirty="0" err="1"/>
              <a:t>Riak</a:t>
            </a:r>
            <a:endParaRPr lang="en-US" sz="2600" dirty="0"/>
          </a:p>
          <a:p>
            <a:r>
              <a:rPr lang="en-US" sz="2600" b="1" dirty="0"/>
              <a:t>PC/EC Systems: </a:t>
            </a:r>
            <a:r>
              <a:rPr lang="en-US" sz="2600" dirty="0"/>
              <a:t>Refuse to give up consistency and pay the cost of availability and latency</a:t>
            </a:r>
          </a:p>
          <a:p>
            <a:pPr lvl="1"/>
            <a:r>
              <a:rPr lang="en-US" sz="2600" dirty="0" err="1"/>
              <a:t>BigTable</a:t>
            </a:r>
            <a:r>
              <a:rPr lang="en-US" sz="2600" dirty="0"/>
              <a:t>, </a:t>
            </a:r>
            <a:r>
              <a:rPr lang="en-US" sz="2600" dirty="0" err="1"/>
              <a:t>Hbase</a:t>
            </a:r>
            <a:r>
              <a:rPr lang="en-US" sz="2600" dirty="0"/>
              <a:t>, </a:t>
            </a:r>
            <a:r>
              <a:rPr lang="en-US" sz="2600" dirty="0" err="1"/>
              <a:t>VoltDB</a:t>
            </a:r>
            <a:r>
              <a:rPr lang="en-US" sz="2600" dirty="0"/>
              <a:t>/H-Store</a:t>
            </a:r>
            <a:endParaRPr lang="en-US" sz="2600" b="1" dirty="0"/>
          </a:p>
          <a:p>
            <a:r>
              <a:rPr lang="en-US" sz="2600" b="1" dirty="0"/>
              <a:t>PA/EC Systems: </a:t>
            </a:r>
            <a:r>
              <a:rPr lang="en-US" sz="2600" dirty="0"/>
              <a:t>Give up consistency when a partition happens and keep consistency in normal operations</a:t>
            </a:r>
          </a:p>
          <a:p>
            <a:pPr lvl="1"/>
            <a:r>
              <a:rPr lang="en-US" sz="2600" dirty="0"/>
              <a:t>MongoDB</a:t>
            </a:r>
          </a:p>
          <a:p>
            <a:r>
              <a:rPr lang="en-US" sz="2600" b="1" dirty="0"/>
              <a:t>PC/EL System: </a:t>
            </a:r>
            <a:r>
              <a:rPr lang="en-US" sz="2600" dirty="0"/>
              <a:t>Keep consistency if a partition occurs but gives up consistency for latency in normal operations</a:t>
            </a:r>
          </a:p>
          <a:p>
            <a:pPr lvl="1"/>
            <a:r>
              <a:rPr lang="en-US" sz="2600" dirty="0"/>
              <a:t>Yahoo! PNUTS</a:t>
            </a:r>
          </a:p>
        </p:txBody>
      </p:sp>
    </p:spTree>
    <p:extLst>
      <p:ext uri="{BB962C8B-B14F-4D97-AF65-F5344CB8AC3E}">
        <p14:creationId xmlns:p14="http://schemas.microsoft.com/office/powerpoint/2010/main" val="38992558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CB65-37F7-4192-A7A1-52FD73457011}"/>
              </a:ext>
            </a:extLst>
          </p:cNvPr>
          <p:cNvSpPr>
            <a:spLocks noGrp="1"/>
          </p:cNvSpPr>
          <p:nvPr>
            <p:ph type="title"/>
          </p:nvPr>
        </p:nvSpPr>
        <p:spPr/>
        <p:txBody>
          <a:bodyPr/>
          <a:lstStyle/>
          <a:p>
            <a:r>
              <a:rPr lang="en-US" sz="3600">
                <a:solidFill>
                  <a:srgbClr val="0070C0"/>
                </a:solidFill>
              </a:rPr>
              <a:t>State Machine Replication</a:t>
            </a:r>
          </a:p>
        </p:txBody>
      </p:sp>
      <p:sp>
        <p:nvSpPr>
          <p:cNvPr id="3" name="Content Placeholder 2">
            <a:extLst>
              <a:ext uri="{FF2B5EF4-FFF2-40B4-BE49-F238E27FC236}">
                <a16:creationId xmlns:a16="http://schemas.microsoft.com/office/drawing/2014/main" id="{9259205B-2AA3-4F8E-B017-4A5061084097}"/>
              </a:ext>
            </a:extLst>
          </p:cNvPr>
          <p:cNvSpPr>
            <a:spLocks noGrp="1"/>
          </p:cNvSpPr>
          <p:nvPr>
            <p:ph idx="1"/>
          </p:nvPr>
        </p:nvSpPr>
        <p:spPr/>
        <p:txBody>
          <a:bodyPr>
            <a:normAutofit/>
          </a:bodyPr>
          <a:lstStyle/>
          <a:p>
            <a:r>
              <a:rPr lang="en-US" sz="2800" dirty="0"/>
              <a:t>This is a model in which we can read from any replica.</a:t>
            </a:r>
          </a:p>
          <a:p>
            <a:endParaRPr lang="en-US" sz="2800" dirty="0"/>
          </a:p>
          <a:p>
            <a:r>
              <a:rPr lang="en-US" sz="2800" dirty="0"/>
              <a:t>To do an update, we use an </a:t>
            </a:r>
            <a:r>
              <a:rPr lang="en-US" sz="2800" i="1" dirty="0"/>
              <a:t>atomic multicast </a:t>
            </a:r>
            <a:r>
              <a:rPr lang="en-US" sz="2800" dirty="0"/>
              <a:t>or a </a:t>
            </a:r>
            <a:r>
              <a:rPr lang="en-US" sz="2800" i="1" dirty="0"/>
              <a:t>durable Paxos write</a:t>
            </a:r>
            <a:r>
              <a:rPr lang="en-US" sz="2800" dirty="0"/>
              <a:t> (multicast if the state is kept in-memory, and durable if on disk).</a:t>
            </a:r>
          </a:p>
          <a:p>
            <a:endParaRPr lang="en-US" sz="2800" dirty="0"/>
          </a:p>
          <a:p>
            <a:r>
              <a:rPr lang="en-US" sz="2800" dirty="0"/>
              <a:t>The replicas see the same updates in the same sequence and so we can keep them in a consistent state.  We package the transaction into a message so “delivery of the message” performs the transactional action.</a:t>
            </a:r>
          </a:p>
        </p:txBody>
      </p:sp>
      <p:sp>
        <p:nvSpPr>
          <p:cNvPr id="5" name="Slide Number Placeholder 4">
            <a:extLst>
              <a:ext uri="{FF2B5EF4-FFF2-40B4-BE49-F238E27FC236}">
                <a16:creationId xmlns:a16="http://schemas.microsoft.com/office/drawing/2014/main" id="{FB01F612-2865-4165-AD62-1F40E2670F87}"/>
              </a:ext>
            </a:extLst>
          </p:cNvPr>
          <p:cNvSpPr>
            <a:spLocks noGrp="1"/>
          </p:cNvSpPr>
          <p:nvPr>
            <p:ph type="sldNum" sz="quarter" idx="12"/>
          </p:nvPr>
        </p:nvSpPr>
        <p:spPr/>
        <p:txBody>
          <a:bodyPr/>
          <a:lstStyle/>
          <a:p>
            <a:fld id="{3C974458-8A97-4835-BF79-1FB6D7856C21}" type="slidenum">
              <a:rPr lang="en-US" smtClean="0"/>
              <a:t>61</a:t>
            </a:fld>
            <a:endParaRPr lang="en-US"/>
          </a:p>
        </p:txBody>
      </p:sp>
    </p:spTree>
    <p:extLst>
      <p:ext uri="{BB962C8B-B14F-4D97-AF65-F5344CB8AC3E}">
        <p14:creationId xmlns:p14="http://schemas.microsoft.com/office/powerpoint/2010/main" val="35973397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altLang="es-ES" sz="3600">
                <a:solidFill>
                  <a:schemeClr val="accent1"/>
                </a:solidFill>
              </a:rPr>
              <a:t>Replication in Distributed Systems</a:t>
            </a:r>
            <a:endParaRPr lang="es-ES" sz="3600">
              <a:solidFill>
                <a:schemeClr val="accent1"/>
              </a:solidFill>
            </a:endParaRPr>
          </a:p>
        </p:txBody>
      </p:sp>
      <p:sp>
        <p:nvSpPr>
          <p:cNvPr id="3" name="2 Marcador de contenido"/>
          <p:cNvSpPr>
            <a:spLocks noGrp="1"/>
          </p:cNvSpPr>
          <p:nvPr>
            <p:ph idx="1"/>
          </p:nvPr>
        </p:nvSpPr>
        <p:spPr/>
        <p:txBody>
          <a:bodyPr>
            <a:normAutofit fontScale="85000" lnSpcReduction="20000"/>
          </a:bodyPr>
          <a:lstStyle/>
          <a:p>
            <a:pPr marL="857250" lvl="1" indent="-457200">
              <a:lnSpc>
                <a:spcPct val="120000"/>
              </a:lnSpc>
            </a:pPr>
            <a:r>
              <a:rPr lang="en-US" altLang="es-ES"/>
              <a:t>Introduction to group services</a:t>
            </a:r>
          </a:p>
          <a:p>
            <a:pPr marL="1257300" lvl="2" indent="-457200">
              <a:lnSpc>
                <a:spcPct val="120000"/>
              </a:lnSpc>
            </a:pPr>
            <a:r>
              <a:rPr lang="en-US" altLang="es-ES"/>
              <a:t>Multicast: Time and Ordering</a:t>
            </a:r>
          </a:p>
          <a:p>
            <a:pPr marL="1257300" lvl="2" indent="-457200">
              <a:lnSpc>
                <a:spcPct val="120000"/>
              </a:lnSpc>
            </a:pPr>
            <a:r>
              <a:rPr lang="en-US" altLang="es-ES"/>
              <a:t>Failure detection</a:t>
            </a:r>
          </a:p>
          <a:p>
            <a:pPr marL="857250" lvl="1" indent="-457200">
              <a:lnSpc>
                <a:spcPct val="120000"/>
              </a:lnSpc>
            </a:pPr>
            <a:r>
              <a:rPr lang="en-US" altLang="es-ES"/>
              <a:t>Time and ordering</a:t>
            </a:r>
          </a:p>
          <a:p>
            <a:pPr marL="1257300" lvl="2" indent="-457200">
              <a:lnSpc>
                <a:spcPct val="120000"/>
              </a:lnSpc>
            </a:pPr>
            <a:r>
              <a:rPr lang="en-US" altLang="es-ES"/>
              <a:t>Implementing message ordering: FIFO, Causal, Total</a:t>
            </a:r>
          </a:p>
          <a:p>
            <a:pPr marL="1257300" lvl="2" indent="-457200">
              <a:lnSpc>
                <a:spcPct val="120000"/>
              </a:lnSpc>
            </a:pPr>
            <a:r>
              <a:rPr lang="en-US" altLang="es-ES"/>
              <a:t>Multicast</a:t>
            </a:r>
          </a:p>
          <a:p>
            <a:pPr marL="1257300" lvl="2" indent="-457200">
              <a:lnSpc>
                <a:spcPct val="120000"/>
              </a:lnSpc>
            </a:pPr>
            <a:r>
              <a:rPr lang="en-US" altLang="es-ES"/>
              <a:t>Consensus</a:t>
            </a:r>
          </a:p>
          <a:p>
            <a:pPr marL="1257300" lvl="2" indent="-457200">
              <a:lnSpc>
                <a:spcPct val="120000"/>
              </a:lnSpc>
            </a:pPr>
            <a:r>
              <a:rPr lang="en-US" altLang="es-ES"/>
              <a:t>Virtual Synchrony</a:t>
            </a:r>
          </a:p>
          <a:p>
            <a:pPr marL="857250" lvl="1" indent="-457200">
              <a:lnSpc>
                <a:spcPct val="120000"/>
              </a:lnSpc>
            </a:pPr>
            <a:r>
              <a:rPr lang="en-US" altLang="es-ES"/>
              <a:t>Failure Detection in distributed systems</a:t>
            </a:r>
          </a:p>
          <a:p>
            <a:pPr marL="1257300" lvl="2" indent="-457200">
              <a:lnSpc>
                <a:spcPct val="120000"/>
              </a:lnSpc>
            </a:pPr>
            <a:r>
              <a:rPr lang="en-US" altLang="es-ES"/>
              <a:t>Heartbeat algorithms</a:t>
            </a:r>
          </a:p>
          <a:p>
            <a:pPr marL="1257300" lvl="2" indent="-457200">
              <a:lnSpc>
                <a:spcPct val="120000"/>
              </a:lnSpc>
            </a:pPr>
            <a:r>
              <a:rPr lang="en-US" altLang="es-ES"/>
              <a:t>Gossiping</a:t>
            </a:r>
          </a:p>
          <a:p>
            <a:pPr marL="1257300" lvl="2" indent="-457200">
              <a:lnSpc>
                <a:spcPct val="120000"/>
              </a:lnSpc>
              <a:buNone/>
            </a:pPr>
            <a:endParaRPr lang="en-US" alt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62</a:t>
            </a:fld>
            <a:endParaRPr lang="es-ES"/>
          </a:p>
        </p:txBody>
      </p:sp>
    </p:spTree>
    <p:extLst>
      <p:ext uri="{BB962C8B-B14F-4D97-AF65-F5344CB8AC3E}">
        <p14:creationId xmlns:p14="http://schemas.microsoft.com/office/powerpoint/2010/main" val="27202548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p:cNvSpPr>
            <a:spLocks noGrp="1" noChangeArrowheads="1"/>
          </p:cNvSpPr>
          <p:nvPr>
            <p:ph type="body" idx="4294967295"/>
          </p:nvPr>
        </p:nvSpPr>
        <p:spPr>
          <a:xfrm>
            <a:off x="694063" y="1219200"/>
            <a:ext cx="11204154" cy="4876800"/>
          </a:xfrm>
        </p:spPr>
        <p:txBody>
          <a:bodyPr>
            <a:normAutofit fontScale="92500" lnSpcReduction="20000"/>
          </a:bodyPr>
          <a:lstStyle/>
          <a:p>
            <a:pPr marL="0" indent="0">
              <a:buNone/>
            </a:pPr>
            <a:endParaRPr lang="en-US" sz="2000" dirty="0"/>
          </a:p>
          <a:p>
            <a:pPr marL="0" indent="0">
              <a:buNone/>
            </a:pPr>
            <a:r>
              <a:rPr lang="en-US" sz="2800" dirty="0"/>
              <a:t>… not the exception</a:t>
            </a:r>
          </a:p>
          <a:p>
            <a:pPr marL="0" indent="0">
              <a:buNone/>
            </a:pPr>
            <a:endParaRPr lang="en-US" sz="2800" dirty="0"/>
          </a:p>
          <a:p>
            <a:pPr marL="0" indent="0">
              <a:buNone/>
            </a:pPr>
            <a:r>
              <a:rPr lang="en-US" sz="2800" dirty="0"/>
              <a:t>Say, the rate of failure of one machine (OS/disk/motherboard/network, etc.) is once every 10 years (120 months) on average.</a:t>
            </a:r>
          </a:p>
          <a:p>
            <a:pPr marL="0" indent="0">
              <a:buNone/>
            </a:pPr>
            <a:endParaRPr lang="en-US" sz="2800" dirty="0"/>
          </a:p>
          <a:p>
            <a:pPr marL="0" indent="0">
              <a:buNone/>
            </a:pPr>
            <a:r>
              <a:rPr lang="en-US" sz="2800" dirty="0"/>
              <a:t>When you have 120 servers in the DC, the </a:t>
            </a:r>
            <a:r>
              <a:rPr lang="en-US" sz="2800" b="1" dirty="0">
                <a:solidFill>
                  <a:srgbClr val="FF0000"/>
                </a:solidFill>
              </a:rPr>
              <a:t>mean time to failure (MTTF) </a:t>
            </a:r>
            <a:r>
              <a:rPr lang="en-US" sz="2800" dirty="0"/>
              <a:t>of the next machine is 1 month.</a:t>
            </a:r>
          </a:p>
          <a:p>
            <a:pPr marL="0" indent="0">
              <a:buNone/>
            </a:pPr>
            <a:endParaRPr lang="en-US" sz="2800" dirty="0"/>
          </a:p>
          <a:p>
            <a:pPr marL="0" indent="0">
              <a:buNone/>
            </a:pPr>
            <a:r>
              <a:rPr lang="en-US" sz="2800" dirty="0"/>
              <a:t>When you have 12,000 servers in the DC, the MTTF is about once </a:t>
            </a:r>
            <a:r>
              <a:rPr lang="en-US" sz="2800" b="1" dirty="0">
                <a:solidFill>
                  <a:srgbClr val="FF0000"/>
                </a:solidFill>
              </a:rPr>
              <a:t>every 7.2 ho</a:t>
            </a:r>
            <a:r>
              <a:rPr lang="en-US" sz="2800" dirty="0"/>
              <a:t>urs!</a:t>
            </a:r>
          </a:p>
          <a:p>
            <a:pPr marL="0" indent="0">
              <a:buNone/>
            </a:pPr>
            <a:endParaRPr lang="en-US" sz="2800" dirty="0"/>
          </a:p>
          <a:p>
            <a:pPr marL="0" indent="0">
              <a:buNone/>
            </a:pPr>
            <a:r>
              <a:rPr lang="en-US" sz="2800" dirty="0"/>
              <a:t>Soft crashes and failures are even more frequent!</a:t>
            </a:r>
          </a:p>
        </p:txBody>
      </p:sp>
      <p:sp>
        <p:nvSpPr>
          <p:cNvPr id="21506" name="Rectangle 2"/>
          <p:cNvSpPr txBox="1">
            <a:spLocks noChangeArrowheads="1"/>
          </p:cNvSpPr>
          <p:nvPr/>
        </p:nvSpPr>
        <p:spPr bwMode="auto">
          <a:xfrm>
            <a:off x="1981200" y="275167"/>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nchor="ct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US" sz="4400">
                <a:solidFill>
                  <a:schemeClr val="accent1"/>
                </a:solidFill>
                <a:latin typeface="Whitney-BlackSC" charset="0"/>
                <a:cs typeface="Whitney-BlackSC" charset="0"/>
              </a:rPr>
              <a:t>Failures are the Norm</a:t>
            </a:r>
          </a:p>
        </p:txBody>
      </p:sp>
      <p:sp>
        <p:nvSpPr>
          <p:cNvPr id="2" name="Slide Number Placeholder 1"/>
          <p:cNvSpPr>
            <a:spLocks noGrp="1"/>
          </p:cNvSpPr>
          <p:nvPr>
            <p:ph type="sldNum" sz="quarter" idx="12"/>
          </p:nvPr>
        </p:nvSpPr>
        <p:spPr/>
        <p:txBody>
          <a:bodyPr/>
          <a:lstStyle/>
          <a:p>
            <a:pPr>
              <a:defRPr/>
            </a:pPr>
            <a:fld id="{114CECF8-010E-F041-9C75-EBE094CC61E3}" type="slidenum">
              <a:rPr lang="en-US" smtClean="0"/>
              <a:pPr>
                <a:defRPr/>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8D8D3B9D-AD42-694A-BD25-156D8E2C25F1}" type="slidenum">
              <a:rPr lang="en-US" sz="1400">
                <a:latin typeface="Calibri Light" pitchFamily="34" charset="0"/>
              </a:rPr>
              <a:pPr eaLnBrk="1" hangingPunct="1"/>
              <a:t>64</a:t>
            </a:fld>
            <a:endParaRPr lang="en-US" sz="1400">
              <a:latin typeface="Calibri Light" pitchFamily="34" charset="0"/>
            </a:endParaRPr>
          </a:p>
        </p:txBody>
      </p:sp>
      <p:sp>
        <p:nvSpPr>
          <p:cNvPr id="25602" name="Rectangle 2"/>
          <p:cNvSpPr>
            <a:spLocks noGrp="1" noChangeArrowheads="1"/>
          </p:cNvSpPr>
          <p:nvPr>
            <p:ph type="title"/>
          </p:nvPr>
        </p:nvSpPr>
        <p:spPr/>
        <p:txBody>
          <a:bodyPr/>
          <a:lstStyle/>
          <a:p>
            <a:pPr eaLnBrk="1" hangingPunct="1"/>
            <a:r>
              <a:rPr lang="en-US">
                <a:solidFill>
                  <a:schemeClr val="accent1"/>
                </a:solidFill>
                <a:latin typeface="Whitney-BlackSC" charset="0"/>
                <a:cs typeface="Whitney-BlackSC" charset="0"/>
              </a:rPr>
              <a:t>Target Settings</a:t>
            </a:r>
          </a:p>
        </p:txBody>
      </p:sp>
      <p:sp>
        <p:nvSpPr>
          <p:cNvPr id="25603" name="Rectangle 3"/>
          <p:cNvSpPr>
            <a:spLocks noGrp="1" noChangeArrowheads="1"/>
          </p:cNvSpPr>
          <p:nvPr>
            <p:ph type="body" idx="1"/>
          </p:nvPr>
        </p:nvSpPr>
        <p:spPr>
          <a:xfrm>
            <a:off x="609599" y="1803402"/>
            <a:ext cx="10972799" cy="3814233"/>
          </a:xfrm>
        </p:spPr>
        <p:txBody>
          <a:bodyPr/>
          <a:lstStyle/>
          <a:p>
            <a:pPr eaLnBrk="1" hangingPunct="1"/>
            <a:r>
              <a:rPr lang="en-US" dirty="0"/>
              <a:t>Process </a:t>
            </a:r>
            <a:r>
              <a:rPr lang="ja-JP" altLang="en-US"/>
              <a:t>‘</a:t>
            </a:r>
            <a:r>
              <a:rPr lang="en-US" altLang="ja-JP" dirty="0"/>
              <a:t>group</a:t>
            </a:r>
            <a:r>
              <a:rPr lang="ja-JP" altLang="en-US"/>
              <a:t>’</a:t>
            </a:r>
            <a:r>
              <a:rPr lang="en-US" altLang="ja-JP" dirty="0"/>
              <a:t>-based systems</a:t>
            </a:r>
          </a:p>
          <a:p>
            <a:pPr lvl="1" eaLnBrk="1" hangingPunct="1"/>
            <a:r>
              <a:rPr lang="en-US" dirty="0"/>
              <a:t>Clouds/Datacenters </a:t>
            </a:r>
          </a:p>
          <a:p>
            <a:pPr lvl="1" eaLnBrk="1" hangingPunct="1"/>
            <a:r>
              <a:rPr lang="en-US" dirty="0"/>
              <a:t>Replicated servers</a:t>
            </a:r>
          </a:p>
          <a:p>
            <a:pPr lvl="1" eaLnBrk="1" hangingPunct="1"/>
            <a:endParaRPr lang="en-US" dirty="0"/>
          </a:p>
          <a:p>
            <a:pPr eaLnBrk="1" hangingPunct="1"/>
            <a:r>
              <a:rPr lang="en-US" dirty="0"/>
              <a:t>Fail-stop (crash) process failures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2063D2FE-20AC-B043-80B9-A1EB6950EFAA}" type="slidenum">
              <a:rPr lang="en-US" sz="1400">
                <a:latin typeface="Calibri Light" pitchFamily="34" charset="0"/>
              </a:rPr>
              <a:pPr eaLnBrk="1" hangingPunct="1"/>
              <a:t>65</a:t>
            </a:fld>
            <a:endParaRPr lang="en-US" sz="1400">
              <a:latin typeface="Calibri Light" pitchFamily="34" charset="0"/>
            </a:endParaRPr>
          </a:p>
        </p:txBody>
      </p:sp>
      <p:sp>
        <p:nvSpPr>
          <p:cNvPr id="27650" name="Rectangle 2"/>
          <p:cNvSpPr>
            <a:spLocks noGrp="1" noChangeArrowheads="1"/>
          </p:cNvSpPr>
          <p:nvPr>
            <p:ph type="title"/>
          </p:nvPr>
        </p:nvSpPr>
        <p:spPr>
          <a:xfrm>
            <a:off x="1828800" y="0"/>
            <a:ext cx="7772400" cy="1143000"/>
          </a:xfrm>
        </p:spPr>
        <p:txBody>
          <a:bodyPr/>
          <a:lstStyle/>
          <a:p>
            <a:pPr eaLnBrk="1" hangingPunct="1"/>
            <a:r>
              <a:rPr lang="en-GB">
                <a:solidFill>
                  <a:schemeClr val="accent1"/>
                </a:solidFill>
                <a:latin typeface="Whitney-BlackSC" charset="0"/>
                <a:cs typeface="Whitney-BlackSC" charset="0"/>
              </a:rPr>
              <a:t>Group Membership Service</a:t>
            </a:r>
          </a:p>
        </p:txBody>
      </p:sp>
      <p:sp>
        <p:nvSpPr>
          <p:cNvPr id="27651" name="AutoShape 3"/>
          <p:cNvSpPr>
            <a:spLocks noChangeArrowheads="1"/>
          </p:cNvSpPr>
          <p:nvPr/>
        </p:nvSpPr>
        <p:spPr bwMode="auto">
          <a:xfrm>
            <a:off x="7467600" y="3505202"/>
            <a:ext cx="2362200" cy="1062567"/>
          </a:xfrm>
          <a:prstGeom prst="cube">
            <a:avLst>
              <a:gd name="adj" fmla="val 25000"/>
            </a:avLst>
          </a:prstGeom>
          <a:solidFill>
            <a:schemeClr val="tx2"/>
          </a:solidFill>
          <a:ln w="9525">
            <a:solidFill>
              <a:schemeClr val="tx1"/>
            </a:solidFill>
            <a:miter lim="800000"/>
            <a:headEnd/>
            <a:tailEnd/>
          </a:ln>
        </p:spPr>
        <p:txBody>
          <a:bodyPr wrap="none" anchor="ctr"/>
          <a:lstStyle/>
          <a:p>
            <a:endParaRPr lang="en-US">
              <a:latin typeface="Calibri Light" pitchFamily="34" charset="0"/>
            </a:endParaRPr>
          </a:p>
        </p:txBody>
      </p:sp>
      <p:sp>
        <p:nvSpPr>
          <p:cNvPr id="27652" name="AutoShape 4"/>
          <p:cNvSpPr>
            <a:spLocks noChangeArrowheads="1"/>
          </p:cNvSpPr>
          <p:nvPr/>
        </p:nvSpPr>
        <p:spPr bwMode="auto">
          <a:xfrm rot="5397037">
            <a:off x="5829300" y="-1638300"/>
            <a:ext cx="457200" cy="8153400"/>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218117" name="Text Box 5" descr="White marble"/>
          <p:cNvSpPr txBox="1">
            <a:spLocks noChangeArrowheads="1"/>
          </p:cNvSpPr>
          <p:nvPr/>
        </p:nvSpPr>
        <p:spPr bwMode="auto">
          <a:xfrm>
            <a:off x="3200400" y="1143000"/>
            <a:ext cx="3276600" cy="923330"/>
          </a:xfrm>
          <a:prstGeom prst="rect">
            <a:avLst/>
          </a:prstGeom>
          <a:blipFill dpi="0" rotWithShape="0">
            <a:blip r:embed="rId3" cstate="print"/>
            <a:srcRect/>
            <a:tile tx="0" ty="0" sx="100000" sy="100000" flip="none" algn="tl"/>
          </a:blipFill>
          <a:ln>
            <a:noFill/>
          </a:ln>
          <a:extLs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defRPr/>
            </a:pPr>
            <a:r>
              <a:rPr lang="en-US" b="1">
                <a:solidFill>
                  <a:srgbClr val="0000FF"/>
                </a:solidFill>
                <a:effectLst>
                  <a:outerShdw blurRad="38100" dist="38100" dir="2700000" algn="tl">
                    <a:srgbClr val="DDDDDD"/>
                  </a:outerShdw>
                </a:effectLst>
                <a:latin typeface="Calibri Light" pitchFamily="34" charset="0"/>
              </a:rPr>
              <a:t>Application Queries</a:t>
            </a:r>
          </a:p>
          <a:p>
            <a:pPr>
              <a:defRPr/>
            </a:pPr>
            <a:r>
              <a:rPr lang="en-US" b="1">
                <a:solidFill>
                  <a:srgbClr val="0000FF"/>
                </a:solidFill>
                <a:effectLst>
                  <a:outerShdw blurRad="38100" dist="38100" dir="2700000" algn="tl">
                    <a:srgbClr val="DDDDDD"/>
                  </a:outerShdw>
                </a:effectLst>
                <a:latin typeface="Calibri Light" pitchFamily="34" charset="0"/>
              </a:rPr>
              <a:t>     e.g., gossip, overlays, 	DHT</a:t>
            </a:r>
            <a:r>
              <a:rPr lang="ja-JP" altLang="en-US" b="1">
                <a:solidFill>
                  <a:srgbClr val="0000FF"/>
                </a:solidFill>
                <a:effectLst>
                  <a:outerShdw blurRad="38100" dist="38100" dir="2700000" algn="tl">
                    <a:srgbClr val="DDDDDD"/>
                  </a:outerShdw>
                </a:effectLst>
                <a:latin typeface="Calibri Light" pitchFamily="34" charset="0"/>
              </a:rPr>
              <a:t>’</a:t>
            </a:r>
            <a:r>
              <a:rPr lang="en-US" altLang="ja-JP" b="1">
                <a:solidFill>
                  <a:srgbClr val="0000FF"/>
                </a:solidFill>
                <a:effectLst>
                  <a:outerShdw blurRad="38100" dist="38100" dir="2700000" algn="tl">
                    <a:srgbClr val="DDDDDD"/>
                  </a:outerShdw>
                </a:effectLst>
                <a:latin typeface="Calibri Light" pitchFamily="34" charset="0"/>
              </a:rPr>
              <a:t>s, etc.</a:t>
            </a:r>
            <a:endParaRPr lang="en-US" b="1">
              <a:solidFill>
                <a:srgbClr val="0000FF"/>
              </a:solidFill>
              <a:effectLst>
                <a:outerShdw blurRad="38100" dist="38100" dir="2700000" algn="tl">
                  <a:srgbClr val="DDDDDD"/>
                </a:outerShdw>
              </a:effectLst>
              <a:latin typeface="Calibri Light" pitchFamily="34" charset="0"/>
            </a:endParaRPr>
          </a:p>
        </p:txBody>
      </p:sp>
      <p:sp>
        <p:nvSpPr>
          <p:cNvPr id="27654" name="Text Box 6"/>
          <p:cNvSpPr txBox="1">
            <a:spLocks noChangeArrowheads="1"/>
          </p:cNvSpPr>
          <p:nvPr/>
        </p:nvSpPr>
        <p:spPr bwMode="auto">
          <a:xfrm>
            <a:off x="7768834" y="3733801"/>
            <a:ext cx="1545423"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US" sz="2000" b="1">
                <a:solidFill>
                  <a:schemeClr val="bg2"/>
                </a:solidFill>
                <a:latin typeface="Calibri Light" pitchFamily="34" charset="0"/>
              </a:rPr>
              <a:t>Membership</a:t>
            </a:r>
          </a:p>
          <a:p>
            <a:pPr algn="ctr" eaLnBrk="1" hangingPunct="1"/>
            <a:r>
              <a:rPr lang="en-US" sz="2000" b="1">
                <a:solidFill>
                  <a:schemeClr val="bg2"/>
                </a:solidFill>
                <a:latin typeface="Calibri Light" pitchFamily="34" charset="0"/>
              </a:rPr>
              <a:t>Protocol</a:t>
            </a:r>
          </a:p>
        </p:txBody>
      </p:sp>
      <p:sp>
        <p:nvSpPr>
          <p:cNvPr id="27655" name="AutoShape 7"/>
          <p:cNvSpPr>
            <a:spLocks noChangeArrowheads="1"/>
          </p:cNvSpPr>
          <p:nvPr/>
        </p:nvSpPr>
        <p:spPr bwMode="auto">
          <a:xfrm>
            <a:off x="3124200" y="3352802"/>
            <a:ext cx="1290638" cy="833967"/>
          </a:xfrm>
          <a:prstGeom prst="flowChartMultidocument">
            <a:avLst/>
          </a:prstGeom>
          <a:gradFill rotWithShape="0">
            <a:gsLst>
              <a:gs pos="0">
                <a:srgbClr val="CC3300"/>
              </a:gs>
              <a:gs pos="100000">
                <a:srgbClr val="0000FF"/>
              </a:gs>
            </a:gsLst>
            <a:lin ang="5400000" scaled="1"/>
          </a:gradFill>
          <a:ln w="9525">
            <a:solidFill>
              <a:schemeClr val="tx1"/>
            </a:solidFill>
            <a:miter lim="800000"/>
            <a:headEnd/>
            <a:tailEnd/>
          </a:ln>
        </p:spPr>
        <p:txBody>
          <a:bodyPr wrap="none" anchor="ctr"/>
          <a:lstStyle/>
          <a:p>
            <a:endParaRPr lang="en-US">
              <a:latin typeface="Calibri Light" pitchFamily="34" charset="0"/>
            </a:endParaRPr>
          </a:p>
        </p:txBody>
      </p:sp>
      <p:sp>
        <p:nvSpPr>
          <p:cNvPr id="27656" name="Text Box 8"/>
          <p:cNvSpPr txBox="1">
            <a:spLocks noChangeArrowheads="1"/>
          </p:cNvSpPr>
          <p:nvPr/>
        </p:nvSpPr>
        <p:spPr bwMode="auto">
          <a:xfrm>
            <a:off x="2904754" y="4437112"/>
            <a:ext cx="1875898"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GB" sz="2000" i="1" dirty="0">
                <a:solidFill>
                  <a:srgbClr val="FF0000"/>
                </a:solidFill>
                <a:latin typeface="Calibri Light" pitchFamily="34" charset="0"/>
              </a:rPr>
              <a:t>Group </a:t>
            </a:r>
          </a:p>
          <a:p>
            <a:pPr algn="ctr" eaLnBrk="1" hangingPunct="1"/>
            <a:r>
              <a:rPr lang="en-GB" sz="2000" i="1" dirty="0">
                <a:solidFill>
                  <a:srgbClr val="FF0000"/>
                </a:solidFill>
                <a:latin typeface="Calibri Light" pitchFamily="34" charset="0"/>
              </a:rPr>
              <a:t>Membership List</a:t>
            </a:r>
            <a:endParaRPr lang="en-US" sz="2000" i="1" dirty="0">
              <a:solidFill>
                <a:srgbClr val="FF0000"/>
              </a:solidFill>
              <a:latin typeface="Calibri Light" pitchFamily="34" charset="0"/>
            </a:endParaRPr>
          </a:p>
        </p:txBody>
      </p:sp>
      <p:sp>
        <p:nvSpPr>
          <p:cNvPr id="27657" name="Text Box 9"/>
          <p:cNvSpPr txBox="1">
            <a:spLocks noChangeArrowheads="1"/>
          </p:cNvSpPr>
          <p:nvPr/>
        </p:nvSpPr>
        <p:spPr bwMode="auto">
          <a:xfrm>
            <a:off x="4848920" y="2819401"/>
            <a:ext cx="2344937"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US" sz="2000" i="1" dirty="0">
                <a:solidFill>
                  <a:srgbClr val="FFFFFF"/>
                </a:solidFill>
                <a:latin typeface="Calibri Light" pitchFamily="34" charset="0"/>
              </a:rPr>
              <a:t> </a:t>
            </a:r>
            <a:r>
              <a:rPr lang="en-US" sz="2000" i="1" dirty="0">
                <a:solidFill>
                  <a:srgbClr val="FF0000"/>
                </a:solidFill>
                <a:latin typeface="Calibri Light" pitchFamily="34" charset="0"/>
              </a:rPr>
              <a:t>joins, leaves, failures</a:t>
            </a:r>
          </a:p>
          <a:p>
            <a:pPr algn="ctr" eaLnBrk="1" hangingPunct="1"/>
            <a:r>
              <a:rPr lang="en-US" sz="2000" i="1" dirty="0">
                <a:solidFill>
                  <a:srgbClr val="FF0000"/>
                </a:solidFill>
                <a:latin typeface="Calibri Light" pitchFamily="34" charset="0"/>
              </a:rPr>
              <a:t>of members</a:t>
            </a:r>
          </a:p>
        </p:txBody>
      </p:sp>
      <p:sp>
        <p:nvSpPr>
          <p:cNvPr id="218122" name="Text Box 10"/>
          <p:cNvSpPr txBox="1">
            <a:spLocks noChangeArrowheads="1"/>
          </p:cNvSpPr>
          <p:nvPr/>
        </p:nvSpPr>
        <p:spPr bwMode="auto">
          <a:xfrm>
            <a:off x="6435943" y="5562602"/>
            <a:ext cx="1717458" cy="646331"/>
          </a:xfrm>
          <a:prstGeom prst="rect">
            <a:avLst/>
          </a:prstGeom>
          <a:noFill/>
          <a:ln w="9525">
            <a:noFill/>
            <a:miter lim="800000"/>
            <a:headEnd/>
            <a:tailEnd/>
          </a:ln>
          <a:effectLst/>
        </p:spPr>
        <p:txBody>
          <a:bodyPr wrap="none">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a:defRPr/>
            </a:pPr>
            <a:r>
              <a:rPr lang="en-US" b="1">
                <a:effectLst>
                  <a:outerShdw blurRad="38100" dist="38100" dir="2700000" algn="tl">
                    <a:srgbClr val="DDDDDD"/>
                  </a:outerShdw>
                </a:effectLst>
                <a:latin typeface="Calibri Light" pitchFamily="34" charset="0"/>
              </a:rPr>
              <a:t>Unreliable </a:t>
            </a:r>
          </a:p>
          <a:p>
            <a:pPr algn="r">
              <a:defRPr/>
            </a:pPr>
            <a:r>
              <a:rPr lang="en-US" b="1">
                <a:effectLst>
                  <a:outerShdw blurRad="38100" dist="38100" dir="2700000" algn="tl">
                    <a:srgbClr val="DDDDDD"/>
                  </a:outerShdw>
                </a:effectLst>
                <a:latin typeface="Calibri Light" pitchFamily="34" charset="0"/>
              </a:rPr>
              <a:t>Communication</a:t>
            </a:r>
          </a:p>
        </p:txBody>
      </p:sp>
      <p:sp>
        <p:nvSpPr>
          <p:cNvPr id="27659" name="AutoShape 11"/>
          <p:cNvSpPr>
            <a:spLocks noChangeArrowheads="1"/>
          </p:cNvSpPr>
          <p:nvPr/>
        </p:nvSpPr>
        <p:spPr bwMode="auto">
          <a:xfrm>
            <a:off x="4724400" y="3657602"/>
            <a:ext cx="2590800" cy="258233"/>
          </a:xfrm>
          <a:prstGeom prst="leftArrow">
            <a:avLst>
              <a:gd name="adj1" fmla="val 50000"/>
              <a:gd name="adj2" fmla="val 250820"/>
            </a:avLst>
          </a:prstGeom>
          <a:solidFill>
            <a:srgbClr val="777777"/>
          </a:solidFill>
          <a:ln w="9525">
            <a:solidFill>
              <a:schemeClr val="tx1"/>
            </a:solidFill>
            <a:miter lim="800000"/>
            <a:headEnd/>
            <a:tailEnd/>
          </a:ln>
        </p:spPr>
        <p:txBody>
          <a:bodyPr wrap="none" anchor="ctr"/>
          <a:lstStyle/>
          <a:p>
            <a:endParaRPr lang="en-US">
              <a:latin typeface="Calibri Light" pitchFamily="34" charset="0"/>
            </a:endParaRPr>
          </a:p>
        </p:txBody>
      </p:sp>
      <p:sp>
        <p:nvSpPr>
          <p:cNvPr id="27660" name="AutoShape 12"/>
          <p:cNvSpPr>
            <a:spLocks noChangeArrowheads="1"/>
          </p:cNvSpPr>
          <p:nvPr/>
        </p:nvSpPr>
        <p:spPr bwMode="auto">
          <a:xfrm>
            <a:off x="4800600" y="3962400"/>
            <a:ext cx="2514600" cy="228600"/>
          </a:xfrm>
          <a:prstGeom prst="rightArrow">
            <a:avLst>
              <a:gd name="adj1" fmla="val 50000"/>
              <a:gd name="adj2" fmla="val 275000"/>
            </a:avLst>
          </a:prstGeom>
          <a:solidFill>
            <a:srgbClr val="777777"/>
          </a:solidFill>
          <a:ln w="9525">
            <a:solidFill>
              <a:schemeClr val="tx1"/>
            </a:solidFill>
            <a:miter lim="800000"/>
            <a:headEnd/>
            <a:tailEnd/>
          </a:ln>
        </p:spPr>
        <p:txBody>
          <a:bodyPr wrap="none" anchor="ctr"/>
          <a:lstStyle/>
          <a:p>
            <a:endParaRPr lang="en-US">
              <a:latin typeface="Calibri Light" pitchFamily="34" charset="0"/>
            </a:endParaRPr>
          </a:p>
        </p:txBody>
      </p:sp>
      <p:sp>
        <p:nvSpPr>
          <p:cNvPr id="27661" name="AutoShape 13"/>
          <p:cNvSpPr>
            <a:spLocks noChangeArrowheads="1"/>
          </p:cNvSpPr>
          <p:nvPr/>
        </p:nvSpPr>
        <p:spPr bwMode="auto">
          <a:xfrm rot="5397037">
            <a:off x="5829300" y="1257300"/>
            <a:ext cx="457200" cy="8153400"/>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27662" name="AutoShape 14"/>
          <p:cNvSpPr>
            <a:spLocks noChangeArrowheads="1"/>
          </p:cNvSpPr>
          <p:nvPr/>
        </p:nvSpPr>
        <p:spPr bwMode="auto">
          <a:xfrm>
            <a:off x="8305800" y="4648200"/>
            <a:ext cx="304800" cy="1828800"/>
          </a:xfrm>
          <a:prstGeom prst="upDownArrow">
            <a:avLst>
              <a:gd name="adj1" fmla="val 50000"/>
              <a:gd name="adj2" fmla="val 120000"/>
            </a:avLst>
          </a:prstGeom>
          <a:solidFill>
            <a:srgbClr val="777777"/>
          </a:solidFill>
          <a:ln w="9525">
            <a:solidFill>
              <a:schemeClr val="tx1"/>
            </a:solidFill>
            <a:miter lim="800000"/>
            <a:headEnd/>
            <a:tailEnd/>
          </a:ln>
        </p:spPr>
        <p:txBody>
          <a:bodyPr wrap="none" anchor="ctr"/>
          <a:lstStyle/>
          <a:p>
            <a:endParaRPr lang="en-US">
              <a:latin typeface="Calibri Light" pitchFamily="34" charset="0"/>
            </a:endParaRPr>
          </a:p>
        </p:txBody>
      </p:sp>
      <p:sp>
        <p:nvSpPr>
          <p:cNvPr id="218127" name="AutoShape 15" descr="Green marble"/>
          <p:cNvSpPr>
            <a:spLocks noChangeArrowheads="1"/>
          </p:cNvSpPr>
          <p:nvPr/>
        </p:nvSpPr>
        <p:spPr bwMode="auto">
          <a:xfrm rot="2816484">
            <a:off x="6620406" y="1962681"/>
            <a:ext cx="4199467" cy="4283075"/>
          </a:xfrm>
          <a:prstGeom prst="irregularSeal2">
            <a:avLst/>
          </a:prstGeom>
          <a:noFill/>
          <a:ln w="38100">
            <a:solidFill>
              <a:schemeClr val="tx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Light" pitchFamily="34" charset="0"/>
            </a:endParaRPr>
          </a:p>
        </p:txBody>
      </p:sp>
      <p:sp>
        <p:nvSpPr>
          <p:cNvPr id="27664" name="Line 16"/>
          <p:cNvSpPr>
            <a:spLocks noChangeShapeType="1"/>
          </p:cNvSpPr>
          <p:nvPr/>
        </p:nvSpPr>
        <p:spPr bwMode="auto">
          <a:xfrm>
            <a:off x="3886200" y="1981200"/>
            <a:ext cx="0" cy="1295400"/>
          </a:xfrm>
          <a:prstGeom prst="line">
            <a:avLst/>
          </a:prstGeom>
          <a:noFill/>
          <a:ln w="31750">
            <a:solidFill>
              <a:schemeClr val="tx1"/>
            </a:solidFill>
            <a:prstDash val="dash"/>
            <a:round/>
            <a:headEnd/>
            <a:tailEnd type="oval" w="lg" len="lg"/>
          </a:ln>
          <a:extLst>
            <a:ext uri="{909E8E84-426E-40dd-AFC4-6F175D3DCCD1}">
              <a14:hiddenFill xmlns="" xmlns:a14="http://schemas.microsoft.com/office/drawing/2010/main">
                <a:noFill/>
              </a14:hiddenFill>
            </a:ext>
          </a:extLst>
        </p:spPr>
        <p:txBody>
          <a:bodyPr wrap="none"/>
          <a:lstStyle/>
          <a:p>
            <a:endParaRPr lang="en-US">
              <a:latin typeface="Calibri Light" pitchFamily="34" charset="0"/>
            </a:endParaRPr>
          </a:p>
        </p:txBody>
      </p:sp>
      <p:sp>
        <p:nvSpPr>
          <p:cNvPr id="27665" name="Text Box 17"/>
          <p:cNvSpPr txBox="1">
            <a:spLocks noChangeArrowheads="1"/>
          </p:cNvSpPr>
          <p:nvPr/>
        </p:nvSpPr>
        <p:spPr bwMode="auto">
          <a:xfrm>
            <a:off x="7037388" y="1143001"/>
            <a:ext cx="3014928"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dirty="0">
                <a:latin typeface="Calibri Light" pitchFamily="34" charset="0"/>
              </a:rPr>
              <a:t>Application Process</a:t>
            </a:r>
            <a:r>
              <a:rPr lang="en-US" i="1" dirty="0">
                <a:latin typeface="Calibri Light" pitchFamily="34" charset="0"/>
              </a:rPr>
              <a:t>  </a:t>
            </a:r>
            <a:r>
              <a:rPr lang="en-US" sz="3200" b="1" i="1" dirty="0">
                <a:latin typeface="Calibri Light" pitchFamily="34" charset="0"/>
              </a:rPr>
              <a:t>p</a:t>
            </a:r>
            <a:r>
              <a:rPr lang="en-US" sz="3200" b="1" i="1" baseline="-25000" dirty="0">
                <a:latin typeface="Calibri Light" pitchFamily="34" charset="0"/>
              </a:rPr>
              <a:t>i</a:t>
            </a:r>
          </a:p>
        </p:txBody>
      </p:sp>
      <p:sp>
        <p:nvSpPr>
          <p:cNvPr id="20499" name="Text Box 19"/>
          <p:cNvSpPr txBox="1">
            <a:spLocks noChangeArrowheads="1"/>
          </p:cNvSpPr>
          <p:nvPr/>
        </p:nvSpPr>
        <p:spPr bwMode="auto">
          <a:xfrm>
            <a:off x="2855641" y="4149080"/>
            <a:ext cx="173066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p>
            <a:pPr>
              <a:defRPr/>
            </a:pPr>
            <a:r>
              <a:rPr lang="en-US">
                <a:latin typeface="Calibri Light" pitchFamily="34" charset="0"/>
              </a:rPr>
              <a:t>Membership List</a:t>
            </a:r>
          </a:p>
        </p:txBody>
      </p:sp>
      <p:sp>
        <p:nvSpPr>
          <p:cNvPr id="2" name="AutoShape 14">
            <a:extLst>
              <a:ext uri="{FF2B5EF4-FFF2-40B4-BE49-F238E27FC236}">
                <a16:creationId xmlns:a16="http://schemas.microsoft.com/office/drawing/2014/main" id="{F7B3CF9F-9C8B-B507-6284-0D950E08DC32}"/>
              </a:ext>
            </a:extLst>
          </p:cNvPr>
          <p:cNvSpPr>
            <a:spLocks noChangeArrowheads="1"/>
          </p:cNvSpPr>
          <p:nvPr/>
        </p:nvSpPr>
        <p:spPr bwMode="auto">
          <a:xfrm>
            <a:off x="8277507" y="1604178"/>
            <a:ext cx="304800" cy="1828800"/>
          </a:xfrm>
          <a:prstGeom prst="upDownArrow">
            <a:avLst>
              <a:gd name="adj1" fmla="val 50000"/>
              <a:gd name="adj2" fmla="val 120000"/>
            </a:avLst>
          </a:prstGeom>
          <a:solidFill>
            <a:srgbClr val="777777"/>
          </a:solidFill>
          <a:ln w="9525">
            <a:solidFill>
              <a:schemeClr val="tx1"/>
            </a:solidFill>
            <a:miter lim="800000"/>
            <a:headEnd/>
            <a:tailEnd/>
          </a:ln>
        </p:spPr>
        <p:txBody>
          <a:bodyPr wrap="none" anchor="ctr"/>
          <a:lstStyle/>
          <a:p>
            <a:endParaRPr lang="en-US">
              <a:latin typeface="Calibri Light"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8127"/>
                                        </p:tgtEl>
                                        <p:attrNameLst>
                                          <p:attrName>style.visibility</p:attrName>
                                        </p:attrNameLst>
                                      </p:cBhvr>
                                      <p:to>
                                        <p:strVal val="visible"/>
                                      </p:to>
                                    </p:set>
                                    <p:animEffect transition="in" filter="dissolve">
                                      <p:cBhvr>
                                        <p:cTn id="7" dur="500"/>
                                        <p:tgtEl>
                                          <p:spTgt spid="218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2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331B985A-F3BE-7549-B20F-D7B1D1247A78}" type="slidenum">
              <a:rPr lang="en-US" sz="1400">
                <a:latin typeface="Calibri Light" pitchFamily="34" charset="0"/>
              </a:rPr>
              <a:pPr eaLnBrk="1" hangingPunct="1"/>
              <a:t>66</a:t>
            </a:fld>
            <a:endParaRPr lang="en-US" sz="1400">
              <a:latin typeface="Calibri Light" pitchFamily="34" charset="0"/>
            </a:endParaRPr>
          </a:p>
        </p:txBody>
      </p:sp>
      <p:sp>
        <p:nvSpPr>
          <p:cNvPr id="29698" name="Rectangle 2"/>
          <p:cNvSpPr>
            <a:spLocks noGrp="1" noChangeArrowheads="1"/>
          </p:cNvSpPr>
          <p:nvPr>
            <p:ph type="title"/>
          </p:nvPr>
        </p:nvSpPr>
        <p:spPr>
          <a:xfrm>
            <a:off x="2279576" y="0"/>
            <a:ext cx="7772400" cy="1143000"/>
          </a:xfrm>
        </p:spPr>
        <p:txBody>
          <a:bodyPr/>
          <a:lstStyle/>
          <a:p>
            <a:pPr eaLnBrk="1" hangingPunct="1"/>
            <a:r>
              <a:rPr lang="en-GB">
                <a:solidFill>
                  <a:schemeClr val="accent1"/>
                </a:solidFill>
                <a:latin typeface="Whitney-BlackSC" charset="0"/>
                <a:cs typeface="Whitney-BlackSC" charset="0"/>
              </a:rPr>
              <a:t>Two sub-protocols</a:t>
            </a:r>
          </a:p>
        </p:txBody>
      </p:sp>
      <p:grpSp>
        <p:nvGrpSpPr>
          <p:cNvPr id="2" name="Group 3"/>
          <p:cNvGrpSpPr>
            <a:grpSpLocks/>
          </p:cNvGrpSpPr>
          <p:nvPr/>
        </p:nvGrpSpPr>
        <p:grpSpPr bwMode="auto">
          <a:xfrm>
            <a:off x="7001372" y="3645027"/>
            <a:ext cx="3014663" cy="1295402"/>
            <a:chOff x="3765" y="1920"/>
            <a:chExt cx="1899" cy="816"/>
          </a:xfrm>
        </p:grpSpPr>
        <p:grpSp>
          <p:nvGrpSpPr>
            <p:cNvPr id="3" name="Group 4"/>
            <p:cNvGrpSpPr>
              <a:grpSpLocks/>
            </p:cNvGrpSpPr>
            <p:nvPr/>
          </p:nvGrpSpPr>
          <p:grpSpPr bwMode="auto">
            <a:xfrm>
              <a:off x="4176" y="1920"/>
              <a:ext cx="1488" cy="432"/>
              <a:chOff x="4176" y="1920"/>
              <a:chExt cx="1488" cy="432"/>
            </a:xfrm>
          </p:grpSpPr>
          <p:sp>
            <p:nvSpPr>
              <p:cNvPr id="29721" name="AutoShape 5"/>
              <p:cNvSpPr>
                <a:spLocks noChangeArrowheads="1"/>
              </p:cNvSpPr>
              <p:nvPr/>
            </p:nvSpPr>
            <p:spPr bwMode="auto">
              <a:xfrm>
                <a:off x="4176" y="1920"/>
                <a:ext cx="1488" cy="432"/>
              </a:xfrm>
              <a:prstGeom prst="cube">
                <a:avLst>
                  <a:gd name="adj" fmla="val 25000"/>
                </a:avLst>
              </a:prstGeom>
              <a:solidFill>
                <a:schemeClr val="tx2"/>
              </a:solidFill>
              <a:ln w="9525">
                <a:solidFill>
                  <a:schemeClr val="bg2"/>
                </a:solidFill>
                <a:miter lim="800000"/>
                <a:headEnd/>
                <a:tailEnd/>
              </a:ln>
            </p:spPr>
            <p:txBody>
              <a:bodyPr wrap="none" anchor="ctr"/>
              <a:lstStyle/>
              <a:p>
                <a:endParaRPr lang="en-US">
                  <a:latin typeface="Calibri Light" pitchFamily="34" charset="0"/>
                </a:endParaRPr>
              </a:p>
            </p:txBody>
          </p:sp>
          <p:sp>
            <p:nvSpPr>
              <p:cNvPr id="29722" name="Text Box 6"/>
              <p:cNvSpPr txBox="1">
                <a:spLocks noChangeArrowheads="1"/>
              </p:cNvSpPr>
              <p:nvPr/>
            </p:nvSpPr>
            <p:spPr bwMode="auto">
              <a:xfrm>
                <a:off x="4223" y="2016"/>
                <a:ext cx="126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US" b="1">
                    <a:solidFill>
                      <a:schemeClr val="bg2"/>
                    </a:solidFill>
                    <a:latin typeface="Calibri Light" pitchFamily="34" charset="0"/>
                  </a:rPr>
                  <a:t>Dissemination</a:t>
                </a:r>
              </a:p>
            </p:txBody>
          </p:sp>
        </p:grpSp>
        <p:grpSp>
          <p:nvGrpSpPr>
            <p:cNvPr id="4" name="Group 7"/>
            <p:cNvGrpSpPr>
              <a:grpSpLocks/>
            </p:cNvGrpSpPr>
            <p:nvPr/>
          </p:nvGrpSpPr>
          <p:grpSpPr bwMode="auto">
            <a:xfrm>
              <a:off x="3765" y="2304"/>
              <a:ext cx="1515" cy="432"/>
              <a:chOff x="3765" y="2304"/>
              <a:chExt cx="1515" cy="432"/>
            </a:xfrm>
          </p:grpSpPr>
          <p:sp>
            <p:nvSpPr>
              <p:cNvPr id="29719" name="AutoShape 8"/>
              <p:cNvSpPr>
                <a:spLocks noChangeArrowheads="1"/>
              </p:cNvSpPr>
              <p:nvPr/>
            </p:nvSpPr>
            <p:spPr bwMode="auto">
              <a:xfrm>
                <a:off x="3792" y="2304"/>
                <a:ext cx="1488" cy="432"/>
              </a:xfrm>
              <a:prstGeom prst="cube">
                <a:avLst>
                  <a:gd name="adj" fmla="val 25000"/>
                </a:avLst>
              </a:prstGeom>
              <a:solidFill>
                <a:schemeClr val="tx2"/>
              </a:solidFill>
              <a:ln w="9525">
                <a:solidFill>
                  <a:schemeClr val="bg2"/>
                </a:solidFill>
                <a:miter lim="800000"/>
                <a:headEnd/>
                <a:tailEnd/>
              </a:ln>
            </p:spPr>
            <p:txBody>
              <a:bodyPr wrap="none" anchor="ctr"/>
              <a:lstStyle/>
              <a:p>
                <a:endParaRPr lang="en-US">
                  <a:latin typeface="Calibri Light" pitchFamily="34" charset="0"/>
                </a:endParaRPr>
              </a:p>
            </p:txBody>
          </p:sp>
          <p:sp>
            <p:nvSpPr>
              <p:cNvPr id="29720" name="Text Box 9"/>
              <p:cNvSpPr txBox="1">
                <a:spLocks noChangeArrowheads="1"/>
              </p:cNvSpPr>
              <p:nvPr/>
            </p:nvSpPr>
            <p:spPr bwMode="auto">
              <a:xfrm>
                <a:off x="3765" y="2400"/>
                <a:ext cx="1422"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US" b="1">
                    <a:solidFill>
                      <a:schemeClr val="bg2"/>
                    </a:solidFill>
                    <a:latin typeface="Calibri Light" pitchFamily="34" charset="0"/>
                  </a:rPr>
                  <a:t>Failure Detector</a:t>
                </a:r>
              </a:p>
            </p:txBody>
          </p:sp>
        </p:grpSp>
      </p:grpSp>
      <p:sp>
        <p:nvSpPr>
          <p:cNvPr id="29700" name="Text Box 10"/>
          <p:cNvSpPr txBox="1">
            <a:spLocks noChangeArrowheads="1"/>
          </p:cNvSpPr>
          <p:nvPr/>
        </p:nvSpPr>
        <p:spPr bwMode="auto">
          <a:xfrm>
            <a:off x="5519936" y="1340769"/>
            <a:ext cx="3014928"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a:latin typeface="Calibri Light" pitchFamily="34" charset="0"/>
              </a:rPr>
              <a:t>Application Process</a:t>
            </a:r>
            <a:r>
              <a:rPr lang="en-US" i="1">
                <a:latin typeface="Calibri Light" pitchFamily="34" charset="0"/>
              </a:rPr>
              <a:t>  </a:t>
            </a:r>
            <a:r>
              <a:rPr lang="en-US" sz="3200" b="1" i="1">
                <a:latin typeface="Calibri Light" pitchFamily="34" charset="0"/>
              </a:rPr>
              <a:t>pi</a:t>
            </a:r>
          </a:p>
        </p:txBody>
      </p:sp>
      <p:sp>
        <p:nvSpPr>
          <p:cNvPr id="29701" name="AutoShape 18"/>
          <p:cNvSpPr>
            <a:spLocks noChangeArrowheads="1"/>
          </p:cNvSpPr>
          <p:nvPr/>
        </p:nvSpPr>
        <p:spPr bwMode="auto">
          <a:xfrm rot="5397037">
            <a:off x="5829300" y="-1638300"/>
            <a:ext cx="457200" cy="8153400"/>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29702" name="AutoShape 19"/>
          <p:cNvSpPr>
            <a:spLocks noChangeArrowheads="1"/>
          </p:cNvSpPr>
          <p:nvPr/>
        </p:nvSpPr>
        <p:spPr bwMode="auto">
          <a:xfrm rot="5397037">
            <a:off x="5767832" y="1672645"/>
            <a:ext cx="457200" cy="8153400"/>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29703" name="Text Box 20"/>
          <p:cNvSpPr txBox="1">
            <a:spLocks noChangeArrowheads="1"/>
          </p:cNvSpPr>
          <p:nvPr/>
        </p:nvSpPr>
        <p:spPr bwMode="auto">
          <a:xfrm>
            <a:off x="2520735" y="1484785"/>
            <a:ext cx="2211889"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r>
              <a:rPr lang="en-GB" i="1">
                <a:latin typeface="Calibri Light" pitchFamily="34" charset="0"/>
              </a:rPr>
              <a:t>Group </a:t>
            </a:r>
          </a:p>
          <a:p>
            <a:pPr algn="ctr" eaLnBrk="1" hangingPunct="1"/>
            <a:r>
              <a:rPr lang="en-GB" i="1">
                <a:latin typeface="Calibri Light" pitchFamily="34" charset="0"/>
              </a:rPr>
              <a:t>Membership List</a:t>
            </a:r>
            <a:endParaRPr lang="en-US" i="1">
              <a:latin typeface="Calibri Light" pitchFamily="34" charset="0"/>
            </a:endParaRPr>
          </a:p>
        </p:txBody>
      </p:sp>
      <p:sp>
        <p:nvSpPr>
          <p:cNvPr id="220181" name="Text Box 21"/>
          <p:cNvSpPr txBox="1">
            <a:spLocks noChangeArrowheads="1"/>
          </p:cNvSpPr>
          <p:nvPr/>
        </p:nvSpPr>
        <p:spPr bwMode="auto">
          <a:xfrm>
            <a:off x="7089491" y="5877273"/>
            <a:ext cx="1717458" cy="646331"/>
          </a:xfrm>
          <a:prstGeom prst="rect">
            <a:avLst/>
          </a:prstGeom>
          <a:noFill/>
          <a:ln w="9525">
            <a:noFill/>
            <a:miter lim="800000"/>
            <a:headEnd/>
            <a:tailEnd/>
          </a:ln>
          <a:effectLst/>
        </p:spPr>
        <p:txBody>
          <a:bodyPr wrap="none">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a:defRPr/>
            </a:pPr>
            <a:r>
              <a:rPr lang="en-US" b="1">
                <a:effectLst>
                  <a:outerShdw blurRad="38100" dist="38100" dir="2700000" algn="tl">
                    <a:srgbClr val="DDDDDD"/>
                  </a:outerShdw>
                </a:effectLst>
                <a:latin typeface="Calibri Light" pitchFamily="34" charset="0"/>
              </a:rPr>
              <a:t>Unreliable </a:t>
            </a:r>
          </a:p>
          <a:p>
            <a:pPr algn="r">
              <a:defRPr/>
            </a:pPr>
            <a:r>
              <a:rPr lang="en-US" b="1">
                <a:effectLst>
                  <a:outerShdw blurRad="38100" dist="38100" dir="2700000" algn="tl">
                    <a:srgbClr val="DDDDDD"/>
                  </a:outerShdw>
                </a:effectLst>
                <a:latin typeface="Calibri Light" pitchFamily="34" charset="0"/>
              </a:rPr>
              <a:t>Communication</a:t>
            </a:r>
          </a:p>
        </p:txBody>
      </p:sp>
      <p:sp>
        <p:nvSpPr>
          <p:cNvPr id="29705" name="Text Box 22"/>
          <p:cNvSpPr txBox="1">
            <a:spLocks noChangeArrowheads="1"/>
          </p:cNvSpPr>
          <p:nvPr/>
        </p:nvSpPr>
        <p:spPr bwMode="auto">
          <a:xfrm>
            <a:off x="2207569" y="3789040"/>
            <a:ext cx="4722447"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buFontTx/>
              <a:buChar char="•"/>
            </a:pPr>
            <a:r>
              <a:rPr lang="en-US" sz="1800" b="1" i="1">
                <a:solidFill>
                  <a:srgbClr val="FF6600"/>
                </a:solidFill>
                <a:latin typeface="Calibri Light" pitchFamily="34" charset="0"/>
              </a:rPr>
              <a:t>Complete list all the time (Strongly consistent)</a:t>
            </a:r>
          </a:p>
          <a:p>
            <a:pPr lvl="1" eaLnBrk="1" hangingPunct="1">
              <a:buFontTx/>
              <a:buChar char="•"/>
            </a:pPr>
            <a:r>
              <a:rPr lang="en-US" sz="1800" b="1" i="1">
                <a:solidFill>
                  <a:srgbClr val="FF6600"/>
                </a:solidFill>
                <a:latin typeface="Calibri Light" pitchFamily="34" charset="0"/>
                <a:cs typeface="ＭＳ Ｐゴシック" charset="0"/>
              </a:rPr>
              <a:t>Virtual synchrony</a:t>
            </a:r>
          </a:p>
          <a:p>
            <a:pPr eaLnBrk="1" hangingPunct="1">
              <a:buFontTx/>
              <a:buChar char="•"/>
            </a:pPr>
            <a:r>
              <a:rPr lang="en-US" sz="1800" b="1" i="1">
                <a:solidFill>
                  <a:srgbClr val="FF6600"/>
                </a:solidFill>
                <a:latin typeface="Calibri Light" pitchFamily="34" charset="0"/>
              </a:rPr>
              <a:t>Almost-Complete </a:t>
            </a:r>
            <a:r>
              <a:rPr lang="en-US" sz="1800" b="1">
                <a:solidFill>
                  <a:srgbClr val="FF6600"/>
                </a:solidFill>
                <a:latin typeface="Calibri Light" pitchFamily="34" charset="0"/>
              </a:rPr>
              <a:t>list (Weakly consistent)</a:t>
            </a:r>
          </a:p>
        </p:txBody>
      </p:sp>
      <p:sp>
        <p:nvSpPr>
          <p:cNvPr id="29706" name="AutoShape 24"/>
          <p:cNvSpPr>
            <a:spLocks/>
          </p:cNvSpPr>
          <p:nvPr/>
        </p:nvSpPr>
        <p:spPr bwMode="auto">
          <a:xfrm>
            <a:off x="5715000" y="2717800"/>
            <a:ext cx="152400" cy="914400"/>
          </a:xfrm>
          <a:prstGeom prst="rightBrace">
            <a:avLst>
              <a:gd name="adj1" fmla="val 5000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Light" pitchFamily="34" charset="0"/>
            </a:endParaRPr>
          </a:p>
        </p:txBody>
      </p:sp>
      <p:sp>
        <p:nvSpPr>
          <p:cNvPr id="29707" name="Line 25"/>
          <p:cNvSpPr>
            <a:spLocks noChangeShapeType="1"/>
          </p:cNvSpPr>
          <p:nvPr/>
        </p:nvSpPr>
        <p:spPr bwMode="auto">
          <a:xfrm flipH="1">
            <a:off x="2133600" y="3505200"/>
            <a:ext cx="3657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latin typeface="Calibri Light" pitchFamily="34" charset="0"/>
            </a:endParaRPr>
          </a:p>
        </p:txBody>
      </p:sp>
      <p:grpSp>
        <p:nvGrpSpPr>
          <p:cNvPr id="6" name="Group 1"/>
          <p:cNvGrpSpPr>
            <a:grpSpLocks/>
          </p:cNvGrpSpPr>
          <p:nvPr/>
        </p:nvGrpSpPr>
        <p:grpSpPr bwMode="auto">
          <a:xfrm>
            <a:off x="2133600" y="2819401"/>
            <a:ext cx="3288632" cy="465584"/>
            <a:chOff x="609600" y="2114548"/>
            <a:chExt cx="3429194" cy="317720"/>
          </a:xfrm>
        </p:grpSpPr>
        <p:sp>
          <p:nvSpPr>
            <p:cNvPr id="29710" name="Text Box 12"/>
            <p:cNvSpPr txBox="1">
              <a:spLocks noChangeArrowheads="1"/>
            </p:cNvSpPr>
            <p:nvPr/>
          </p:nvSpPr>
          <p:spPr bwMode="auto">
            <a:xfrm>
              <a:off x="609600" y="2114548"/>
              <a:ext cx="3429194" cy="315046"/>
            </a:xfrm>
            <a:prstGeom prst="rect">
              <a:avLst/>
            </a:prstGeom>
            <a:solidFill>
              <a:schemeClr val="bg1"/>
            </a:solidFill>
            <a:ln w="28575">
              <a:solidFill>
                <a:schemeClr val="tx1"/>
              </a:solidFill>
              <a:miter lim="800000"/>
              <a:headEnd type="none" w="lg" len="lg"/>
              <a:tailEnd type="none" w="lg" len="lg"/>
            </a:ln>
          </p:spPr>
          <p:txBody>
            <a:bodyPr wrap="squar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GB" i="1">
                  <a:latin typeface="Calibri Light" pitchFamily="34" charset="0"/>
                </a:rPr>
                <a:t>                    </a:t>
              </a:r>
              <a:r>
                <a:rPr lang="en-GB" i="1" err="1">
                  <a:latin typeface="Calibri Light" pitchFamily="34" charset="0"/>
                </a:rPr>
                <a:t>pj</a:t>
              </a:r>
              <a:endParaRPr lang="en-GB" i="1">
                <a:latin typeface="Calibri Light" pitchFamily="34" charset="0"/>
              </a:endParaRPr>
            </a:p>
          </p:txBody>
        </p:sp>
        <p:sp>
          <p:nvSpPr>
            <p:cNvPr id="29711" name="Line 13"/>
            <p:cNvSpPr>
              <a:spLocks noChangeShapeType="1"/>
            </p:cNvSpPr>
            <p:nvPr/>
          </p:nvSpPr>
          <p:spPr bwMode="auto">
            <a:xfrm flipV="1">
              <a:off x="1062158" y="2114548"/>
              <a:ext cx="4641" cy="317720"/>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xmlns="">
                  <a:noFill/>
                </a14:hiddenFill>
              </a:ext>
            </a:extLst>
          </p:spPr>
          <p:txBody>
            <a:bodyPr/>
            <a:lstStyle/>
            <a:p>
              <a:endParaRPr lang="en-US">
                <a:latin typeface="Calibri Light" pitchFamily="34" charset="0"/>
              </a:endParaRPr>
            </a:p>
          </p:txBody>
        </p:sp>
        <p:sp>
          <p:nvSpPr>
            <p:cNvPr id="29712" name="Line 14"/>
            <p:cNvSpPr>
              <a:spLocks noChangeShapeType="1"/>
            </p:cNvSpPr>
            <p:nvPr/>
          </p:nvSpPr>
          <p:spPr bwMode="auto">
            <a:xfrm flipV="1">
              <a:off x="1512673" y="2114548"/>
              <a:ext cx="11327" cy="317720"/>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xmlns="">
                  <a:noFill/>
                </a14:hiddenFill>
              </a:ext>
            </a:extLst>
          </p:spPr>
          <p:txBody>
            <a:bodyPr/>
            <a:lstStyle/>
            <a:p>
              <a:endParaRPr lang="en-US">
                <a:latin typeface="Calibri Light" pitchFamily="34" charset="0"/>
              </a:endParaRPr>
            </a:p>
          </p:txBody>
        </p:sp>
        <p:sp>
          <p:nvSpPr>
            <p:cNvPr id="29713" name="Line 15"/>
            <p:cNvSpPr>
              <a:spLocks noChangeShapeType="1"/>
            </p:cNvSpPr>
            <p:nvPr/>
          </p:nvSpPr>
          <p:spPr bwMode="auto">
            <a:xfrm flipV="1">
              <a:off x="1963187" y="2114548"/>
              <a:ext cx="18012" cy="317720"/>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xmlns="">
                  <a:noFill/>
                </a14:hiddenFill>
              </a:ext>
            </a:extLst>
          </p:spPr>
          <p:txBody>
            <a:bodyPr/>
            <a:lstStyle/>
            <a:p>
              <a:endParaRPr lang="en-US">
                <a:latin typeface="Calibri Light" pitchFamily="34" charset="0"/>
              </a:endParaRPr>
            </a:p>
          </p:txBody>
        </p:sp>
        <p:sp>
          <p:nvSpPr>
            <p:cNvPr id="29714" name="Line 16"/>
            <p:cNvSpPr>
              <a:spLocks noChangeShapeType="1"/>
            </p:cNvSpPr>
            <p:nvPr/>
          </p:nvSpPr>
          <p:spPr bwMode="auto">
            <a:xfrm flipV="1">
              <a:off x="2488788" y="2114548"/>
              <a:ext cx="25813" cy="317720"/>
            </a:xfrm>
            <a:prstGeom prst="line">
              <a:avLst/>
            </a:prstGeom>
            <a:noFill/>
            <a:ln w="28575">
              <a:solidFill>
                <a:schemeClr val="tx1"/>
              </a:solidFill>
              <a:round/>
              <a:headEnd type="none" w="lg" len="lg"/>
              <a:tailEnd type="none" w="lg" len="lg"/>
            </a:ln>
            <a:extLst>
              <a:ext uri="{909E8E84-426E-40dd-AFC4-6F175D3DCCD1}">
                <a14:hiddenFill xmlns:a14="http://schemas.microsoft.com/office/drawing/2010/main" xmlns="">
                  <a:noFill/>
                </a14:hiddenFill>
              </a:ext>
            </a:extLst>
          </p:spPr>
          <p:txBody>
            <a:bodyPr/>
            <a:lstStyle/>
            <a:p>
              <a:endParaRPr lang="en-US">
                <a:latin typeface="Calibri Light" pitchFamily="34" charset="0"/>
              </a:endParaRP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DB3B0A04-1F95-214A-B734-CD348D3F0502}" type="slidenum">
              <a:rPr lang="en-US" sz="1400">
                <a:latin typeface="Calibri Light" pitchFamily="34" charset="0"/>
              </a:rPr>
              <a:pPr eaLnBrk="1" hangingPunct="1"/>
              <a:t>67</a:t>
            </a:fld>
            <a:endParaRPr lang="en-US" sz="1400">
              <a:latin typeface="Calibri Light" pitchFamily="34" charset="0"/>
            </a:endParaRPr>
          </a:p>
        </p:txBody>
      </p:sp>
      <p:sp>
        <p:nvSpPr>
          <p:cNvPr id="31746" name="Rectangle 2"/>
          <p:cNvSpPr>
            <a:spLocks noGrp="1" noChangeArrowheads="1"/>
          </p:cNvSpPr>
          <p:nvPr>
            <p:ph type="title"/>
          </p:nvPr>
        </p:nvSpPr>
        <p:spPr>
          <a:xfrm>
            <a:off x="1828800" y="0"/>
            <a:ext cx="8371656" cy="1143000"/>
          </a:xfrm>
        </p:spPr>
        <p:txBody>
          <a:bodyPr>
            <a:noAutofit/>
          </a:bodyPr>
          <a:lstStyle/>
          <a:p>
            <a:r>
              <a:rPr lang="en-GB">
                <a:solidFill>
                  <a:schemeClr val="accent1"/>
                </a:solidFill>
                <a:latin typeface="Whitney-BlackSC" charset="0"/>
                <a:cs typeface="Whitney-BlackSC" charset="0"/>
              </a:rPr>
              <a:t>Large Group: Scalability A Goal</a:t>
            </a:r>
          </a:p>
        </p:txBody>
      </p:sp>
      <p:sp>
        <p:nvSpPr>
          <p:cNvPr id="31747" name="Text Box 3"/>
          <p:cNvSpPr txBox="1">
            <a:spLocks noChangeArrowheads="1"/>
          </p:cNvSpPr>
          <p:nvPr/>
        </p:nvSpPr>
        <p:spPr bwMode="auto">
          <a:xfrm>
            <a:off x="1808165" y="1092201"/>
            <a:ext cx="2005677"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2800" dirty="0">
                <a:latin typeface="Calibri Light" pitchFamily="34" charset="0"/>
              </a:rPr>
              <a:t>this is us (</a:t>
            </a:r>
            <a:r>
              <a:rPr lang="en-US" sz="3200" dirty="0">
                <a:latin typeface="Calibri Light" pitchFamily="34" charset="0"/>
              </a:rPr>
              <a:t>p</a:t>
            </a:r>
            <a:r>
              <a:rPr lang="en-US" sz="3200" baseline="-25000" dirty="0">
                <a:latin typeface="Calibri Light" pitchFamily="34" charset="0"/>
              </a:rPr>
              <a:t>i</a:t>
            </a:r>
            <a:r>
              <a:rPr lang="en-US" sz="2800" dirty="0">
                <a:latin typeface="Calibri Light" pitchFamily="34" charset="0"/>
              </a:rPr>
              <a:t>)</a:t>
            </a:r>
          </a:p>
        </p:txBody>
      </p:sp>
      <p:grpSp>
        <p:nvGrpSpPr>
          <p:cNvPr id="2" name="Group 4"/>
          <p:cNvGrpSpPr>
            <a:grpSpLocks/>
          </p:cNvGrpSpPr>
          <p:nvPr/>
        </p:nvGrpSpPr>
        <p:grpSpPr bwMode="auto">
          <a:xfrm>
            <a:off x="1981200" y="2286000"/>
            <a:ext cx="839788" cy="1219200"/>
            <a:chOff x="288" y="1440"/>
            <a:chExt cx="529" cy="768"/>
          </a:xfrm>
        </p:grpSpPr>
        <p:sp>
          <p:nvSpPr>
            <p:cNvPr id="31780" name="AutoShape 5"/>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81" name="AutoShape 6"/>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82" name="Rectangle 7"/>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3" name="Group 8"/>
          <p:cNvGrpSpPr>
            <a:grpSpLocks/>
          </p:cNvGrpSpPr>
          <p:nvPr/>
        </p:nvGrpSpPr>
        <p:grpSpPr bwMode="auto">
          <a:xfrm>
            <a:off x="4648200" y="2514600"/>
            <a:ext cx="839788" cy="1219200"/>
            <a:chOff x="288" y="1440"/>
            <a:chExt cx="529" cy="768"/>
          </a:xfrm>
        </p:grpSpPr>
        <p:sp>
          <p:nvSpPr>
            <p:cNvPr id="31777" name="AutoShape 9"/>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8" name="AutoShape 10"/>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9" name="Rectangle 11"/>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4" name="Group 12"/>
          <p:cNvGrpSpPr>
            <a:grpSpLocks/>
          </p:cNvGrpSpPr>
          <p:nvPr/>
        </p:nvGrpSpPr>
        <p:grpSpPr bwMode="auto">
          <a:xfrm>
            <a:off x="3276600" y="1828800"/>
            <a:ext cx="839788" cy="1219200"/>
            <a:chOff x="288" y="1440"/>
            <a:chExt cx="529" cy="768"/>
          </a:xfrm>
        </p:grpSpPr>
        <p:sp>
          <p:nvSpPr>
            <p:cNvPr id="31774" name="AutoShape 13"/>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5" name="AutoShape 14"/>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6" name="Rectangle 15"/>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5" name="Group 16"/>
          <p:cNvGrpSpPr>
            <a:grpSpLocks/>
          </p:cNvGrpSpPr>
          <p:nvPr/>
        </p:nvGrpSpPr>
        <p:grpSpPr bwMode="auto">
          <a:xfrm>
            <a:off x="6019800" y="2819400"/>
            <a:ext cx="839788" cy="1219200"/>
            <a:chOff x="288" y="1440"/>
            <a:chExt cx="529" cy="768"/>
          </a:xfrm>
        </p:grpSpPr>
        <p:sp>
          <p:nvSpPr>
            <p:cNvPr id="31771" name="AutoShape 17"/>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2" name="AutoShape 18"/>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73" name="Rectangle 19"/>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sp>
        <p:nvSpPr>
          <p:cNvPr id="31752" name="Line 20"/>
          <p:cNvSpPr>
            <a:spLocks noChangeShapeType="1"/>
          </p:cNvSpPr>
          <p:nvPr/>
        </p:nvSpPr>
        <p:spPr bwMode="auto">
          <a:xfrm>
            <a:off x="2855640" y="16288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lstStyle/>
          <a:p>
            <a:endParaRPr lang="en-US">
              <a:latin typeface="Calibri Light" pitchFamily="34" charset="0"/>
            </a:endParaRPr>
          </a:p>
        </p:txBody>
      </p:sp>
      <p:grpSp>
        <p:nvGrpSpPr>
          <p:cNvPr id="6" name="Group 21"/>
          <p:cNvGrpSpPr>
            <a:grpSpLocks/>
          </p:cNvGrpSpPr>
          <p:nvPr/>
        </p:nvGrpSpPr>
        <p:grpSpPr bwMode="auto">
          <a:xfrm>
            <a:off x="4191000" y="5154084"/>
            <a:ext cx="4724400" cy="1247174"/>
            <a:chOff x="1152" y="3072"/>
            <a:chExt cx="2976" cy="785"/>
          </a:xfrm>
        </p:grpSpPr>
        <p:sp>
          <p:nvSpPr>
            <p:cNvPr id="222230" name="Text Box 22"/>
            <p:cNvSpPr txBox="1">
              <a:spLocks noChangeArrowheads="1"/>
            </p:cNvSpPr>
            <p:nvPr/>
          </p:nvSpPr>
          <p:spPr bwMode="auto">
            <a:xfrm>
              <a:off x="1788" y="3216"/>
              <a:ext cx="1746" cy="407"/>
            </a:xfrm>
            <a:prstGeom prst="rect">
              <a:avLst/>
            </a:prstGeom>
            <a:noFill/>
            <a:ln w="9525">
              <a:noFill/>
              <a:miter lim="800000"/>
              <a:headEnd/>
              <a:tailEnd/>
            </a:ln>
            <a:effectLst/>
          </p:spPr>
          <p:txBody>
            <a:bodyPr wrap="none">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a:defRPr/>
              </a:pPr>
              <a:r>
                <a:rPr lang="en-US" b="1">
                  <a:solidFill>
                    <a:schemeClr val="accent1"/>
                  </a:solidFill>
                  <a:effectLst>
                    <a:outerShdw blurRad="38100" dist="38100" dir="2700000" algn="tl">
                      <a:srgbClr val="DDDDDD"/>
                    </a:outerShdw>
                  </a:effectLst>
                  <a:latin typeface="Calibri Light" pitchFamily="34" charset="0"/>
                </a:rPr>
                <a:t>Unreliable Communication</a:t>
              </a:r>
            </a:p>
            <a:p>
              <a:pPr algn="ctr">
                <a:defRPr/>
              </a:pPr>
              <a:r>
                <a:rPr lang="en-US" b="1">
                  <a:solidFill>
                    <a:schemeClr val="accent1"/>
                  </a:solidFill>
                  <a:effectLst>
                    <a:outerShdw blurRad="38100" dist="38100" dir="2700000" algn="tl">
                      <a:srgbClr val="DDDDDD"/>
                    </a:outerShdw>
                  </a:effectLst>
                  <a:latin typeface="Calibri Light" pitchFamily="34" charset="0"/>
                </a:rPr>
                <a:t>Network</a:t>
              </a:r>
            </a:p>
          </p:txBody>
        </p:sp>
        <p:sp>
          <p:nvSpPr>
            <p:cNvPr id="31770" name="Cloud"/>
            <p:cNvSpPr>
              <a:spLocks noChangeAspect="1" noEditPoints="1" noChangeArrowheads="1"/>
            </p:cNvSpPr>
            <p:nvPr/>
          </p:nvSpPr>
          <p:spPr bwMode="auto">
            <a:xfrm>
              <a:off x="1152" y="3072"/>
              <a:ext cx="2976" cy="7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6 w 21600"/>
                <a:gd name="T13" fmla="*/ 3274 h 21600"/>
                <a:gd name="T14" fmla="*/ 17085 w 21600"/>
                <a:gd name="T15" fmla="*/ 17335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noFill/>
            <a:ln w="349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latin typeface="Calibri Light" pitchFamily="34" charset="0"/>
              </a:endParaRPr>
            </a:p>
          </p:txBody>
        </p:sp>
      </p:grpSp>
      <p:grpSp>
        <p:nvGrpSpPr>
          <p:cNvPr id="7" name="Group 24"/>
          <p:cNvGrpSpPr>
            <a:grpSpLocks/>
          </p:cNvGrpSpPr>
          <p:nvPr/>
        </p:nvGrpSpPr>
        <p:grpSpPr bwMode="auto">
          <a:xfrm>
            <a:off x="7239000" y="1219200"/>
            <a:ext cx="839788" cy="1219200"/>
            <a:chOff x="288" y="1440"/>
            <a:chExt cx="529" cy="768"/>
          </a:xfrm>
        </p:grpSpPr>
        <p:sp>
          <p:nvSpPr>
            <p:cNvPr id="31766" name="AutoShape 25"/>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7" name="AutoShape 26"/>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8" name="Rectangle 27"/>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8" name="Group 28"/>
          <p:cNvGrpSpPr>
            <a:grpSpLocks/>
          </p:cNvGrpSpPr>
          <p:nvPr/>
        </p:nvGrpSpPr>
        <p:grpSpPr bwMode="auto">
          <a:xfrm>
            <a:off x="8382000" y="2286000"/>
            <a:ext cx="839788" cy="1219200"/>
            <a:chOff x="288" y="1440"/>
            <a:chExt cx="529" cy="768"/>
          </a:xfrm>
        </p:grpSpPr>
        <p:sp>
          <p:nvSpPr>
            <p:cNvPr id="31763" name="AutoShape 29"/>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4" name="AutoShape 30"/>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5" name="Rectangle 31"/>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sp>
        <p:nvSpPr>
          <p:cNvPr id="31756" name="Text Box 32"/>
          <p:cNvSpPr txBox="1">
            <a:spLocks noChangeArrowheads="1"/>
          </p:cNvSpPr>
          <p:nvPr/>
        </p:nvSpPr>
        <p:spPr bwMode="auto">
          <a:xfrm>
            <a:off x="5203826" y="4303185"/>
            <a:ext cx="2680927" cy="461665"/>
          </a:xfrm>
          <a:prstGeom prst="rect">
            <a:avLst/>
          </a:prstGeom>
          <a:noFill/>
          <a:ln w="22225">
            <a:solidFill>
              <a:schemeClr val="tx2"/>
            </a:solidFill>
            <a:prstDash val="lgDash"/>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a:solidFill>
                  <a:schemeClr val="tx2"/>
                </a:solidFill>
                <a:latin typeface="Calibri Light" pitchFamily="34" charset="0"/>
              </a:rPr>
              <a:t>1000</a:t>
            </a:r>
            <a:r>
              <a:rPr lang="ja-JP" altLang="en-US">
                <a:solidFill>
                  <a:schemeClr val="tx2"/>
                </a:solidFill>
                <a:latin typeface="Calibri Light" pitchFamily="34" charset="0"/>
              </a:rPr>
              <a:t>’</a:t>
            </a:r>
            <a:r>
              <a:rPr lang="en-US" altLang="ja-JP">
                <a:solidFill>
                  <a:schemeClr val="tx2"/>
                </a:solidFill>
                <a:latin typeface="Calibri Light" pitchFamily="34" charset="0"/>
              </a:rPr>
              <a:t>s of processes</a:t>
            </a:r>
            <a:endParaRPr lang="en-US">
              <a:solidFill>
                <a:schemeClr val="tx2"/>
              </a:solidFill>
              <a:latin typeface="Calibri Light" pitchFamily="34" charset="0"/>
            </a:endParaRPr>
          </a:p>
        </p:txBody>
      </p:sp>
      <p:grpSp>
        <p:nvGrpSpPr>
          <p:cNvPr id="9" name="Group 33"/>
          <p:cNvGrpSpPr>
            <a:grpSpLocks/>
          </p:cNvGrpSpPr>
          <p:nvPr/>
        </p:nvGrpSpPr>
        <p:grpSpPr bwMode="auto">
          <a:xfrm>
            <a:off x="9372600" y="3505200"/>
            <a:ext cx="839788" cy="1219200"/>
            <a:chOff x="288" y="1440"/>
            <a:chExt cx="529" cy="768"/>
          </a:xfrm>
        </p:grpSpPr>
        <p:sp>
          <p:nvSpPr>
            <p:cNvPr id="31760" name="AutoShape 34"/>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1" name="AutoShape 35"/>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1762" name="Rectangle 36"/>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latin typeface="Calibri Light" pitchFamily="34" charset="0"/>
              </a:endParaRPr>
            </a:p>
          </p:txBody>
        </p:sp>
      </p:grpSp>
      <p:sp>
        <p:nvSpPr>
          <p:cNvPr id="31758" name="Text Box 37"/>
          <p:cNvSpPr txBox="1">
            <a:spLocks noChangeArrowheads="1"/>
          </p:cNvSpPr>
          <p:nvPr/>
        </p:nvSpPr>
        <p:spPr bwMode="auto">
          <a:xfrm>
            <a:off x="8145464" y="1143002"/>
            <a:ext cx="1961755" cy="461665"/>
          </a:xfrm>
          <a:prstGeom prst="rect">
            <a:avLst/>
          </a:prstGeom>
          <a:solidFill>
            <a:schemeClr val="accent1"/>
          </a:solidFill>
          <a:ln>
            <a:noFill/>
          </a:ln>
          <a:extLst>
            <a:ext uri="{91240B29-F687-4f45-9708-019B960494DF}">
              <a14:hiddenLine xmlns:a14="http://schemas.microsoft.com/office/drawing/2010/main" xmlns="" w="28575">
                <a:solidFill>
                  <a:srgbClr val="000000"/>
                </a:solidFill>
                <a:prstDash val="dash"/>
                <a:miter lim="800000"/>
                <a:headEnd type="none" w="lg" len="lg"/>
                <a:tailEnd type="none" w="lg" len="lg"/>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GB">
                <a:solidFill>
                  <a:schemeClr val="bg1"/>
                </a:solidFill>
                <a:latin typeface="Calibri Light" pitchFamily="34" charset="0"/>
              </a:rPr>
              <a:t>Process Group</a:t>
            </a:r>
          </a:p>
        </p:txBody>
      </p:sp>
      <p:sp>
        <p:nvSpPr>
          <p:cNvPr id="31759" name="Text Box 38"/>
          <p:cNvSpPr txBox="1">
            <a:spLocks noChangeArrowheads="1"/>
          </p:cNvSpPr>
          <p:nvPr/>
        </p:nvSpPr>
        <p:spPr bwMode="auto">
          <a:xfrm>
            <a:off x="8145464" y="1591228"/>
            <a:ext cx="1961754" cy="461665"/>
          </a:xfrm>
          <a:prstGeom prst="rect">
            <a:avLst/>
          </a:prstGeom>
          <a:solidFill>
            <a:schemeClr val="accent1"/>
          </a:solidFill>
          <a:ln>
            <a:noFill/>
          </a:ln>
          <a:extLst>
            <a:ext uri="{91240B29-F687-4f45-9708-019B960494DF}">
              <a14:hiddenLine xmlns:a14="http://schemas.microsoft.com/office/drawing/2010/main" xmlns="" w="28575">
                <a:solidFill>
                  <a:srgbClr val="000000"/>
                </a:solidFill>
                <a:prstDash val="dash"/>
                <a:miter lim="800000"/>
                <a:headEnd type="none" w="lg" len="lg"/>
                <a:tailEnd type="none" w="lg" len="lg"/>
              </a14:hiddenLine>
            </a:ext>
          </a:extLst>
        </p:spPr>
        <p:txBody>
          <a:bodyPr wrap="squar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GB" dirty="0">
                <a:solidFill>
                  <a:schemeClr val="bg1"/>
                </a:solidFill>
                <a:latin typeface="Calibri Light" pitchFamily="34" charset="0"/>
              </a:rPr>
              <a:t>“Members”</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23"/>
          <p:cNvGrpSpPr>
            <a:grpSpLocks/>
          </p:cNvGrpSpPr>
          <p:nvPr/>
        </p:nvGrpSpPr>
        <p:grpSpPr bwMode="auto">
          <a:xfrm>
            <a:off x="6384032" y="2852936"/>
            <a:ext cx="839788" cy="1219200"/>
            <a:chOff x="288" y="1440"/>
            <a:chExt cx="529" cy="768"/>
          </a:xfrm>
        </p:grpSpPr>
        <p:sp>
          <p:nvSpPr>
            <p:cNvPr id="33834" name="AutoShape 24"/>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5" name="AutoShape 25"/>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6" name="Rectangle 26"/>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sp>
        <p:nvSpPr>
          <p:cNvPr id="33793" name="Slide Number Placeholder 5"/>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DE0CD8B8-A442-4C45-B3B2-B70CED433469}" type="slidenum">
              <a:rPr lang="en-US" sz="1400">
                <a:latin typeface="Calibri Light" pitchFamily="34" charset="0"/>
              </a:rPr>
              <a:pPr eaLnBrk="1" hangingPunct="1"/>
              <a:t>68</a:t>
            </a:fld>
            <a:endParaRPr lang="en-US" sz="1400">
              <a:latin typeface="Calibri Light" pitchFamily="34" charset="0"/>
            </a:endParaRPr>
          </a:p>
        </p:txBody>
      </p:sp>
      <p:grpSp>
        <p:nvGrpSpPr>
          <p:cNvPr id="2" name="Group 3"/>
          <p:cNvGrpSpPr>
            <a:grpSpLocks/>
          </p:cNvGrpSpPr>
          <p:nvPr/>
        </p:nvGrpSpPr>
        <p:grpSpPr bwMode="auto">
          <a:xfrm>
            <a:off x="5089135" y="1705338"/>
            <a:ext cx="2667686" cy="2259880"/>
            <a:chOff x="2004" y="1304"/>
            <a:chExt cx="1427" cy="1414"/>
          </a:xfrm>
        </p:grpSpPr>
        <p:sp>
          <p:nvSpPr>
            <p:cNvPr id="33849" name="AutoShape 4"/>
            <p:cNvSpPr>
              <a:spLocks noChangeArrowheads="1"/>
            </p:cNvSpPr>
            <p:nvPr/>
          </p:nvSpPr>
          <p:spPr bwMode="auto">
            <a:xfrm rot="20870915">
              <a:off x="2537" y="1940"/>
              <a:ext cx="894" cy="778"/>
            </a:xfrm>
            <a:prstGeom prst="irregularSeal2">
              <a:avLst/>
            </a:prstGeom>
            <a:noFill/>
            <a:ln w="25400">
              <a:solidFill>
                <a:srgbClr val="FF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Light" pitchFamily="34" charset="0"/>
              </a:endParaRPr>
            </a:p>
          </p:txBody>
        </p:sp>
        <p:sp>
          <p:nvSpPr>
            <p:cNvPr id="33850" name="Text Box 5"/>
            <p:cNvSpPr txBox="1">
              <a:spLocks noChangeArrowheads="1"/>
            </p:cNvSpPr>
            <p:nvPr/>
          </p:nvSpPr>
          <p:spPr bwMode="auto">
            <a:xfrm rot="21586961">
              <a:off x="2004" y="1304"/>
              <a:ext cx="1187" cy="3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3200" b="1">
                  <a:solidFill>
                    <a:schemeClr val="tx2"/>
                  </a:solidFill>
                  <a:latin typeface="Calibri Light" pitchFamily="34" charset="0"/>
                </a:rPr>
                <a:t> I</a:t>
              </a:r>
              <a:r>
                <a:rPr lang="en-US" sz="3200" b="1">
                  <a:solidFill>
                    <a:srgbClr val="FF3300"/>
                  </a:solidFill>
                  <a:latin typeface="Calibri Light" pitchFamily="34" charset="0"/>
                </a:rPr>
                <a:t> </a:t>
              </a:r>
              <a:r>
                <a:rPr lang="en-US" b="1" i="1" err="1">
                  <a:solidFill>
                    <a:srgbClr val="FF3300"/>
                  </a:solidFill>
                  <a:latin typeface="Calibri Light" pitchFamily="34" charset="0"/>
                </a:rPr>
                <a:t>pj</a:t>
              </a:r>
              <a:r>
                <a:rPr lang="en-US" i="1">
                  <a:solidFill>
                    <a:srgbClr val="FF3300"/>
                  </a:solidFill>
                  <a:latin typeface="Calibri Light" pitchFamily="34" charset="0"/>
                </a:rPr>
                <a:t> crashed </a:t>
              </a:r>
              <a:endParaRPr lang="en-US" sz="3200" i="1">
                <a:solidFill>
                  <a:srgbClr val="FF3300"/>
                </a:solidFill>
                <a:latin typeface="Calibri Light" pitchFamily="34" charset="0"/>
              </a:endParaRPr>
            </a:p>
          </p:txBody>
        </p:sp>
      </p:grpSp>
      <p:sp>
        <p:nvSpPr>
          <p:cNvPr id="33796" name="Rectangle 6"/>
          <p:cNvSpPr>
            <a:spLocks noGrp="1" noChangeArrowheads="1"/>
          </p:cNvSpPr>
          <p:nvPr>
            <p:ph type="title"/>
          </p:nvPr>
        </p:nvSpPr>
        <p:spPr>
          <a:xfrm>
            <a:off x="551384" y="116632"/>
            <a:ext cx="7772400" cy="1143000"/>
          </a:xfrm>
        </p:spPr>
        <p:txBody>
          <a:bodyPr>
            <a:normAutofit fontScale="90000"/>
          </a:bodyPr>
          <a:lstStyle/>
          <a:p>
            <a:r>
              <a:rPr lang="en-GB">
                <a:solidFill>
                  <a:schemeClr val="accent1"/>
                </a:solidFill>
                <a:latin typeface="Whitney-BlackSC" charset="0"/>
                <a:cs typeface="Whitney-BlackSC" charset="0"/>
              </a:rPr>
              <a:t>Group Membership </a:t>
            </a:r>
            <a:br>
              <a:rPr lang="en-GB">
                <a:solidFill>
                  <a:schemeClr val="accent1"/>
                </a:solidFill>
                <a:latin typeface="Whitney-BlackSC" charset="0"/>
                <a:cs typeface="Whitney-BlackSC" charset="0"/>
              </a:rPr>
            </a:br>
            <a:r>
              <a:rPr lang="en-GB">
                <a:solidFill>
                  <a:schemeClr val="accent1"/>
                </a:solidFill>
                <a:latin typeface="Whitney-BlackSC" charset="0"/>
                <a:cs typeface="Whitney-BlackSC" charset="0"/>
              </a:rPr>
              <a:t>Protocol</a:t>
            </a:r>
          </a:p>
        </p:txBody>
      </p:sp>
      <p:grpSp>
        <p:nvGrpSpPr>
          <p:cNvPr id="3" name="Group 7"/>
          <p:cNvGrpSpPr>
            <a:grpSpLocks/>
          </p:cNvGrpSpPr>
          <p:nvPr/>
        </p:nvGrpSpPr>
        <p:grpSpPr bwMode="auto">
          <a:xfrm>
            <a:off x="1981200" y="2286000"/>
            <a:ext cx="839788" cy="1219200"/>
            <a:chOff x="288" y="1440"/>
            <a:chExt cx="529" cy="768"/>
          </a:xfrm>
        </p:grpSpPr>
        <p:sp>
          <p:nvSpPr>
            <p:cNvPr id="33846" name="AutoShape 8"/>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7" name="AutoShape 9"/>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8" name="Rectangle 10"/>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4" name="Group 11"/>
          <p:cNvGrpSpPr>
            <a:grpSpLocks/>
          </p:cNvGrpSpPr>
          <p:nvPr/>
        </p:nvGrpSpPr>
        <p:grpSpPr bwMode="auto">
          <a:xfrm>
            <a:off x="9372600" y="3505200"/>
            <a:ext cx="839788" cy="1219200"/>
            <a:chOff x="288" y="1440"/>
            <a:chExt cx="529" cy="768"/>
          </a:xfrm>
        </p:grpSpPr>
        <p:sp>
          <p:nvSpPr>
            <p:cNvPr id="33843" name="AutoShape 12"/>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4" name="AutoShape 13"/>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5" name="Rectangle 14"/>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5" name="Group 15"/>
          <p:cNvGrpSpPr>
            <a:grpSpLocks/>
          </p:cNvGrpSpPr>
          <p:nvPr/>
        </p:nvGrpSpPr>
        <p:grpSpPr bwMode="auto">
          <a:xfrm>
            <a:off x="4648200" y="2514600"/>
            <a:ext cx="839788" cy="1219200"/>
            <a:chOff x="288" y="1440"/>
            <a:chExt cx="529" cy="768"/>
          </a:xfrm>
        </p:grpSpPr>
        <p:sp>
          <p:nvSpPr>
            <p:cNvPr id="33840" name="AutoShape 16"/>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1" name="AutoShape 17"/>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42" name="Rectangle 18"/>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6" name="Group 19"/>
          <p:cNvGrpSpPr>
            <a:grpSpLocks/>
          </p:cNvGrpSpPr>
          <p:nvPr/>
        </p:nvGrpSpPr>
        <p:grpSpPr bwMode="auto">
          <a:xfrm>
            <a:off x="3276600" y="1828800"/>
            <a:ext cx="839788" cy="1219200"/>
            <a:chOff x="288" y="1440"/>
            <a:chExt cx="529" cy="768"/>
          </a:xfrm>
        </p:grpSpPr>
        <p:sp>
          <p:nvSpPr>
            <p:cNvPr id="33837" name="AutoShape 20"/>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8" name="AutoShape 21"/>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9" name="Rectangle 22"/>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8" name="Group 27"/>
          <p:cNvGrpSpPr>
            <a:grpSpLocks/>
          </p:cNvGrpSpPr>
          <p:nvPr/>
        </p:nvGrpSpPr>
        <p:grpSpPr bwMode="auto">
          <a:xfrm>
            <a:off x="7239000" y="1219200"/>
            <a:ext cx="839788" cy="1219200"/>
            <a:chOff x="288" y="1440"/>
            <a:chExt cx="529" cy="768"/>
          </a:xfrm>
        </p:grpSpPr>
        <p:sp>
          <p:nvSpPr>
            <p:cNvPr id="33831" name="AutoShape 28"/>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2" name="AutoShape 29"/>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33" name="Rectangle 30"/>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sp>
        <p:nvSpPr>
          <p:cNvPr id="33803" name="Line 31"/>
          <p:cNvSpPr>
            <a:spLocks noChangeShapeType="1"/>
          </p:cNvSpPr>
          <p:nvPr/>
        </p:nvSpPr>
        <p:spPr bwMode="auto">
          <a:xfrm>
            <a:off x="5867400" y="2362200"/>
            <a:ext cx="444624" cy="634752"/>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en-US">
              <a:latin typeface="Calibri Light" pitchFamily="34" charset="0"/>
            </a:endParaRPr>
          </a:p>
        </p:txBody>
      </p:sp>
      <p:grpSp>
        <p:nvGrpSpPr>
          <p:cNvPr id="9" name="Group 32"/>
          <p:cNvGrpSpPr>
            <a:grpSpLocks/>
          </p:cNvGrpSpPr>
          <p:nvPr/>
        </p:nvGrpSpPr>
        <p:grpSpPr bwMode="auto">
          <a:xfrm>
            <a:off x="4191000" y="5154084"/>
            <a:ext cx="4724400" cy="1247174"/>
            <a:chOff x="1152" y="3072"/>
            <a:chExt cx="2976" cy="785"/>
          </a:xfrm>
        </p:grpSpPr>
        <p:sp>
          <p:nvSpPr>
            <p:cNvPr id="224289" name="Text Box 33"/>
            <p:cNvSpPr txBox="1">
              <a:spLocks noChangeArrowheads="1"/>
            </p:cNvSpPr>
            <p:nvPr/>
          </p:nvSpPr>
          <p:spPr bwMode="auto">
            <a:xfrm>
              <a:off x="1788" y="3216"/>
              <a:ext cx="1746" cy="407"/>
            </a:xfrm>
            <a:prstGeom prst="rect">
              <a:avLst/>
            </a:prstGeom>
            <a:noFill/>
            <a:ln w="9525">
              <a:noFill/>
              <a:miter lim="800000"/>
              <a:headEnd/>
              <a:tailEnd/>
            </a:ln>
            <a:effectLst/>
          </p:spPr>
          <p:txBody>
            <a:bodyPr wrap="none">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a:defRPr/>
              </a:pPr>
              <a:r>
                <a:rPr lang="en-US" b="1">
                  <a:solidFill>
                    <a:schemeClr val="accent1"/>
                  </a:solidFill>
                  <a:effectLst>
                    <a:outerShdw blurRad="38100" dist="38100" dir="2700000" algn="tl">
                      <a:srgbClr val="DDDDDD"/>
                    </a:outerShdw>
                  </a:effectLst>
                  <a:latin typeface="Calibri Light" pitchFamily="34" charset="0"/>
                </a:rPr>
                <a:t>Unreliable Communication</a:t>
              </a:r>
            </a:p>
            <a:p>
              <a:pPr algn="ctr">
                <a:defRPr/>
              </a:pPr>
              <a:r>
                <a:rPr lang="en-US" b="1">
                  <a:solidFill>
                    <a:schemeClr val="accent1"/>
                  </a:solidFill>
                  <a:effectLst>
                    <a:outerShdw blurRad="38100" dist="38100" dir="2700000" algn="tl">
                      <a:srgbClr val="DDDDDD"/>
                    </a:outerShdw>
                  </a:effectLst>
                  <a:latin typeface="Calibri Light" pitchFamily="34" charset="0"/>
                </a:rPr>
                <a:t>Network</a:t>
              </a:r>
            </a:p>
          </p:txBody>
        </p:sp>
        <p:sp>
          <p:nvSpPr>
            <p:cNvPr id="33830" name="Cloud"/>
            <p:cNvSpPr>
              <a:spLocks noChangeAspect="1" noEditPoints="1" noChangeArrowheads="1"/>
            </p:cNvSpPr>
            <p:nvPr/>
          </p:nvSpPr>
          <p:spPr bwMode="auto">
            <a:xfrm>
              <a:off x="1152" y="3072"/>
              <a:ext cx="2976" cy="7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976 w 21600"/>
                <a:gd name="T13" fmla="*/ 3274 h 21600"/>
                <a:gd name="T14" fmla="*/ 17085 w 21600"/>
                <a:gd name="T15" fmla="*/ 17335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noFill/>
            <a:ln w="349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latin typeface="Calibri Light" pitchFamily="34" charset="0"/>
              </a:endParaRPr>
            </a:p>
          </p:txBody>
        </p:sp>
      </p:grpSp>
      <p:grpSp>
        <p:nvGrpSpPr>
          <p:cNvPr id="10" name="Group 35"/>
          <p:cNvGrpSpPr>
            <a:grpSpLocks/>
          </p:cNvGrpSpPr>
          <p:nvPr/>
        </p:nvGrpSpPr>
        <p:grpSpPr bwMode="auto">
          <a:xfrm>
            <a:off x="8382000" y="2286000"/>
            <a:ext cx="839788" cy="1219200"/>
            <a:chOff x="288" y="1440"/>
            <a:chExt cx="529" cy="768"/>
          </a:xfrm>
        </p:grpSpPr>
        <p:sp>
          <p:nvSpPr>
            <p:cNvPr id="33826" name="AutoShape 36"/>
            <p:cNvSpPr>
              <a:spLocks noChangeArrowheads="1"/>
            </p:cNvSpPr>
            <p:nvPr/>
          </p:nvSpPr>
          <p:spPr bwMode="auto">
            <a:xfrm rot="5397037">
              <a:off x="481" y="1247"/>
              <a:ext cx="144"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27" name="AutoShape 37"/>
            <p:cNvSpPr>
              <a:spLocks noChangeArrowheads="1"/>
            </p:cNvSpPr>
            <p:nvPr/>
          </p:nvSpPr>
          <p:spPr bwMode="auto">
            <a:xfrm rot="5397037">
              <a:off x="457" y="1847"/>
              <a:ext cx="192" cy="529"/>
            </a:xfrm>
            <a:prstGeom prst="moon">
              <a:avLst>
                <a:gd name="adj" fmla="val 50000"/>
              </a:avLst>
            </a:prstGeom>
            <a:solidFill>
              <a:srgbClr val="00CCFF"/>
            </a:solidFill>
            <a:ln w="9525">
              <a:solidFill>
                <a:srgbClr val="00CCFF"/>
              </a:solidFill>
              <a:miter lim="800000"/>
              <a:headEnd/>
              <a:tailEnd/>
            </a:ln>
          </p:spPr>
          <p:txBody>
            <a:bodyPr wrap="none" anchor="ctr"/>
            <a:lstStyle/>
            <a:p>
              <a:endParaRPr lang="en-US">
                <a:latin typeface="Calibri Light" pitchFamily="34" charset="0"/>
              </a:endParaRPr>
            </a:p>
          </p:txBody>
        </p:sp>
        <p:sp>
          <p:nvSpPr>
            <p:cNvPr id="33828" name="Rectangle 38"/>
            <p:cNvSpPr>
              <a:spLocks noChangeArrowheads="1"/>
            </p:cNvSpPr>
            <p:nvPr/>
          </p:nvSpPr>
          <p:spPr bwMode="auto">
            <a:xfrm>
              <a:off x="384" y="1632"/>
              <a:ext cx="336" cy="336"/>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atin typeface="Calibri Light" pitchFamily="34" charset="0"/>
              </a:endParaRPr>
            </a:p>
          </p:txBody>
        </p:sp>
      </p:grpSp>
      <p:grpSp>
        <p:nvGrpSpPr>
          <p:cNvPr id="11" name="Group 39"/>
          <p:cNvGrpSpPr>
            <a:grpSpLocks/>
          </p:cNvGrpSpPr>
          <p:nvPr/>
        </p:nvGrpSpPr>
        <p:grpSpPr bwMode="auto">
          <a:xfrm>
            <a:off x="1938339" y="1295400"/>
            <a:ext cx="500063" cy="914400"/>
            <a:chOff x="261" y="816"/>
            <a:chExt cx="315" cy="576"/>
          </a:xfrm>
        </p:grpSpPr>
        <p:sp>
          <p:nvSpPr>
            <p:cNvPr id="33824" name="Text Box 40"/>
            <p:cNvSpPr txBox="1">
              <a:spLocks noChangeArrowheads="1"/>
            </p:cNvSpPr>
            <p:nvPr/>
          </p:nvSpPr>
          <p:spPr bwMode="auto">
            <a:xfrm>
              <a:off x="261" y="816"/>
              <a:ext cx="315" cy="3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3200" b="1" i="1">
                  <a:latin typeface="Calibri Light" pitchFamily="34" charset="0"/>
                </a:rPr>
                <a:t>pi</a:t>
              </a:r>
            </a:p>
          </p:txBody>
        </p:sp>
        <p:sp>
          <p:nvSpPr>
            <p:cNvPr id="33825" name="Line 41"/>
            <p:cNvSpPr>
              <a:spLocks noChangeShapeType="1"/>
            </p:cNvSpPr>
            <p:nvPr/>
          </p:nvSpPr>
          <p:spPr bwMode="auto">
            <a:xfrm>
              <a:off x="384" y="1200"/>
              <a:ext cx="192" cy="192"/>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en-US">
                <a:latin typeface="Calibri Light" pitchFamily="34" charset="0"/>
              </a:endParaRPr>
            </a:p>
          </p:txBody>
        </p:sp>
      </p:grpSp>
      <p:grpSp>
        <p:nvGrpSpPr>
          <p:cNvPr id="12" name="Group 42"/>
          <p:cNvGrpSpPr>
            <a:grpSpLocks/>
          </p:cNvGrpSpPr>
          <p:nvPr/>
        </p:nvGrpSpPr>
        <p:grpSpPr bwMode="auto">
          <a:xfrm>
            <a:off x="7088191" y="486835"/>
            <a:ext cx="3305176" cy="3399367"/>
            <a:chOff x="3505" y="307"/>
            <a:chExt cx="2082" cy="2141"/>
          </a:xfrm>
        </p:grpSpPr>
        <p:grpSp>
          <p:nvGrpSpPr>
            <p:cNvPr id="13" name="Group 43"/>
            <p:cNvGrpSpPr>
              <a:grpSpLocks/>
            </p:cNvGrpSpPr>
            <p:nvPr/>
          </p:nvGrpSpPr>
          <p:grpSpPr bwMode="auto">
            <a:xfrm>
              <a:off x="4128" y="634"/>
              <a:ext cx="1459" cy="1814"/>
              <a:chOff x="4128" y="634"/>
              <a:chExt cx="1459" cy="1814"/>
            </a:xfrm>
          </p:grpSpPr>
          <p:sp>
            <p:nvSpPr>
              <p:cNvPr id="33821" name="Oval 44"/>
              <p:cNvSpPr>
                <a:spLocks noChangeArrowheads="1"/>
              </p:cNvSpPr>
              <p:nvPr/>
            </p:nvSpPr>
            <p:spPr bwMode="auto">
              <a:xfrm>
                <a:off x="4128" y="1200"/>
                <a:ext cx="912" cy="1248"/>
              </a:xfrm>
              <a:prstGeom prst="ellipse">
                <a:avLst/>
              </a:prstGeom>
              <a:noFill/>
              <a:ln w="25400">
                <a:solidFill>
                  <a:schemeClr val="tx2"/>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Light" pitchFamily="34" charset="0"/>
                </a:endParaRPr>
              </a:p>
            </p:txBody>
          </p:sp>
          <p:sp>
            <p:nvSpPr>
              <p:cNvPr id="33822" name="Text Box 45"/>
              <p:cNvSpPr txBox="1">
                <a:spLocks noChangeArrowheads="1"/>
              </p:cNvSpPr>
              <p:nvPr/>
            </p:nvSpPr>
            <p:spPr bwMode="auto">
              <a:xfrm>
                <a:off x="4200" y="634"/>
                <a:ext cx="1387" cy="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b="1" i="1">
                    <a:latin typeface="Calibri Light" pitchFamily="34" charset="0"/>
                  </a:rPr>
                  <a:t>Some</a:t>
                </a:r>
                <a:r>
                  <a:rPr lang="en-US">
                    <a:latin typeface="Calibri Light" pitchFamily="34" charset="0"/>
                  </a:rPr>
                  <a:t> process </a:t>
                </a:r>
              </a:p>
              <a:p>
                <a:pPr eaLnBrk="1" hangingPunct="1"/>
                <a:r>
                  <a:rPr lang="en-US">
                    <a:latin typeface="Calibri Light" pitchFamily="34" charset="0"/>
                  </a:rPr>
                  <a:t>finds out quickly</a:t>
                </a:r>
              </a:p>
            </p:txBody>
          </p:sp>
          <p:sp>
            <p:nvSpPr>
              <p:cNvPr id="33823" name="Line 46"/>
              <p:cNvSpPr>
                <a:spLocks noChangeShapeType="1"/>
              </p:cNvSpPr>
              <p:nvPr/>
            </p:nvSpPr>
            <p:spPr bwMode="auto">
              <a:xfrm flipH="1">
                <a:off x="4992" y="1152"/>
                <a:ext cx="192" cy="288"/>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lstStyle/>
              <a:p>
                <a:endParaRPr lang="en-US">
                  <a:latin typeface="Calibri Light" pitchFamily="34" charset="0"/>
                </a:endParaRPr>
              </a:p>
            </p:txBody>
          </p:sp>
        </p:grpSp>
        <p:sp>
          <p:nvSpPr>
            <p:cNvPr id="33819" name="Text Box 47"/>
            <p:cNvSpPr txBox="1">
              <a:spLocks noChangeArrowheads="1"/>
            </p:cNvSpPr>
            <p:nvPr/>
          </p:nvSpPr>
          <p:spPr bwMode="auto">
            <a:xfrm>
              <a:off x="3866" y="384"/>
              <a:ext cx="1422" cy="291"/>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b="1">
                  <a:solidFill>
                    <a:schemeClr val="bg2"/>
                  </a:solidFill>
                  <a:latin typeface="Calibri Light" pitchFamily="34" charset="0"/>
                </a:rPr>
                <a:t>Failure Detector</a:t>
              </a:r>
            </a:p>
          </p:txBody>
        </p:sp>
        <p:sp>
          <p:nvSpPr>
            <p:cNvPr id="33820" name="Text Box 48"/>
            <p:cNvSpPr txBox="1">
              <a:spLocks noChangeArrowheads="1"/>
            </p:cNvSpPr>
            <p:nvPr/>
          </p:nvSpPr>
          <p:spPr bwMode="auto">
            <a:xfrm>
              <a:off x="3505" y="307"/>
              <a:ext cx="254" cy="3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3200" b="1">
                  <a:solidFill>
                    <a:schemeClr val="tx2"/>
                  </a:solidFill>
                  <a:latin typeface="Calibri Light" pitchFamily="34" charset="0"/>
                </a:rPr>
                <a:t>II</a:t>
              </a:r>
            </a:p>
          </p:txBody>
        </p:sp>
      </p:grpSp>
      <p:grpSp>
        <p:nvGrpSpPr>
          <p:cNvPr id="14" name="Group 49"/>
          <p:cNvGrpSpPr>
            <a:grpSpLocks/>
          </p:cNvGrpSpPr>
          <p:nvPr/>
        </p:nvGrpSpPr>
        <p:grpSpPr bwMode="auto">
          <a:xfrm>
            <a:off x="1549400" y="2362200"/>
            <a:ext cx="8509000" cy="3098290"/>
            <a:chOff x="16" y="1488"/>
            <a:chExt cx="5360" cy="1952"/>
          </a:xfrm>
        </p:grpSpPr>
        <p:grpSp>
          <p:nvGrpSpPr>
            <p:cNvPr id="15" name="Group 50"/>
            <p:cNvGrpSpPr>
              <a:grpSpLocks/>
            </p:cNvGrpSpPr>
            <p:nvPr/>
          </p:nvGrpSpPr>
          <p:grpSpPr bwMode="auto">
            <a:xfrm>
              <a:off x="576" y="1488"/>
              <a:ext cx="4800" cy="1952"/>
              <a:chOff x="576" y="1488"/>
              <a:chExt cx="4800" cy="1952"/>
            </a:xfrm>
          </p:grpSpPr>
          <p:sp>
            <p:nvSpPr>
              <p:cNvPr id="33813" name="Freeform 51"/>
              <p:cNvSpPr>
                <a:spLocks/>
              </p:cNvSpPr>
              <p:nvPr/>
            </p:nvSpPr>
            <p:spPr bwMode="auto">
              <a:xfrm>
                <a:off x="3984" y="1488"/>
                <a:ext cx="720" cy="1056"/>
              </a:xfrm>
              <a:custGeom>
                <a:avLst/>
                <a:gdLst>
                  <a:gd name="T0" fmla="*/ 720 w 720"/>
                  <a:gd name="T1" fmla="*/ 839 h 1072"/>
                  <a:gd name="T2" fmla="*/ 240 w 720"/>
                  <a:gd name="T3" fmla="*/ 797 h 1072"/>
                  <a:gd name="T4" fmla="*/ 0 w 720"/>
                  <a:gd name="T5" fmla="*/ 0 h 1072"/>
                  <a:gd name="T6" fmla="*/ 0 60000 65536"/>
                  <a:gd name="T7" fmla="*/ 0 60000 65536"/>
                  <a:gd name="T8" fmla="*/ 0 60000 65536"/>
                  <a:gd name="T9" fmla="*/ 0 w 720"/>
                  <a:gd name="T10" fmla="*/ 0 h 1072"/>
                  <a:gd name="T11" fmla="*/ 720 w 720"/>
                  <a:gd name="T12" fmla="*/ 1072 h 1072"/>
                </a:gdLst>
                <a:ahLst/>
                <a:cxnLst>
                  <a:cxn ang="T6">
                    <a:pos x="T0" y="T1"/>
                  </a:cxn>
                  <a:cxn ang="T7">
                    <a:pos x="T2" y="T3"/>
                  </a:cxn>
                  <a:cxn ang="T8">
                    <a:pos x="T4" y="T5"/>
                  </a:cxn>
                </a:cxnLst>
                <a:rect l="T9" t="T10" r="T11" b="T12"/>
                <a:pathLst>
                  <a:path w="720" h="1072">
                    <a:moveTo>
                      <a:pt x="720" y="960"/>
                    </a:moveTo>
                    <a:cubicBezTo>
                      <a:pt x="540" y="1016"/>
                      <a:pt x="360" y="1072"/>
                      <a:pt x="240" y="912"/>
                    </a:cubicBezTo>
                    <a:cubicBezTo>
                      <a:pt x="120" y="752"/>
                      <a:pt x="60" y="376"/>
                      <a:pt x="0" y="0"/>
                    </a:cubicBezTo>
                  </a:path>
                </a:pathLst>
              </a:custGeom>
              <a:noFill/>
              <a:ln w="28575">
                <a:solidFill>
                  <a:schemeClr val="tx2"/>
                </a:solidFill>
                <a:round/>
                <a:headEnd/>
                <a:tailEnd type="arrow" w="lg" len="lg"/>
              </a:ln>
              <a:extLst>
                <a:ext uri="{909E8E84-426E-40dd-AFC4-6F175D3DCCD1}">
                  <a14:hiddenFill xmlns="" xmlns:a14="http://schemas.microsoft.com/office/drawing/2010/main">
                    <a:solidFill>
                      <a:srgbClr val="FFFFFF"/>
                    </a:solidFill>
                  </a14:hiddenFill>
                </a:ext>
              </a:extLst>
            </p:spPr>
            <p:txBody>
              <a:bodyPr wrap="none"/>
              <a:lstStyle/>
              <a:p>
                <a:endParaRPr lang="en-US">
                  <a:latin typeface="Calibri Light" pitchFamily="34" charset="0"/>
                </a:endParaRPr>
              </a:p>
            </p:txBody>
          </p:sp>
          <p:sp>
            <p:nvSpPr>
              <p:cNvPr id="33814" name="Freeform 52"/>
              <p:cNvSpPr>
                <a:spLocks/>
              </p:cNvSpPr>
              <p:nvPr/>
            </p:nvSpPr>
            <p:spPr bwMode="auto">
              <a:xfrm>
                <a:off x="4656" y="2448"/>
                <a:ext cx="720" cy="992"/>
              </a:xfrm>
              <a:custGeom>
                <a:avLst/>
                <a:gdLst>
                  <a:gd name="T0" fmla="*/ 0 w 720"/>
                  <a:gd name="T1" fmla="*/ 0 h 992"/>
                  <a:gd name="T2" fmla="*/ 288 w 720"/>
                  <a:gd name="T3" fmla="*/ 912 h 992"/>
                  <a:gd name="T4" fmla="*/ 720 w 720"/>
                  <a:gd name="T5" fmla="*/ 480 h 992"/>
                  <a:gd name="T6" fmla="*/ 0 60000 65536"/>
                  <a:gd name="T7" fmla="*/ 0 60000 65536"/>
                  <a:gd name="T8" fmla="*/ 0 60000 65536"/>
                  <a:gd name="T9" fmla="*/ 0 w 720"/>
                  <a:gd name="T10" fmla="*/ 0 h 992"/>
                  <a:gd name="T11" fmla="*/ 720 w 720"/>
                  <a:gd name="T12" fmla="*/ 992 h 992"/>
                </a:gdLst>
                <a:ahLst/>
                <a:cxnLst>
                  <a:cxn ang="T6">
                    <a:pos x="T0" y="T1"/>
                  </a:cxn>
                  <a:cxn ang="T7">
                    <a:pos x="T2" y="T3"/>
                  </a:cxn>
                  <a:cxn ang="T8">
                    <a:pos x="T4" y="T5"/>
                  </a:cxn>
                </a:cxnLst>
                <a:rect l="T9" t="T10" r="T11" b="T12"/>
                <a:pathLst>
                  <a:path w="720" h="992">
                    <a:moveTo>
                      <a:pt x="0" y="0"/>
                    </a:moveTo>
                    <a:cubicBezTo>
                      <a:pt x="84" y="416"/>
                      <a:pt x="168" y="832"/>
                      <a:pt x="288" y="912"/>
                    </a:cubicBezTo>
                    <a:cubicBezTo>
                      <a:pt x="408" y="992"/>
                      <a:pt x="564" y="736"/>
                      <a:pt x="720" y="480"/>
                    </a:cubicBezTo>
                  </a:path>
                </a:pathLst>
              </a:custGeom>
              <a:noFill/>
              <a:ln w="28575">
                <a:solidFill>
                  <a:schemeClr val="tx2"/>
                </a:solidFill>
                <a:round/>
                <a:headEnd/>
                <a:tailEnd type="arrow" w="lg" len="lg"/>
              </a:ln>
              <a:extLst>
                <a:ext uri="{909E8E84-426E-40dd-AFC4-6F175D3DCCD1}">
                  <a14:hiddenFill xmlns="" xmlns:a14="http://schemas.microsoft.com/office/drawing/2010/main">
                    <a:solidFill>
                      <a:srgbClr val="FFFFFF"/>
                    </a:solidFill>
                  </a14:hiddenFill>
                </a:ext>
              </a:extLst>
            </p:spPr>
            <p:txBody>
              <a:bodyPr wrap="none"/>
              <a:lstStyle/>
              <a:p>
                <a:endParaRPr lang="en-US">
                  <a:latin typeface="Calibri Light" pitchFamily="34" charset="0"/>
                </a:endParaRPr>
              </a:p>
            </p:txBody>
          </p:sp>
          <p:sp>
            <p:nvSpPr>
              <p:cNvPr id="33815" name="Freeform 53"/>
              <p:cNvSpPr>
                <a:spLocks/>
              </p:cNvSpPr>
              <p:nvPr/>
            </p:nvSpPr>
            <p:spPr bwMode="auto">
              <a:xfrm>
                <a:off x="2144" y="2256"/>
                <a:ext cx="2512" cy="584"/>
              </a:xfrm>
              <a:custGeom>
                <a:avLst/>
                <a:gdLst>
                  <a:gd name="T0" fmla="*/ 2512 w 2512"/>
                  <a:gd name="T1" fmla="*/ 192 h 584"/>
                  <a:gd name="T2" fmla="*/ 736 w 2512"/>
                  <a:gd name="T3" fmla="*/ 576 h 584"/>
                  <a:gd name="T4" fmla="*/ 112 w 2512"/>
                  <a:gd name="T5" fmla="*/ 240 h 584"/>
                  <a:gd name="T6" fmla="*/ 64 w 2512"/>
                  <a:gd name="T7" fmla="*/ 0 h 584"/>
                  <a:gd name="T8" fmla="*/ 0 60000 65536"/>
                  <a:gd name="T9" fmla="*/ 0 60000 65536"/>
                  <a:gd name="T10" fmla="*/ 0 60000 65536"/>
                  <a:gd name="T11" fmla="*/ 0 60000 65536"/>
                  <a:gd name="T12" fmla="*/ 0 w 2512"/>
                  <a:gd name="T13" fmla="*/ 0 h 584"/>
                  <a:gd name="T14" fmla="*/ 2512 w 2512"/>
                  <a:gd name="T15" fmla="*/ 584 h 584"/>
                </a:gdLst>
                <a:ahLst/>
                <a:cxnLst>
                  <a:cxn ang="T8">
                    <a:pos x="T0" y="T1"/>
                  </a:cxn>
                  <a:cxn ang="T9">
                    <a:pos x="T2" y="T3"/>
                  </a:cxn>
                  <a:cxn ang="T10">
                    <a:pos x="T4" y="T5"/>
                  </a:cxn>
                  <a:cxn ang="T11">
                    <a:pos x="T6" y="T7"/>
                  </a:cxn>
                </a:cxnLst>
                <a:rect l="T12" t="T13" r="T14" b="T15"/>
                <a:pathLst>
                  <a:path w="2512" h="584">
                    <a:moveTo>
                      <a:pt x="2512" y="192"/>
                    </a:moveTo>
                    <a:cubicBezTo>
                      <a:pt x="1824" y="380"/>
                      <a:pt x="1136" y="568"/>
                      <a:pt x="736" y="576"/>
                    </a:cubicBezTo>
                    <a:cubicBezTo>
                      <a:pt x="336" y="584"/>
                      <a:pt x="224" y="336"/>
                      <a:pt x="112" y="240"/>
                    </a:cubicBezTo>
                    <a:cubicBezTo>
                      <a:pt x="0" y="144"/>
                      <a:pt x="72" y="40"/>
                      <a:pt x="64" y="0"/>
                    </a:cubicBezTo>
                  </a:path>
                </a:pathLst>
              </a:custGeom>
              <a:noFill/>
              <a:ln w="28575">
                <a:solidFill>
                  <a:schemeClr val="tx2"/>
                </a:solidFill>
                <a:round/>
                <a:headEnd/>
                <a:tailEnd type="arrow" w="lg" len="lg"/>
              </a:ln>
              <a:extLst>
                <a:ext uri="{909E8E84-426E-40dd-AFC4-6F175D3DCCD1}">
                  <a14:hiddenFill xmlns="" xmlns:a14="http://schemas.microsoft.com/office/drawing/2010/main">
                    <a:solidFill>
                      <a:srgbClr val="FFFFFF"/>
                    </a:solidFill>
                  </a14:hiddenFill>
                </a:ext>
              </a:extLst>
            </p:spPr>
            <p:txBody>
              <a:bodyPr wrap="none"/>
              <a:lstStyle/>
              <a:p>
                <a:endParaRPr lang="en-US">
                  <a:latin typeface="Calibri Light" pitchFamily="34" charset="0"/>
                </a:endParaRPr>
              </a:p>
            </p:txBody>
          </p:sp>
          <p:sp>
            <p:nvSpPr>
              <p:cNvPr id="33816" name="Freeform 54"/>
              <p:cNvSpPr>
                <a:spLocks/>
              </p:cNvSpPr>
              <p:nvPr/>
            </p:nvSpPr>
            <p:spPr bwMode="auto">
              <a:xfrm>
                <a:off x="1336" y="1824"/>
                <a:ext cx="3416" cy="1200"/>
              </a:xfrm>
              <a:custGeom>
                <a:avLst/>
                <a:gdLst>
                  <a:gd name="T0" fmla="*/ 2323 w 3560"/>
                  <a:gd name="T1" fmla="*/ 1237 h 1112"/>
                  <a:gd name="T2" fmla="*/ 2289 w 3560"/>
                  <a:gd name="T3" fmla="*/ 1237 h 1112"/>
                  <a:gd name="T4" fmla="*/ 1330 w 3560"/>
                  <a:gd name="T5" fmla="*/ 2095 h 1112"/>
                  <a:gd name="T6" fmla="*/ 434 w 3560"/>
                  <a:gd name="T7" fmla="*/ 1904 h 1112"/>
                  <a:gd name="T8" fmla="*/ 72 w 3560"/>
                  <a:gd name="T9" fmla="*/ 761 h 1112"/>
                  <a:gd name="T10" fmla="*/ 8 w 3560"/>
                  <a:gd name="T11" fmla="*/ 0 h 1112"/>
                  <a:gd name="T12" fmla="*/ 0 60000 65536"/>
                  <a:gd name="T13" fmla="*/ 0 60000 65536"/>
                  <a:gd name="T14" fmla="*/ 0 60000 65536"/>
                  <a:gd name="T15" fmla="*/ 0 60000 65536"/>
                  <a:gd name="T16" fmla="*/ 0 60000 65536"/>
                  <a:gd name="T17" fmla="*/ 0 60000 65536"/>
                  <a:gd name="T18" fmla="*/ 0 w 3560"/>
                  <a:gd name="T19" fmla="*/ 0 h 1112"/>
                  <a:gd name="T20" fmla="*/ 3560 w 3560"/>
                  <a:gd name="T21" fmla="*/ 1112 h 1112"/>
                </a:gdLst>
                <a:ahLst/>
                <a:cxnLst>
                  <a:cxn ang="T12">
                    <a:pos x="T0" y="T1"/>
                  </a:cxn>
                  <a:cxn ang="T13">
                    <a:pos x="T2" y="T3"/>
                  </a:cxn>
                  <a:cxn ang="T14">
                    <a:pos x="T4" y="T5"/>
                  </a:cxn>
                  <a:cxn ang="T15">
                    <a:pos x="T6" y="T7"/>
                  </a:cxn>
                  <a:cxn ang="T16">
                    <a:pos x="T8" y="T9"/>
                  </a:cxn>
                  <a:cxn ang="T17">
                    <a:pos x="T10" y="T11"/>
                  </a:cxn>
                </a:cxnLst>
                <a:rect l="T18" t="T19" r="T20" b="T21"/>
                <a:pathLst>
                  <a:path w="3560" h="1112">
                    <a:moveTo>
                      <a:pt x="3368" y="624"/>
                    </a:moveTo>
                    <a:cubicBezTo>
                      <a:pt x="3464" y="588"/>
                      <a:pt x="3560" y="552"/>
                      <a:pt x="3320" y="624"/>
                    </a:cubicBezTo>
                    <a:cubicBezTo>
                      <a:pt x="3080" y="696"/>
                      <a:pt x="2376" y="1000"/>
                      <a:pt x="1928" y="1056"/>
                    </a:cubicBezTo>
                    <a:cubicBezTo>
                      <a:pt x="1480" y="1112"/>
                      <a:pt x="936" y="1072"/>
                      <a:pt x="632" y="960"/>
                    </a:cubicBezTo>
                    <a:cubicBezTo>
                      <a:pt x="328" y="848"/>
                      <a:pt x="208" y="544"/>
                      <a:pt x="104" y="384"/>
                    </a:cubicBezTo>
                    <a:cubicBezTo>
                      <a:pt x="0" y="224"/>
                      <a:pt x="4" y="112"/>
                      <a:pt x="8" y="0"/>
                    </a:cubicBezTo>
                  </a:path>
                </a:pathLst>
              </a:custGeom>
              <a:noFill/>
              <a:ln w="27305">
                <a:solidFill>
                  <a:schemeClr val="tx2"/>
                </a:solidFill>
                <a:round/>
                <a:headEnd/>
                <a:tailEnd type="arrow" w="lg" len="lg"/>
              </a:ln>
              <a:extLst>
                <a:ext uri="{909E8E84-426E-40dd-AFC4-6F175D3DCCD1}">
                  <a14:hiddenFill xmlns="" xmlns:a14="http://schemas.microsoft.com/office/drawing/2010/main">
                    <a:solidFill>
                      <a:srgbClr val="FFFFFF"/>
                    </a:solidFill>
                  </a14:hiddenFill>
                </a:ext>
              </a:extLst>
            </p:spPr>
            <p:txBody>
              <a:bodyPr wrap="none"/>
              <a:lstStyle/>
              <a:p>
                <a:endParaRPr lang="en-US">
                  <a:latin typeface="Calibri Light" pitchFamily="34" charset="0"/>
                </a:endParaRPr>
              </a:p>
            </p:txBody>
          </p:sp>
          <p:sp>
            <p:nvSpPr>
              <p:cNvPr id="33817" name="Freeform 55"/>
              <p:cNvSpPr>
                <a:spLocks/>
              </p:cNvSpPr>
              <p:nvPr/>
            </p:nvSpPr>
            <p:spPr bwMode="auto">
              <a:xfrm>
                <a:off x="576" y="2112"/>
                <a:ext cx="4080" cy="1040"/>
              </a:xfrm>
              <a:custGeom>
                <a:avLst/>
                <a:gdLst>
                  <a:gd name="T0" fmla="*/ 4080 w 4080"/>
                  <a:gd name="T1" fmla="*/ 336 h 1040"/>
                  <a:gd name="T2" fmla="*/ 2880 w 4080"/>
                  <a:gd name="T3" fmla="*/ 912 h 1040"/>
                  <a:gd name="T4" fmla="*/ 1920 w 4080"/>
                  <a:gd name="T5" fmla="*/ 1008 h 1040"/>
                  <a:gd name="T6" fmla="*/ 624 w 4080"/>
                  <a:gd name="T7" fmla="*/ 720 h 1040"/>
                  <a:gd name="T8" fmla="*/ 0 w 4080"/>
                  <a:gd name="T9" fmla="*/ 0 h 1040"/>
                  <a:gd name="T10" fmla="*/ 0 60000 65536"/>
                  <a:gd name="T11" fmla="*/ 0 60000 65536"/>
                  <a:gd name="T12" fmla="*/ 0 60000 65536"/>
                  <a:gd name="T13" fmla="*/ 0 60000 65536"/>
                  <a:gd name="T14" fmla="*/ 0 60000 65536"/>
                  <a:gd name="T15" fmla="*/ 0 w 4080"/>
                  <a:gd name="T16" fmla="*/ 0 h 1040"/>
                  <a:gd name="T17" fmla="*/ 4080 w 4080"/>
                  <a:gd name="T18" fmla="*/ 1040 h 1040"/>
                </a:gdLst>
                <a:ahLst/>
                <a:cxnLst>
                  <a:cxn ang="T10">
                    <a:pos x="T0" y="T1"/>
                  </a:cxn>
                  <a:cxn ang="T11">
                    <a:pos x="T2" y="T3"/>
                  </a:cxn>
                  <a:cxn ang="T12">
                    <a:pos x="T4" y="T5"/>
                  </a:cxn>
                  <a:cxn ang="T13">
                    <a:pos x="T6" y="T7"/>
                  </a:cxn>
                  <a:cxn ang="T14">
                    <a:pos x="T8" y="T9"/>
                  </a:cxn>
                </a:cxnLst>
                <a:rect l="T15" t="T16" r="T17" b="T18"/>
                <a:pathLst>
                  <a:path w="4080" h="1040">
                    <a:moveTo>
                      <a:pt x="4080" y="336"/>
                    </a:moveTo>
                    <a:cubicBezTo>
                      <a:pt x="3660" y="568"/>
                      <a:pt x="3240" y="800"/>
                      <a:pt x="2880" y="912"/>
                    </a:cubicBezTo>
                    <a:cubicBezTo>
                      <a:pt x="2520" y="1024"/>
                      <a:pt x="2296" y="1040"/>
                      <a:pt x="1920" y="1008"/>
                    </a:cubicBezTo>
                    <a:cubicBezTo>
                      <a:pt x="1544" y="976"/>
                      <a:pt x="944" y="888"/>
                      <a:pt x="624" y="720"/>
                    </a:cubicBezTo>
                    <a:cubicBezTo>
                      <a:pt x="304" y="552"/>
                      <a:pt x="152" y="276"/>
                      <a:pt x="0" y="0"/>
                    </a:cubicBezTo>
                  </a:path>
                </a:pathLst>
              </a:custGeom>
              <a:noFill/>
              <a:ln w="28575">
                <a:solidFill>
                  <a:schemeClr val="tx2"/>
                </a:solidFill>
                <a:round/>
                <a:headEnd/>
                <a:tailEnd type="arrow" w="lg" len="lg"/>
              </a:ln>
              <a:extLst>
                <a:ext uri="{909E8E84-426E-40dd-AFC4-6F175D3DCCD1}">
                  <a14:hiddenFill xmlns="" xmlns:a14="http://schemas.microsoft.com/office/drawing/2010/main">
                    <a:solidFill>
                      <a:srgbClr val="FFFFFF"/>
                    </a:solidFill>
                  </a14:hiddenFill>
                </a:ext>
              </a:extLst>
            </p:spPr>
            <p:txBody>
              <a:bodyPr wrap="none"/>
              <a:lstStyle/>
              <a:p>
                <a:endParaRPr lang="en-US">
                  <a:latin typeface="Calibri Light" pitchFamily="34" charset="0"/>
                </a:endParaRPr>
              </a:p>
            </p:txBody>
          </p:sp>
        </p:grpSp>
        <p:sp>
          <p:nvSpPr>
            <p:cNvPr id="33811" name="Text Box 56"/>
            <p:cNvSpPr txBox="1">
              <a:spLocks noChangeArrowheads="1"/>
            </p:cNvSpPr>
            <p:nvPr/>
          </p:nvSpPr>
          <p:spPr bwMode="auto">
            <a:xfrm>
              <a:off x="449" y="3072"/>
              <a:ext cx="1268" cy="291"/>
            </a:xfrm>
            <a:prstGeom prst="rect">
              <a:avLst/>
            </a:prstGeom>
            <a:solidFill>
              <a:schemeClr val="tx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b="1">
                  <a:solidFill>
                    <a:schemeClr val="bg2"/>
                  </a:solidFill>
                  <a:latin typeface="Calibri Light" pitchFamily="34" charset="0"/>
                </a:rPr>
                <a:t>Dissemination</a:t>
              </a:r>
              <a:endParaRPr lang="en-US" i="1">
                <a:solidFill>
                  <a:schemeClr val="bg2"/>
                </a:solidFill>
                <a:latin typeface="Calibri Light" pitchFamily="34" charset="0"/>
              </a:endParaRPr>
            </a:p>
          </p:txBody>
        </p:sp>
        <p:sp>
          <p:nvSpPr>
            <p:cNvPr id="33812" name="Text Box 57"/>
            <p:cNvSpPr txBox="1">
              <a:spLocks noChangeArrowheads="1"/>
            </p:cNvSpPr>
            <p:nvPr/>
          </p:nvSpPr>
          <p:spPr bwMode="auto">
            <a:xfrm>
              <a:off x="16" y="3024"/>
              <a:ext cx="322" cy="3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3200" b="1">
                  <a:solidFill>
                    <a:schemeClr val="tx2"/>
                  </a:solidFill>
                  <a:latin typeface="Calibri Light" pitchFamily="34" charset="0"/>
                </a:rPr>
                <a:t>III</a:t>
              </a:r>
            </a:p>
          </p:txBody>
        </p:sp>
      </p:grpSp>
      <p:sp>
        <p:nvSpPr>
          <p:cNvPr id="33809" name="Text Box 58"/>
          <p:cNvSpPr txBox="1">
            <a:spLocks noChangeArrowheads="1"/>
          </p:cNvSpPr>
          <p:nvPr/>
        </p:nvSpPr>
        <p:spPr bwMode="auto">
          <a:xfrm>
            <a:off x="1752600" y="6324600"/>
            <a:ext cx="2177134" cy="369332"/>
          </a:xfrm>
          <a:prstGeom prst="rect">
            <a:avLst/>
          </a:prstGeom>
          <a:solidFill>
            <a:srgbClr val="99C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US" sz="1800">
                <a:latin typeface="Calibri Light" pitchFamily="34" charset="0"/>
              </a:rPr>
              <a:t>Fail-stop Failures only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righ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238</TotalTime>
  <Words>4342</Words>
  <Application>Microsoft Macintosh PowerPoint</Application>
  <PresentationFormat>Panorámica</PresentationFormat>
  <Paragraphs>531</Paragraphs>
  <Slides>68</Slides>
  <Notes>28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68</vt:i4>
      </vt:variant>
    </vt:vector>
  </HeadingPairs>
  <TitlesOfParts>
    <vt:vector size="77" baseType="lpstr">
      <vt:lpstr>ＭＳ Ｐゴシック</vt:lpstr>
      <vt:lpstr>Arial</vt:lpstr>
      <vt:lpstr>Calibri Light</vt:lpstr>
      <vt:lpstr>Helvetica Neue</vt:lpstr>
      <vt:lpstr>MJXc-TeX-main-R</vt:lpstr>
      <vt:lpstr>MJXc-TeX-math-I</vt:lpstr>
      <vt:lpstr>Symbol</vt:lpstr>
      <vt:lpstr>Whitney-BlackSC</vt:lpstr>
      <vt:lpstr>Tema de Office</vt:lpstr>
      <vt:lpstr>Tema 3. Diseño de Software Crítico  Replicación en Sistemas Distribuidos</vt:lpstr>
      <vt:lpstr>Replication in Distributed Systems</vt:lpstr>
      <vt:lpstr>Active Replication</vt:lpstr>
      <vt:lpstr>Active Replication</vt:lpstr>
      <vt:lpstr>Active Replication</vt:lpstr>
      <vt:lpstr>State Machine Replication</vt:lpstr>
      <vt:lpstr> But, What do we replicate? Single big service performs poorly… why? </vt:lpstr>
      <vt:lpstr>The dangers of replication</vt:lpstr>
      <vt:lpstr>The core issue</vt:lpstr>
      <vt:lpstr>Their setup, as a picture</vt:lpstr>
      <vt:lpstr>Their Basic setup, as a picture</vt:lpstr>
      <vt:lpstr>What should be the goals?</vt:lpstr>
      <vt:lpstr>Why do services slow down at scale?</vt:lpstr>
      <vt:lpstr>What was that one good option?</vt:lpstr>
      <vt:lpstr>Sharding: This works… but carefully</vt:lpstr>
      <vt:lpstr>Sharding: This works… but carefully</vt:lpstr>
      <vt:lpstr>CAP Theorem</vt:lpstr>
      <vt:lpstr>CAP Theorem</vt:lpstr>
      <vt:lpstr>CAP Theorem</vt:lpstr>
      <vt:lpstr>CAP Theorem: Proof</vt:lpstr>
      <vt:lpstr>CAP Theorem</vt:lpstr>
      <vt:lpstr>CAP Theorem</vt:lpstr>
      <vt:lpstr>CAP Theorem</vt:lpstr>
      <vt:lpstr>CAP Theorem</vt:lpstr>
      <vt:lpstr>CAP Theorem</vt:lpstr>
      <vt:lpstr>CAP Theorem</vt:lpstr>
      <vt:lpstr>CAP Theorem: Proof</vt:lpstr>
      <vt:lpstr>CAP Theorem: Proof</vt:lpstr>
      <vt:lpstr>CAP Theorem: Proof</vt:lpstr>
      <vt:lpstr>Why this is important?</vt:lpstr>
      <vt:lpstr>Problem for Relational Database to Scale</vt:lpstr>
      <vt:lpstr>Revisit CAP Theorem</vt:lpstr>
      <vt:lpstr>A popular misconception: 2 out 3</vt:lpstr>
      <vt:lpstr>A few witnesses</vt:lpstr>
      <vt:lpstr>A few witnesses</vt:lpstr>
      <vt:lpstr>A few witnesses</vt:lpstr>
      <vt:lpstr>CAP Theorem Reformulation</vt:lpstr>
      <vt:lpstr>Consistency or Availability</vt:lpstr>
      <vt:lpstr>Types of Consistency</vt:lpstr>
      <vt:lpstr>Eventual Consistency Variations</vt:lpstr>
      <vt:lpstr>Eventual Consistency Variations</vt:lpstr>
      <vt:lpstr>Eventual Consistency - A Facebook Example</vt:lpstr>
      <vt:lpstr>Eventual Consistency - A Facebook Example</vt:lpstr>
      <vt:lpstr>Eventual Consistency - A Facebook Example</vt:lpstr>
      <vt:lpstr>Eventual Consistency - A Dropbox Example</vt:lpstr>
      <vt:lpstr>Eventual Consistency - A Dropbox Example</vt:lpstr>
      <vt:lpstr>Eventual Consistency - A Dropbox Example</vt:lpstr>
      <vt:lpstr>Eventual Consistency - An ATM Example</vt:lpstr>
      <vt:lpstr>Dynamic Tradeoff between C and A</vt:lpstr>
      <vt:lpstr>Heterogeneity: Segmenting C and A</vt:lpstr>
      <vt:lpstr>Partitioning Examples</vt:lpstr>
      <vt:lpstr>Partitioning Examples</vt:lpstr>
      <vt:lpstr>Partitioning Examples</vt:lpstr>
      <vt:lpstr>Partitioning Examples</vt:lpstr>
      <vt:lpstr>Partitioning Examples</vt:lpstr>
      <vt:lpstr>Partitioning Examples</vt:lpstr>
      <vt:lpstr>What if there are no partitions?</vt:lpstr>
      <vt:lpstr>CAP -&gt; PACELC</vt:lpstr>
      <vt:lpstr>PACELC</vt:lpstr>
      <vt:lpstr>Examples</vt:lpstr>
      <vt:lpstr>State Machine Replication</vt:lpstr>
      <vt:lpstr>Replication in Distributed Systems</vt:lpstr>
      <vt:lpstr>Presentación de PowerPoint</vt:lpstr>
      <vt:lpstr>Target Settings</vt:lpstr>
      <vt:lpstr>Group Membership Service</vt:lpstr>
      <vt:lpstr>Two sub-protocols</vt:lpstr>
      <vt:lpstr>Large Group: Scalability A Goal</vt:lpstr>
      <vt:lpstr>Group Membership  Protocol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 safety: avoiding overturns and farmland monitoring using WSANs and the USEME framework</dc:title>
  <dc:creator>MDR</dc:creator>
  <cp:lastModifiedBy>Juan Carlos Alcausa Luque</cp:lastModifiedBy>
  <cp:revision>10</cp:revision>
  <cp:lastPrinted>2013-09-03T09:57:40Z</cp:lastPrinted>
  <dcterms:modified xsi:type="dcterms:W3CDTF">2025-11-08T18:31:57Z</dcterms:modified>
</cp:coreProperties>
</file>