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2">
  <p:sldMasterIdLst>
    <p:sldMasterId id="2147484008" r:id="rId1"/>
  </p:sldMasterIdLst>
  <p:notesMasterIdLst>
    <p:notesMasterId r:id="rId61"/>
  </p:notesMasterIdLst>
  <p:handoutMasterIdLst>
    <p:handoutMasterId r:id="rId62"/>
  </p:handoutMasterIdLst>
  <p:sldIdLst>
    <p:sldId id="256" r:id="rId2"/>
    <p:sldId id="516" r:id="rId3"/>
    <p:sldId id="471" r:id="rId4"/>
    <p:sldId id="517" r:id="rId5"/>
    <p:sldId id="518" r:id="rId6"/>
    <p:sldId id="523" r:id="rId7"/>
    <p:sldId id="465" r:id="rId8"/>
    <p:sldId id="468" r:id="rId9"/>
    <p:sldId id="483" r:id="rId10"/>
    <p:sldId id="482" r:id="rId11"/>
    <p:sldId id="469" r:id="rId12"/>
    <p:sldId id="484" r:id="rId13"/>
    <p:sldId id="529" r:id="rId14"/>
    <p:sldId id="530" r:id="rId15"/>
    <p:sldId id="531" r:id="rId16"/>
    <p:sldId id="532" r:id="rId17"/>
    <p:sldId id="520" r:id="rId18"/>
    <p:sldId id="522" r:id="rId19"/>
    <p:sldId id="524" r:id="rId20"/>
    <p:sldId id="525" r:id="rId21"/>
    <p:sldId id="526" r:id="rId22"/>
    <p:sldId id="527" r:id="rId23"/>
    <p:sldId id="472" r:id="rId24"/>
    <p:sldId id="473" r:id="rId25"/>
    <p:sldId id="474" r:id="rId26"/>
    <p:sldId id="475" r:id="rId27"/>
    <p:sldId id="476" r:id="rId28"/>
    <p:sldId id="477" r:id="rId29"/>
    <p:sldId id="528" r:id="rId30"/>
    <p:sldId id="478" r:id="rId31"/>
    <p:sldId id="479" r:id="rId32"/>
    <p:sldId id="480" r:id="rId33"/>
    <p:sldId id="481" r:id="rId34"/>
    <p:sldId id="487" r:id="rId35"/>
    <p:sldId id="488" r:id="rId36"/>
    <p:sldId id="489" r:id="rId37"/>
    <p:sldId id="490" r:id="rId38"/>
    <p:sldId id="491" r:id="rId39"/>
    <p:sldId id="492" r:id="rId40"/>
    <p:sldId id="503" r:id="rId41"/>
    <p:sldId id="494" r:id="rId42"/>
    <p:sldId id="496" r:id="rId43"/>
    <p:sldId id="497" r:id="rId44"/>
    <p:sldId id="498" r:id="rId45"/>
    <p:sldId id="499" r:id="rId46"/>
    <p:sldId id="500" r:id="rId47"/>
    <p:sldId id="501" r:id="rId48"/>
    <p:sldId id="504" r:id="rId49"/>
    <p:sldId id="505" r:id="rId50"/>
    <p:sldId id="506" r:id="rId51"/>
    <p:sldId id="507" r:id="rId52"/>
    <p:sldId id="508" r:id="rId53"/>
    <p:sldId id="509" r:id="rId54"/>
    <p:sldId id="510" r:id="rId55"/>
    <p:sldId id="511" r:id="rId56"/>
    <p:sldId id="512" r:id="rId57"/>
    <p:sldId id="513" r:id="rId58"/>
    <p:sldId id="514" r:id="rId59"/>
    <p:sldId id="515" r:id="rId60"/>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 id="{FC2C48A8-0C3E-4F85-B520-FE592C579225}">
          <p14:sldIdLst>
            <p14:sldId id="256"/>
            <p14:sldId id="516"/>
            <p14:sldId id="471"/>
            <p14:sldId id="517"/>
            <p14:sldId id="518"/>
            <p14:sldId id="523"/>
            <p14:sldId id="465"/>
            <p14:sldId id="468"/>
            <p14:sldId id="483"/>
            <p14:sldId id="482"/>
            <p14:sldId id="469"/>
            <p14:sldId id="484"/>
            <p14:sldId id="529"/>
            <p14:sldId id="530"/>
            <p14:sldId id="531"/>
            <p14:sldId id="532"/>
            <p14:sldId id="520"/>
            <p14:sldId id="522"/>
            <p14:sldId id="524"/>
            <p14:sldId id="525"/>
            <p14:sldId id="526"/>
            <p14:sldId id="527"/>
            <p14:sldId id="472"/>
            <p14:sldId id="473"/>
            <p14:sldId id="474"/>
            <p14:sldId id="475"/>
            <p14:sldId id="476"/>
            <p14:sldId id="477"/>
            <p14:sldId id="528"/>
            <p14:sldId id="478"/>
            <p14:sldId id="479"/>
            <p14:sldId id="480"/>
            <p14:sldId id="481"/>
            <p14:sldId id="487"/>
            <p14:sldId id="488"/>
            <p14:sldId id="489"/>
            <p14:sldId id="490"/>
            <p14:sldId id="491"/>
            <p14:sldId id="492"/>
            <p14:sldId id="503"/>
            <p14:sldId id="494"/>
            <p14:sldId id="496"/>
            <p14:sldId id="497"/>
            <p14:sldId id="498"/>
            <p14:sldId id="499"/>
            <p14:sldId id="500"/>
            <p14:sldId id="501"/>
            <p14:sldId id="504"/>
            <p14:sldId id="505"/>
            <p14:sldId id="506"/>
            <p14:sldId id="507"/>
            <p14:sldId id="508"/>
            <p14:sldId id="509"/>
            <p14:sldId id="510"/>
            <p14:sldId id="511"/>
            <p14:sldId id="512"/>
            <p14:sldId id="513"/>
            <p14:sldId id="514"/>
            <p14:sldId id="515"/>
          </p14:sldIdLst>
        </p14:section>
        <p14:section name="Introduction" id="{380D269F-7B28-4CEC-9DB8-BD4926B12276}">
          <p14:sldIdLst/>
        </p14:section>
        <p14:section name="PSQUASAR" id="{E9EBA62B-0130-414D-AF97-4085C53C25D4}">
          <p14:sldIdLst/>
        </p14:section>
        <p14:section name="PQS" id="{741A0E5B-9068-4218-B105-EAF972A3F687}">
          <p14:sldIdLst/>
        </p14:section>
        <p14:section name="Case study" id="{21E85042-12F4-45E3-AFDE-18AE39D1A6E7}">
          <p14:sldIdLst/>
        </p14:section>
        <p14:section name="SCADA" id="{E94301D7-6E71-4E5B-B4F3-0B27FF0911E3}">
          <p14:sldIdLst/>
        </p14:section>
        <p14:section name="Conclusions" id="{93B19ED0-4245-45AF-8DD7-8CC7CC3DBB80}">
          <p14:sldIdLst/>
        </p14:section>
        <p14:section name="Otros" id="{1972AB1D-CD80-40BC-9B63-3C01CB42247C}">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4D82F0-5EC8-3C4B-B96D-18DD62448779}" v="226" dt="2024-09-22T09:08:19.669"/>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Sin estilo, cuadrícula de la tab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581" autoAdjust="0"/>
    <p:restoredTop sz="85706" autoAdjust="0"/>
  </p:normalViewPr>
  <p:slideViewPr>
    <p:cSldViewPr>
      <p:cViewPr varScale="1">
        <p:scale>
          <a:sx n="133" d="100"/>
          <a:sy n="133" d="100"/>
        </p:scale>
        <p:origin x="216" y="232"/>
      </p:cViewPr>
      <p:guideLst>
        <p:guide orient="horz" pos="2160"/>
        <p:guide pos="3840"/>
      </p:guideLst>
    </p:cSldViewPr>
  </p:slideViewPr>
  <p:outlineViewPr>
    <p:cViewPr>
      <p:scale>
        <a:sx n="33" d="100"/>
        <a:sy n="33" d="100"/>
      </p:scale>
      <p:origin x="0" y="-21438"/>
    </p:cViewPr>
  </p:outlineViewPr>
  <p:notesTextViewPr>
    <p:cViewPr>
      <p:scale>
        <a:sx n="3" d="2"/>
        <a:sy n="3" d="2"/>
      </p:scale>
      <p:origin x="0" y="0"/>
    </p:cViewPr>
  </p:notesTextViewPr>
  <p:sorterViewPr>
    <p:cViewPr>
      <p:scale>
        <a:sx n="100" d="100"/>
        <a:sy n="100" d="100"/>
      </p:scale>
      <p:origin x="0" y="0"/>
    </p:cViewPr>
  </p:sorterViewPr>
  <p:notesViewPr>
    <p:cSldViewPr>
      <p:cViewPr varScale="1">
        <p:scale>
          <a:sx n="71" d="100"/>
          <a:sy n="71" d="100"/>
        </p:scale>
        <p:origin x="2742" y="7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68"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nuel Díaz Rodríguez" userId="ad3297c4-a1d0-4ef3-804a-cf14fe12b873" providerId="ADAL" clId="{1FF4D160-C0C4-9C42-87D2-4A6EECFDC516}"/>
    <pc:docChg chg="modSld">
      <pc:chgData name="Manuel Díaz Rodríguez" userId="ad3297c4-a1d0-4ef3-804a-cf14fe12b873" providerId="ADAL" clId="{1FF4D160-C0C4-9C42-87D2-4A6EECFDC516}" dt="2024-09-18T10:06:38.234" v="9" actId="20577"/>
      <pc:docMkLst>
        <pc:docMk/>
      </pc:docMkLst>
      <pc:sldChg chg="modSp mod">
        <pc:chgData name="Manuel Díaz Rodríguez" userId="ad3297c4-a1d0-4ef3-804a-cf14fe12b873" providerId="ADAL" clId="{1FF4D160-C0C4-9C42-87D2-4A6EECFDC516}" dt="2024-09-18T10:06:38.234" v="9" actId="20577"/>
        <pc:sldMkLst>
          <pc:docMk/>
          <pc:sldMk cId="0" sldId="477"/>
        </pc:sldMkLst>
        <pc:spChg chg="mod">
          <ac:chgData name="Manuel Díaz Rodríguez" userId="ad3297c4-a1d0-4ef3-804a-cf14fe12b873" providerId="ADAL" clId="{1FF4D160-C0C4-9C42-87D2-4A6EECFDC516}" dt="2024-09-18T10:06:38.234" v="9" actId="20577"/>
          <ac:spMkLst>
            <pc:docMk/>
            <pc:sldMk cId="0" sldId="477"/>
            <ac:spMk id="3" creationId="{00000000-0000-0000-0000-000000000000}"/>
          </ac:spMkLst>
        </pc:spChg>
      </pc:sldChg>
      <pc:sldChg chg="modSp mod">
        <pc:chgData name="Manuel Díaz Rodríguez" userId="ad3297c4-a1d0-4ef3-804a-cf14fe12b873" providerId="ADAL" clId="{1FF4D160-C0C4-9C42-87D2-4A6EECFDC516}" dt="2024-09-18T09:08:52.483" v="5" actId="20577"/>
        <pc:sldMkLst>
          <pc:docMk/>
          <pc:sldMk cId="0" sldId="520"/>
        </pc:sldMkLst>
        <pc:spChg chg="mod">
          <ac:chgData name="Manuel Díaz Rodríguez" userId="ad3297c4-a1d0-4ef3-804a-cf14fe12b873" providerId="ADAL" clId="{1FF4D160-C0C4-9C42-87D2-4A6EECFDC516}" dt="2024-09-18T09:08:52.483" v="5" actId="20577"/>
          <ac:spMkLst>
            <pc:docMk/>
            <pc:sldMk cId="0" sldId="520"/>
            <ac:spMk id="3" creationId="{00000000-0000-0000-0000-000000000000}"/>
          </ac:spMkLst>
        </pc:spChg>
      </pc:sldChg>
    </pc:docChg>
  </pc:docChgLst>
  <pc:docChgLst>
    <pc:chgData name="Manuel Díaz Rodríguez" userId="ad3297c4-a1d0-4ef3-804a-cf14fe12b873" providerId="ADAL" clId="{954D82F0-5EC8-3C4B-B96D-18DD62448779}"/>
    <pc:docChg chg="undo custSel modSld">
      <pc:chgData name="Manuel Díaz Rodríguez" userId="ad3297c4-a1d0-4ef3-804a-cf14fe12b873" providerId="ADAL" clId="{954D82F0-5EC8-3C4B-B96D-18DD62448779}" dt="2024-09-22T09:08:19.669" v="224" actId="1076"/>
      <pc:docMkLst>
        <pc:docMk/>
      </pc:docMkLst>
      <pc:sldChg chg="modSp mod">
        <pc:chgData name="Manuel Díaz Rodríguez" userId="ad3297c4-a1d0-4ef3-804a-cf14fe12b873" providerId="ADAL" clId="{954D82F0-5EC8-3C4B-B96D-18DD62448779}" dt="2024-09-22T08:28:11.325" v="0" actId="1036"/>
        <pc:sldMkLst>
          <pc:docMk/>
          <pc:sldMk cId="0" sldId="496"/>
        </pc:sldMkLst>
        <pc:spChg chg="mod">
          <ac:chgData name="Manuel Díaz Rodríguez" userId="ad3297c4-a1d0-4ef3-804a-cf14fe12b873" providerId="ADAL" clId="{954D82F0-5EC8-3C4B-B96D-18DD62448779}" dt="2024-09-22T08:28:11.325" v="0" actId="1036"/>
          <ac:spMkLst>
            <pc:docMk/>
            <pc:sldMk cId="0" sldId="496"/>
            <ac:spMk id="3" creationId="{00000000-0000-0000-0000-000000000000}"/>
          </ac:spMkLst>
        </pc:spChg>
      </pc:sldChg>
      <pc:sldChg chg="addSp modSp mod">
        <pc:chgData name="Manuel Díaz Rodríguez" userId="ad3297c4-a1d0-4ef3-804a-cf14fe12b873" providerId="ADAL" clId="{954D82F0-5EC8-3C4B-B96D-18DD62448779}" dt="2024-09-22T09:04:50.149" v="204" actId="113"/>
        <pc:sldMkLst>
          <pc:docMk/>
          <pc:sldMk cId="0" sldId="498"/>
        </pc:sldMkLst>
        <pc:spChg chg="add mod">
          <ac:chgData name="Manuel Díaz Rodríguez" userId="ad3297c4-a1d0-4ef3-804a-cf14fe12b873" providerId="ADAL" clId="{954D82F0-5EC8-3C4B-B96D-18DD62448779}" dt="2024-09-22T09:04:50.149" v="204" actId="113"/>
          <ac:spMkLst>
            <pc:docMk/>
            <pc:sldMk cId="0" sldId="498"/>
            <ac:spMk id="6" creationId="{A56284DD-F0C4-3B0F-63B7-0C91DC56558D}"/>
          </ac:spMkLst>
        </pc:spChg>
        <pc:picChg chg="add mod">
          <ac:chgData name="Manuel Díaz Rodríguez" userId="ad3297c4-a1d0-4ef3-804a-cf14fe12b873" providerId="ADAL" clId="{954D82F0-5EC8-3C4B-B96D-18DD62448779}" dt="2024-09-22T09:04:23.332" v="201" actId="1076"/>
          <ac:picMkLst>
            <pc:docMk/>
            <pc:sldMk cId="0" sldId="498"/>
            <ac:picMk id="5" creationId="{09C20F8B-86D7-0C80-7030-01233BA4BE71}"/>
          </ac:picMkLst>
        </pc:picChg>
      </pc:sldChg>
      <pc:sldChg chg="modSp mod">
        <pc:chgData name="Manuel Díaz Rodríguez" userId="ad3297c4-a1d0-4ef3-804a-cf14fe12b873" providerId="ADAL" clId="{954D82F0-5EC8-3C4B-B96D-18DD62448779}" dt="2024-09-22T08:39:59.413" v="1" actId="20577"/>
        <pc:sldMkLst>
          <pc:docMk/>
          <pc:sldMk cId="0" sldId="501"/>
        </pc:sldMkLst>
        <pc:spChg chg="mod">
          <ac:chgData name="Manuel Díaz Rodríguez" userId="ad3297c4-a1d0-4ef3-804a-cf14fe12b873" providerId="ADAL" clId="{954D82F0-5EC8-3C4B-B96D-18DD62448779}" dt="2024-09-22T08:39:59.413" v="1" actId="20577"/>
          <ac:spMkLst>
            <pc:docMk/>
            <pc:sldMk cId="0" sldId="501"/>
            <ac:spMk id="3" creationId="{00000000-0000-0000-0000-000000000000}"/>
          </ac:spMkLst>
        </pc:spChg>
      </pc:sldChg>
      <pc:sldChg chg="modSp mod">
        <pc:chgData name="Manuel Díaz Rodríguez" userId="ad3297c4-a1d0-4ef3-804a-cf14fe12b873" providerId="ADAL" clId="{954D82F0-5EC8-3C4B-B96D-18DD62448779}" dt="2024-09-22T08:50:32.516" v="6" actId="27636"/>
        <pc:sldMkLst>
          <pc:docMk/>
          <pc:sldMk cId="0" sldId="509"/>
        </pc:sldMkLst>
        <pc:spChg chg="mod">
          <ac:chgData name="Manuel Díaz Rodríguez" userId="ad3297c4-a1d0-4ef3-804a-cf14fe12b873" providerId="ADAL" clId="{954D82F0-5EC8-3C4B-B96D-18DD62448779}" dt="2024-09-22T08:50:32.516" v="6" actId="27636"/>
          <ac:spMkLst>
            <pc:docMk/>
            <pc:sldMk cId="0" sldId="509"/>
            <ac:spMk id="3" creationId="{00000000-0000-0000-0000-000000000000}"/>
          </ac:spMkLst>
        </pc:spChg>
      </pc:sldChg>
      <pc:sldChg chg="modSp mod">
        <pc:chgData name="Manuel Díaz Rodríguez" userId="ad3297c4-a1d0-4ef3-804a-cf14fe12b873" providerId="ADAL" clId="{954D82F0-5EC8-3C4B-B96D-18DD62448779}" dt="2024-09-22T08:51:38.079" v="12" actId="27636"/>
        <pc:sldMkLst>
          <pc:docMk/>
          <pc:sldMk cId="0" sldId="510"/>
        </pc:sldMkLst>
        <pc:spChg chg="mod">
          <ac:chgData name="Manuel Díaz Rodríguez" userId="ad3297c4-a1d0-4ef3-804a-cf14fe12b873" providerId="ADAL" clId="{954D82F0-5EC8-3C4B-B96D-18DD62448779}" dt="2024-09-22T08:51:38.079" v="12" actId="27636"/>
          <ac:spMkLst>
            <pc:docMk/>
            <pc:sldMk cId="0" sldId="510"/>
            <ac:spMk id="3" creationId="{00000000-0000-0000-0000-000000000000}"/>
          </ac:spMkLst>
        </pc:spChg>
      </pc:sldChg>
      <pc:sldChg chg="modSp mod">
        <pc:chgData name="Manuel Díaz Rodríguez" userId="ad3297c4-a1d0-4ef3-804a-cf14fe12b873" providerId="ADAL" clId="{954D82F0-5EC8-3C4B-B96D-18DD62448779}" dt="2024-09-22T09:06:51.695" v="211" actId="113"/>
        <pc:sldMkLst>
          <pc:docMk/>
          <pc:sldMk cId="0" sldId="512"/>
        </pc:sldMkLst>
        <pc:spChg chg="mod">
          <ac:chgData name="Manuel Díaz Rodríguez" userId="ad3297c4-a1d0-4ef3-804a-cf14fe12b873" providerId="ADAL" clId="{954D82F0-5EC8-3C4B-B96D-18DD62448779}" dt="2024-09-22T09:06:51.695" v="211" actId="113"/>
          <ac:spMkLst>
            <pc:docMk/>
            <pc:sldMk cId="0" sldId="512"/>
            <ac:spMk id="3" creationId="{00000000-0000-0000-0000-000000000000}"/>
          </ac:spMkLst>
        </pc:spChg>
      </pc:sldChg>
      <pc:sldChg chg="modSp mod">
        <pc:chgData name="Manuel Díaz Rodríguez" userId="ad3297c4-a1d0-4ef3-804a-cf14fe12b873" providerId="ADAL" clId="{954D82F0-5EC8-3C4B-B96D-18DD62448779}" dt="2024-09-22T09:08:19.669" v="224" actId="1076"/>
        <pc:sldMkLst>
          <pc:docMk/>
          <pc:sldMk cId="0" sldId="513"/>
        </pc:sldMkLst>
        <pc:spChg chg="mod">
          <ac:chgData name="Manuel Díaz Rodríguez" userId="ad3297c4-a1d0-4ef3-804a-cf14fe12b873" providerId="ADAL" clId="{954D82F0-5EC8-3C4B-B96D-18DD62448779}" dt="2024-09-22T09:08:13.526" v="223" actId="1076"/>
          <ac:spMkLst>
            <pc:docMk/>
            <pc:sldMk cId="0" sldId="513"/>
            <ac:spMk id="3" creationId="{00000000-0000-0000-0000-000000000000}"/>
          </ac:spMkLst>
        </pc:spChg>
        <pc:spChg chg="mod">
          <ac:chgData name="Manuel Díaz Rodríguez" userId="ad3297c4-a1d0-4ef3-804a-cf14fe12b873" providerId="ADAL" clId="{954D82F0-5EC8-3C4B-B96D-18DD62448779}" dt="2024-09-22T09:08:19.669" v="224" actId="1076"/>
          <ac:spMkLst>
            <pc:docMk/>
            <pc:sldMk cId="0" sldId="513"/>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079FEE6-2C53-42C9-88B1-B10B092B6581}" type="datetimeFigureOut">
              <a:rPr lang="es-ES" smtClean="0"/>
              <a:pPr/>
              <a:t>9/11/25</a:t>
            </a:fld>
            <a:endParaRPr lang="es-ES"/>
          </a:p>
        </p:txBody>
      </p:sp>
      <p:sp>
        <p:nvSpPr>
          <p:cNvPr id="4" name="3 Marcador de pie de página"/>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5" name="4 Marcador de número de diapositiva"/>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F74F8A1-E22A-4DB6-8530-06A7D846EDD5}" type="slidenum">
              <a:rPr lang="es-ES" smtClean="0"/>
              <a:pPr/>
              <a:t>‹Nº›</a:t>
            </a:fld>
            <a:endParaRPr lang="es-ES"/>
          </a:p>
        </p:txBody>
      </p:sp>
    </p:spTree>
    <p:extLst>
      <p:ext uri="{BB962C8B-B14F-4D97-AF65-F5344CB8AC3E}">
        <p14:creationId xmlns:p14="http://schemas.microsoft.com/office/powerpoint/2010/main" val="3338917140"/>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9-28T11:54:00.677"/>
    </inkml:context>
    <inkml:brush xml:id="br0">
      <inkml:brushProperty name="width" value="0.08819" units="cm"/>
      <inkml:brushProperty name="height" value="0.35278" units="cm"/>
      <inkml:brushProperty name="color" value="#FFFF00"/>
      <inkml:brushProperty name="tip" value="rectangle"/>
      <inkml:brushProperty name="rasterOp" value="maskPen"/>
    </inkml:brush>
  </inkml:definitions>
  <inkml:trace contextRef="#ctx0" brushRef="#br0">3660 18036,'-27'12,"0"-5,20 4,0-4,1 0,1 3,4-3,-10 6,9-1,-3 6,5-4,0 4</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_tradnl"/>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F71A35-421D-4CD8-BA81-F9EAA9961A4C}" type="datetimeFigureOut">
              <a:rPr lang="es-ES_tradnl" smtClean="0"/>
              <a:pPr/>
              <a:t>9/11/25</a:t>
            </a:fld>
            <a:endParaRPr lang="es-ES_tradnl"/>
          </a:p>
        </p:txBody>
      </p:sp>
      <p:sp>
        <p:nvSpPr>
          <p:cNvPr id="4" name="3 Marcador de imagen de diapositiva"/>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s-ES_tradnl"/>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_tradnl"/>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1D0B40E-497C-46EE-8B99-C165F32C9EB4}" type="slidenum">
              <a:rPr lang="es-ES_tradnl" smtClean="0"/>
              <a:pPr/>
              <a:t>‹Nº›</a:t>
            </a:fld>
            <a:endParaRPr lang="es-ES_tradnl"/>
          </a:p>
        </p:txBody>
      </p:sp>
    </p:spTree>
    <p:extLst>
      <p:ext uri="{BB962C8B-B14F-4D97-AF65-F5344CB8AC3E}">
        <p14:creationId xmlns:p14="http://schemas.microsoft.com/office/powerpoint/2010/main" val="5575360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1</a:t>
            </a:fld>
            <a:endParaRPr lang="es-ES_tradnl"/>
          </a:p>
        </p:txBody>
      </p:sp>
    </p:spTree>
    <p:extLst>
      <p:ext uri="{BB962C8B-B14F-4D97-AF65-F5344CB8AC3E}">
        <p14:creationId xmlns:p14="http://schemas.microsoft.com/office/powerpoint/2010/main" val="29960684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1D0B40E-497C-46EE-8B99-C165F32C9EB4}" type="slidenum">
              <a:rPr lang="es-ES_tradnl" smtClean="0"/>
              <a:pPr/>
              <a:t>8</a:t>
            </a:fld>
            <a:endParaRPr lang="es-ES_tradnl"/>
          </a:p>
        </p:txBody>
      </p:sp>
    </p:spTree>
    <p:extLst>
      <p:ext uri="{BB962C8B-B14F-4D97-AF65-F5344CB8AC3E}">
        <p14:creationId xmlns:p14="http://schemas.microsoft.com/office/powerpoint/2010/main" val="7903819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a:xfrm>
            <a:off x="381000" y="685800"/>
            <a:ext cx="6096000" cy="3429000"/>
          </a:xfrm>
        </p:spPr>
      </p:sp>
      <p:sp>
        <p:nvSpPr>
          <p:cNvPr id="3" name="Marcador de notas 2"/>
          <p:cNvSpPr>
            <a:spLocks noGrp="1"/>
          </p:cNvSpPr>
          <p:nvPr>
            <p:ph type="body" idx="1"/>
          </p:nvPr>
        </p:nvSpPr>
        <p:spPr/>
        <p:txBody>
          <a:bodyPr/>
          <a:lstStyle/>
          <a:p>
            <a:endParaRPr lang="es-ES" dirty="0"/>
          </a:p>
        </p:txBody>
      </p:sp>
      <p:sp>
        <p:nvSpPr>
          <p:cNvPr id="4" name="Marcador de número de diapositiva 3"/>
          <p:cNvSpPr>
            <a:spLocks noGrp="1"/>
          </p:cNvSpPr>
          <p:nvPr>
            <p:ph type="sldNum" sz="quarter" idx="5"/>
          </p:nvPr>
        </p:nvSpPr>
        <p:spPr/>
        <p:txBody>
          <a:bodyPr/>
          <a:lstStyle/>
          <a:p>
            <a:fld id="{E1D0B40E-497C-46EE-8B99-C165F32C9EB4}" type="slidenum">
              <a:rPr lang="es-ES_tradnl" smtClean="0"/>
              <a:pPr/>
              <a:t>11</a:t>
            </a:fld>
            <a:endParaRPr lang="es-ES_tradnl"/>
          </a:p>
        </p:txBody>
      </p:sp>
    </p:spTree>
    <p:extLst>
      <p:ext uri="{BB962C8B-B14F-4D97-AF65-F5344CB8AC3E}">
        <p14:creationId xmlns:p14="http://schemas.microsoft.com/office/powerpoint/2010/main" val="2646328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5"/>
          </p:nvPr>
        </p:nvSpPr>
        <p:spPr/>
        <p:txBody>
          <a:bodyPr/>
          <a:lstStyle/>
          <a:p>
            <a:fld id="{E1D0B40E-497C-46EE-8B99-C165F32C9EB4}" type="slidenum">
              <a:rPr lang="es-ES_tradnl" smtClean="0"/>
              <a:pPr/>
              <a:t>18</a:t>
            </a:fld>
            <a:endParaRPr lang="es-ES_tradnl"/>
          </a:p>
        </p:txBody>
      </p:sp>
    </p:spTree>
    <p:extLst>
      <p:ext uri="{BB962C8B-B14F-4D97-AF65-F5344CB8AC3E}">
        <p14:creationId xmlns:p14="http://schemas.microsoft.com/office/powerpoint/2010/main" val="1822803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19</a:t>
            </a:fld>
            <a:endParaRPr lang="es-ES_tradnl"/>
          </a:p>
        </p:txBody>
      </p:sp>
    </p:spTree>
    <p:extLst>
      <p:ext uri="{BB962C8B-B14F-4D97-AF65-F5344CB8AC3E}">
        <p14:creationId xmlns:p14="http://schemas.microsoft.com/office/powerpoint/2010/main" val="29203446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20</a:t>
            </a:fld>
            <a:endParaRPr lang="es-ES_tradnl"/>
          </a:p>
        </p:txBody>
      </p:sp>
    </p:spTree>
    <p:extLst>
      <p:ext uri="{BB962C8B-B14F-4D97-AF65-F5344CB8AC3E}">
        <p14:creationId xmlns:p14="http://schemas.microsoft.com/office/powerpoint/2010/main" val="3763316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21</a:t>
            </a:fld>
            <a:endParaRPr lang="es-ES_tradnl"/>
          </a:p>
        </p:txBody>
      </p:sp>
    </p:spTree>
    <p:extLst>
      <p:ext uri="{BB962C8B-B14F-4D97-AF65-F5344CB8AC3E}">
        <p14:creationId xmlns:p14="http://schemas.microsoft.com/office/powerpoint/2010/main" val="3130840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a:xfrm>
            <a:off x="381000" y="685800"/>
            <a:ext cx="6096000" cy="3429000"/>
          </a:xfrm>
        </p:spPr>
      </p:sp>
      <p:sp>
        <p:nvSpPr>
          <p:cNvPr id="3" name="2 Marcador de notas"/>
          <p:cNvSpPr>
            <a:spLocks noGrp="1"/>
          </p:cNvSpPr>
          <p:nvPr>
            <p:ph type="body" idx="1"/>
          </p:nvPr>
        </p:nvSpPr>
        <p:spPr/>
        <p:txBody>
          <a:bodyPr>
            <a:normAutofit/>
          </a:bodyPr>
          <a:lstStyle/>
          <a:p>
            <a:endParaRPr lang="es-ES" dirty="0"/>
          </a:p>
        </p:txBody>
      </p:sp>
      <p:sp>
        <p:nvSpPr>
          <p:cNvPr id="4" name="3 Marcador de número de diapositiva"/>
          <p:cNvSpPr>
            <a:spLocks noGrp="1"/>
          </p:cNvSpPr>
          <p:nvPr>
            <p:ph type="sldNum" sz="quarter" idx="10"/>
          </p:nvPr>
        </p:nvSpPr>
        <p:spPr/>
        <p:txBody>
          <a:bodyPr/>
          <a:lstStyle/>
          <a:p>
            <a:fld id="{E1D0B40E-497C-46EE-8B99-C165F32C9EB4}" type="slidenum">
              <a:rPr lang="es-ES_tradnl" smtClean="0"/>
              <a:pPr/>
              <a:t>22</a:t>
            </a:fld>
            <a:endParaRPr lang="es-ES_tradnl"/>
          </a:p>
        </p:txBody>
      </p:sp>
    </p:spTree>
    <p:extLst>
      <p:ext uri="{BB962C8B-B14F-4D97-AF65-F5344CB8AC3E}">
        <p14:creationId xmlns:p14="http://schemas.microsoft.com/office/powerpoint/2010/main" val="21433491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ES" dirty="0"/>
          </a:p>
        </p:txBody>
      </p:sp>
      <p:sp>
        <p:nvSpPr>
          <p:cNvPr id="4" name="Slide Number Placeholder 3"/>
          <p:cNvSpPr>
            <a:spLocks noGrp="1"/>
          </p:cNvSpPr>
          <p:nvPr>
            <p:ph type="sldNum" sz="quarter" idx="5"/>
          </p:nvPr>
        </p:nvSpPr>
        <p:spPr/>
        <p:txBody>
          <a:bodyPr/>
          <a:lstStyle/>
          <a:p>
            <a:fld id="{E1D0B40E-497C-46EE-8B99-C165F32C9EB4}" type="slidenum">
              <a:rPr lang="es-ES_tradnl" smtClean="0"/>
              <a:pPr/>
              <a:t>28</a:t>
            </a:fld>
            <a:endParaRPr lang="es-ES_tradnl"/>
          </a:p>
        </p:txBody>
      </p:sp>
    </p:spTree>
    <p:extLst>
      <p:ext uri="{BB962C8B-B14F-4D97-AF65-F5344CB8AC3E}">
        <p14:creationId xmlns:p14="http://schemas.microsoft.com/office/powerpoint/2010/main" val="166377779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ES" dirty="0"/>
          </a:p>
        </p:txBody>
      </p:sp>
      <p:sp>
        <p:nvSpPr>
          <p:cNvPr id="4" name="Slide Number Placeholder 3"/>
          <p:cNvSpPr>
            <a:spLocks noGrp="1"/>
          </p:cNvSpPr>
          <p:nvPr>
            <p:ph type="sldNum" sz="quarter" idx="5"/>
          </p:nvPr>
        </p:nvSpPr>
        <p:spPr/>
        <p:txBody>
          <a:bodyPr/>
          <a:lstStyle/>
          <a:p>
            <a:fld id="{E1D0B40E-497C-46EE-8B99-C165F32C9EB4}" type="slidenum">
              <a:rPr lang="es-ES_tradnl" smtClean="0"/>
              <a:pPr/>
              <a:t>29</a:t>
            </a:fld>
            <a:endParaRPr lang="es-ES_tradnl"/>
          </a:p>
        </p:txBody>
      </p:sp>
    </p:spTree>
    <p:extLst>
      <p:ext uri="{BB962C8B-B14F-4D97-AF65-F5344CB8AC3E}">
        <p14:creationId xmlns:p14="http://schemas.microsoft.com/office/powerpoint/2010/main" val="5646822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5"/>
          </p:nvPr>
        </p:nvSpPr>
        <p:spPr/>
        <p:txBody>
          <a:bodyPr/>
          <a:lstStyle/>
          <a:p>
            <a:fld id="{E1D0B40E-497C-46EE-8B99-C165F32C9EB4}" type="slidenum">
              <a:rPr lang="es-ES_tradnl" smtClean="0"/>
              <a:pPr/>
              <a:t>44</a:t>
            </a:fld>
            <a:endParaRPr lang="es-ES_tradnl"/>
          </a:p>
        </p:txBody>
      </p:sp>
    </p:spTree>
    <p:extLst>
      <p:ext uri="{BB962C8B-B14F-4D97-AF65-F5344CB8AC3E}">
        <p14:creationId xmlns:p14="http://schemas.microsoft.com/office/powerpoint/2010/main" val="36665895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n-GB" dirty="0"/>
          </a:p>
        </p:txBody>
      </p:sp>
      <p:sp>
        <p:nvSpPr>
          <p:cNvPr id="4" name="Marcador de número de diapositiva 3"/>
          <p:cNvSpPr>
            <a:spLocks noGrp="1"/>
          </p:cNvSpPr>
          <p:nvPr>
            <p:ph type="sldNum" sz="quarter" idx="5"/>
          </p:nvPr>
        </p:nvSpPr>
        <p:spPr/>
        <p:txBody>
          <a:bodyPr/>
          <a:lstStyle/>
          <a:p>
            <a:fld id="{E1D0B40E-497C-46EE-8B99-C165F32C9EB4}" type="slidenum">
              <a:rPr lang="es-ES_tradnl" smtClean="0"/>
              <a:pPr/>
              <a:t>54</a:t>
            </a:fld>
            <a:endParaRPr lang="es-ES_tradnl"/>
          </a:p>
        </p:txBody>
      </p:sp>
    </p:spTree>
    <p:extLst>
      <p:ext uri="{BB962C8B-B14F-4D97-AF65-F5344CB8AC3E}">
        <p14:creationId xmlns:p14="http://schemas.microsoft.com/office/powerpoint/2010/main" val="5666317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914400" y="2130426"/>
            <a:ext cx="10363200" cy="1470025"/>
          </a:xfrm>
        </p:spPr>
        <p:txBody>
          <a:bodyPr/>
          <a:lstStyle/>
          <a:p>
            <a:r>
              <a:rPr lang="es-ES"/>
              <a:t>Haga clic para modificar el estilo de título del patrón</a:t>
            </a:r>
            <a:endParaRPr lang="es-ES_tradnl"/>
          </a:p>
        </p:txBody>
      </p:sp>
      <p:sp>
        <p:nvSpPr>
          <p:cNvPr id="3" name="2 Subtítulo"/>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s-ES_tradnl"/>
          </a:p>
        </p:txBody>
      </p:sp>
      <p:sp>
        <p:nvSpPr>
          <p:cNvPr id="4" name="3 Marcador de fecha"/>
          <p:cNvSpPr>
            <a:spLocks noGrp="1"/>
          </p:cNvSpPr>
          <p:nvPr>
            <p:ph type="dt" sz="half" idx="10"/>
          </p:nvPr>
        </p:nvSpPr>
        <p:spPr/>
        <p:txBody>
          <a:bodyPr/>
          <a:lstStyle/>
          <a:p>
            <a:fld id="{0387F19D-3208-4A85-8A1F-151463789BE1}" type="datetime1">
              <a:rPr lang="es-ES" smtClean="0"/>
              <a:pPr/>
              <a:t>9/11/25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p>
            <a:fld id="{EACD2413-67EB-4172-9E4E-4D3DADAE19AB}" type="datetime1">
              <a:rPr lang="es-ES" smtClean="0"/>
              <a:pPr/>
              <a:t>9/11/25</a:t>
            </a:fld>
            <a:endParaRPr lang="es-ES"/>
          </a:p>
        </p:txBody>
      </p:sp>
      <p:sp>
        <p:nvSpPr>
          <p:cNvPr id="5" name="4 Marcador de pie de página"/>
          <p:cNvSpPr>
            <a:spLocks noGrp="1"/>
          </p:cNvSpPr>
          <p:nvPr>
            <p:ph type="ftr" sz="quarter" idx="11"/>
          </p:nvPr>
        </p:nvSpPr>
        <p:spPr>
          <a:xfrm>
            <a:off x="7721600" y="6356350"/>
            <a:ext cx="3860800" cy="365125"/>
          </a:xfrm>
        </p:spPr>
        <p:txBody>
          <a:bodyPr/>
          <a:lstStyle/>
          <a:p>
            <a:endParaRPr lang="es-ES"/>
          </a:p>
        </p:txBody>
      </p:sp>
      <p:sp>
        <p:nvSpPr>
          <p:cNvPr id="6" name="5 Marcador de número de diapositiva"/>
          <p:cNvSpPr>
            <a:spLocks noGrp="1"/>
          </p:cNvSpPr>
          <p:nvPr>
            <p:ph type="sldNum" sz="quarter" idx="12"/>
          </p:nvPr>
        </p:nvSpPr>
        <p:spPr>
          <a:xfrm>
            <a:off x="4115296" y="6356351"/>
            <a:ext cx="2844800" cy="365125"/>
          </a:xfrm>
        </p:spPr>
        <p:txBody>
          <a:bodyPr/>
          <a:lstStyle>
            <a:lvl1pPr>
              <a:defRPr b="1"/>
            </a:lvl1pPr>
          </a:lstStyle>
          <a:p>
            <a:fld id="{132FADFE-3B8F-471C-ABF0-DBC7717ECBBC}" type="slidenum">
              <a:rPr lang="es-ES" smtClean="0"/>
              <a:pPr/>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963084" y="4406901"/>
            <a:ext cx="10363200" cy="1362075"/>
          </a:xfrm>
        </p:spPr>
        <p:txBody>
          <a:bodyPr anchor="t"/>
          <a:lstStyle>
            <a:lvl1pPr algn="l">
              <a:defRPr sz="4000" b="1" cap="all"/>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3 Marcador de fecha"/>
          <p:cNvSpPr>
            <a:spLocks noGrp="1"/>
          </p:cNvSpPr>
          <p:nvPr>
            <p:ph type="dt" sz="half" idx="10"/>
          </p:nvPr>
        </p:nvSpPr>
        <p:spPr/>
        <p:txBody>
          <a:bodyPr/>
          <a:lstStyle/>
          <a:p>
            <a:fld id="{AA00301A-FE76-44F3-9F48-AABC57B6FF9C}" type="datetime1">
              <a:rPr lang="es-ES" smtClean="0"/>
              <a:pPr/>
              <a:t>9/11/25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contenido"/>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contenido"/>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fecha"/>
          <p:cNvSpPr>
            <a:spLocks noGrp="1"/>
          </p:cNvSpPr>
          <p:nvPr>
            <p:ph type="dt" sz="half" idx="10"/>
          </p:nvPr>
        </p:nvSpPr>
        <p:spPr/>
        <p:txBody>
          <a:bodyPr/>
          <a:lstStyle/>
          <a:p>
            <a:fld id="{277845CB-EA03-4189-8595-8409B5DDC52C}" type="datetime1">
              <a:rPr lang="es-ES" smtClean="0"/>
              <a:pPr/>
              <a:t>9/11/25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a:t>Haga clic para modificar el estilo de título del patrón</a:t>
            </a:r>
            <a:endParaRPr lang="es-ES_tradnl"/>
          </a:p>
        </p:txBody>
      </p:sp>
      <p:sp>
        <p:nvSpPr>
          <p:cNvPr id="3" name="2 Marcador de texto"/>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3 Marcador de contenido"/>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5" name="4 Marcador de texto"/>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5 Marcador de contenido"/>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7" name="6 Marcador de fecha"/>
          <p:cNvSpPr>
            <a:spLocks noGrp="1"/>
          </p:cNvSpPr>
          <p:nvPr>
            <p:ph type="dt" sz="half" idx="10"/>
          </p:nvPr>
        </p:nvSpPr>
        <p:spPr/>
        <p:txBody>
          <a:bodyPr/>
          <a:lstStyle/>
          <a:p>
            <a:fld id="{B887671C-6030-4939-94E3-A626E65063DD}" type="datetime1">
              <a:rPr lang="es-ES" smtClean="0"/>
              <a:pPr/>
              <a:t>9/11/25</a:t>
            </a:fld>
            <a:endParaRPr lang="es-ES"/>
          </a:p>
        </p:txBody>
      </p:sp>
      <p:sp>
        <p:nvSpPr>
          <p:cNvPr id="8" name="7 Marcador de pie de página"/>
          <p:cNvSpPr>
            <a:spLocks noGrp="1"/>
          </p:cNvSpPr>
          <p:nvPr>
            <p:ph type="ftr" sz="quarter" idx="11"/>
          </p:nvPr>
        </p:nvSpPr>
        <p:spPr/>
        <p:txBody>
          <a:bodyPr/>
          <a:lstStyle/>
          <a:p>
            <a:endParaRPr lang="es-ES"/>
          </a:p>
        </p:txBody>
      </p:sp>
      <p:sp>
        <p:nvSpPr>
          <p:cNvPr id="9" name="8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fecha"/>
          <p:cNvSpPr>
            <a:spLocks noGrp="1"/>
          </p:cNvSpPr>
          <p:nvPr>
            <p:ph type="dt" sz="half" idx="10"/>
          </p:nvPr>
        </p:nvSpPr>
        <p:spPr/>
        <p:txBody>
          <a:bodyPr/>
          <a:lstStyle/>
          <a:p>
            <a:fld id="{61349E7D-70F3-44DF-AED4-2BE127DACFA4}" type="datetime1">
              <a:rPr lang="es-ES" smtClean="0"/>
              <a:pPr/>
              <a:t>9/11/25</a:t>
            </a:fld>
            <a:endParaRPr lang="es-ES"/>
          </a:p>
        </p:txBody>
      </p:sp>
      <p:sp>
        <p:nvSpPr>
          <p:cNvPr id="4" name="3 Marcador de pie de página"/>
          <p:cNvSpPr>
            <a:spLocks noGrp="1"/>
          </p:cNvSpPr>
          <p:nvPr>
            <p:ph type="ftr" sz="quarter" idx="11"/>
          </p:nvPr>
        </p:nvSpPr>
        <p:spPr/>
        <p:txBody>
          <a:bodyPr/>
          <a:lstStyle/>
          <a:p>
            <a:endParaRPr lang="es-ES"/>
          </a:p>
        </p:txBody>
      </p:sp>
      <p:sp>
        <p:nvSpPr>
          <p:cNvPr id="5" name="4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F788235A-7CDC-44C5-8376-7ED9CB251FE7}" type="datetime1">
              <a:rPr lang="es-ES" smtClean="0"/>
              <a:pPr/>
              <a:t>9/11/25</a:t>
            </a:fld>
            <a:endParaRPr lang="es-ES"/>
          </a:p>
        </p:txBody>
      </p:sp>
      <p:sp>
        <p:nvSpPr>
          <p:cNvPr id="3" name="2 Marcador de pie de página"/>
          <p:cNvSpPr>
            <a:spLocks noGrp="1"/>
          </p:cNvSpPr>
          <p:nvPr>
            <p:ph type="ftr" sz="quarter" idx="11"/>
          </p:nvPr>
        </p:nvSpPr>
        <p:spPr/>
        <p:txBody>
          <a:bodyPr/>
          <a:lstStyle/>
          <a:p>
            <a:endParaRPr lang="es-ES"/>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609601" y="273050"/>
            <a:ext cx="4011084" cy="1162050"/>
          </a:xfrm>
        </p:spPr>
        <p:txBody>
          <a:bodyPr anchor="b"/>
          <a:lstStyle>
            <a:lvl1pPr algn="l">
              <a:defRPr sz="2000" b="1"/>
            </a:lvl1pPr>
          </a:lstStyle>
          <a:p>
            <a:r>
              <a:rPr lang="es-ES"/>
              <a:t>Haga clic para modificar el estilo de título del patrón</a:t>
            </a:r>
            <a:endParaRPr lang="es-ES_tradnl"/>
          </a:p>
        </p:txBody>
      </p:sp>
      <p:sp>
        <p:nvSpPr>
          <p:cNvPr id="3" name="2 Marcador de contenido"/>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texto"/>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E6493CFE-49B0-49B6-8407-61F6A35A3776}" type="datetime1">
              <a:rPr lang="es-ES" smtClean="0"/>
              <a:pPr/>
              <a:t>9/11/25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2389717" y="4800600"/>
            <a:ext cx="7315200" cy="566738"/>
          </a:xfrm>
        </p:spPr>
        <p:txBody>
          <a:bodyPr anchor="b"/>
          <a:lstStyle>
            <a:lvl1pPr algn="l">
              <a:defRPr sz="2000" b="1"/>
            </a:lvl1pPr>
          </a:lstStyle>
          <a:p>
            <a:r>
              <a:rPr lang="es-ES"/>
              <a:t>Haga clic para modificar el estilo de título del patrón</a:t>
            </a:r>
            <a:endParaRPr lang="es-ES_tradnl"/>
          </a:p>
        </p:txBody>
      </p:sp>
      <p:sp>
        <p:nvSpPr>
          <p:cNvPr id="3" name="2 Marcador de posición de imagen"/>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_tradnl"/>
          </a:p>
        </p:txBody>
      </p:sp>
      <p:sp>
        <p:nvSpPr>
          <p:cNvPr id="4" name="3 Marcador de texto"/>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5" name="4 Marcador de fecha"/>
          <p:cNvSpPr>
            <a:spLocks noGrp="1"/>
          </p:cNvSpPr>
          <p:nvPr>
            <p:ph type="dt" sz="half" idx="10"/>
          </p:nvPr>
        </p:nvSpPr>
        <p:spPr/>
        <p:txBody>
          <a:bodyPr/>
          <a:lstStyle/>
          <a:p>
            <a:fld id="{86AC31FB-6A8D-40CC-902F-1B96321DC315}" type="datetime1">
              <a:rPr lang="es-ES" smtClean="0"/>
              <a:pPr/>
              <a:t>9/11/25</a:t>
            </a:fld>
            <a:endParaRPr lang="es-ES"/>
          </a:p>
        </p:txBody>
      </p:sp>
      <p:sp>
        <p:nvSpPr>
          <p:cNvPr id="6" name="5 Marcador de pie de página"/>
          <p:cNvSpPr>
            <a:spLocks noGrp="1"/>
          </p:cNvSpPr>
          <p:nvPr>
            <p:ph type="ftr" sz="quarter" idx="11"/>
          </p:nvPr>
        </p:nvSpPr>
        <p:spPr/>
        <p:txBody>
          <a:bodyPr/>
          <a:lstStyle/>
          <a:p>
            <a:endParaRPr lang="es-ES"/>
          </a:p>
        </p:txBody>
      </p:sp>
      <p:sp>
        <p:nvSpPr>
          <p:cNvPr id="7" name="6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p>
            <a:fld id="{8D060704-0D86-4BCC-9619-2AB1A9CA6EAA}" type="datetime1">
              <a:rPr lang="es-ES" smtClean="0"/>
              <a:pPr/>
              <a:t>9/11/25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8839200" y="274639"/>
            <a:ext cx="2743200" cy="5851525"/>
          </a:xfrm>
        </p:spPr>
        <p:txBody>
          <a:bodyPr vert="eaVert"/>
          <a:lstStyle/>
          <a:p>
            <a:r>
              <a:rPr lang="es-ES"/>
              <a:t>Haga clic para modificar el estilo de título del patrón</a:t>
            </a:r>
            <a:endParaRPr lang="es-ES_tradnl"/>
          </a:p>
        </p:txBody>
      </p:sp>
      <p:sp>
        <p:nvSpPr>
          <p:cNvPr id="3" name="2 Marcador de texto vertical"/>
          <p:cNvSpPr>
            <a:spLocks noGrp="1"/>
          </p:cNvSpPr>
          <p:nvPr>
            <p:ph type="body" orient="vert" idx="1"/>
          </p:nvPr>
        </p:nvSpPr>
        <p:spPr>
          <a:xfrm>
            <a:off x="609600" y="274639"/>
            <a:ext cx="8026400" cy="5851525"/>
          </a:xfrm>
        </p:spPr>
        <p:txBody>
          <a:bodyPr vert="eaVe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10"/>
          </p:nvPr>
        </p:nvSpPr>
        <p:spPr/>
        <p:txBody>
          <a:bodyPr/>
          <a:lstStyle/>
          <a:p>
            <a:fld id="{B613E3E3-27FC-4D65-8580-DE5DA942CB7F}" type="datetime1">
              <a:rPr lang="es-ES" smtClean="0"/>
              <a:pPr/>
              <a:t>9/11/25</a:t>
            </a:fld>
            <a:endParaRPr lang="es-ES"/>
          </a:p>
        </p:txBody>
      </p:sp>
      <p:sp>
        <p:nvSpPr>
          <p:cNvPr id="5" name="4 Marcador de pie de página"/>
          <p:cNvSpPr>
            <a:spLocks noGrp="1"/>
          </p:cNvSpPr>
          <p:nvPr>
            <p:ph type="ftr" sz="quarter" idx="11"/>
          </p:nvPr>
        </p:nvSpPr>
        <p:spPr/>
        <p:txBody>
          <a:bodyPr/>
          <a:lstStyle/>
          <a:p>
            <a:endParaRPr lang="es-ES"/>
          </a:p>
        </p:txBody>
      </p:sp>
      <p:sp>
        <p:nvSpPr>
          <p:cNvPr id="6" name="5 Marcador de número de diapositiva"/>
          <p:cNvSpPr>
            <a:spLocks noGrp="1"/>
          </p:cNvSpPr>
          <p:nvPr>
            <p:ph type="sldNum" sz="quarter" idx="12"/>
          </p:nvPr>
        </p:nvSpPr>
        <p:spPr/>
        <p:txBody>
          <a:bodyPr/>
          <a:lstStyle/>
          <a:p>
            <a:fld id="{132FADFE-3B8F-471C-ABF0-DBC7717ECBBC}" type="slidenum">
              <a:rPr lang="es-ES" smtClean="0"/>
              <a:pPr/>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tileRect/>
        </a:gradFill>
        <a:effectLst/>
      </p:bgPr>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s-ES"/>
              <a:t>Haga clic para modificar el estilo de título del patrón</a:t>
            </a:r>
            <a:endParaRPr lang="es-ES_tradnl"/>
          </a:p>
        </p:txBody>
      </p:sp>
      <p:sp>
        <p:nvSpPr>
          <p:cNvPr id="3" name="2 Marcador de texto"/>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ES_tradnl"/>
          </a:p>
        </p:txBody>
      </p:sp>
      <p:sp>
        <p:nvSpPr>
          <p:cNvPr id="4" name="3 Marcador de fecha"/>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042A091-6AE4-41E0-B8EB-963259B23557}" type="datetime1">
              <a:rPr lang="es-ES" smtClean="0"/>
              <a:pPr/>
              <a:t>9/11/25</a:t>
            </a:fld>
            <a:endParaRPr lang="es-ES"/>
          </a:p>
        </p:txBody>
      </p:sp>
      <p:sp>
        <p:nvSpPr>
          <p:cNvPr id="5" name="4 Marcador de pie de página"/>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5 Marcador de número de diapositiva"/>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2FADFE-3B8F-471C-ABF0-DBC7717ECBBC}" type="slidenum">
              <a:rPr lang="es-ES" smtClean="0"/>
              <a:pPr/>
              <a:t>‹Nº›</a:t>
            </a:fld>
            <a:endParaRPr lang="es-ES"/>
          </a:p>
        </p:txBody>
      </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 id="2147484018" r:id="rId10"/>
    <p:sldLayoutId id="214748401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ES_trad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mdr@lcc.uma.es"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g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 Id="rId5" Type="http://schemas.openxmlformats.org/officeDocument/2006/relationships/image" Target="../media/image11.jpeg"/><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hyperlink" Target="https://tienda.aenor.com/Paginas/normas-y-libros/Normas/Norma-IEC.aspx?c=norma-iec-ts-61508-3-2-2024-62902&amp;TermStoreId=30422a6b-6877-4e28-82d6-96d5dac7e3b1&amp;TermSetId=c0c24438-f227-4594-9eb7-30942b744d4d&amp;TermId=e7f35792-f2f3-4a63-aca0-24f7769b19f0" TargetMode="External"/></Relationships>
</file>

<file path=ppt/slides/_rels/slide4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1919536" y="1844825"/>
            <a:ext cx="8496944" cy="1470025"/>
          </a:xfrm>
        </p:spPr>
        <p:txBody>
          <a:bodyPr>
            <a:noAutofit/>
          </a:bodyPr>
          <a:lstStyle/>
          <a:p>
            <a:r>
              <a:rPr lang="es-ES_tradnl" sz="3200" dirty="0">
                <a:solidFill>
                  <a:schemeClr val="tx1">
                    <a:lumMod val="75000"/>
                    <a:lumOff val="25000"/>
                  </a:schemeClr>
                </a:solidFill>
              </a:rPr>
              <a:t>Tema 1. Introducción a los Sistemas Críticos</a:t>
            </a:r>
          </a:p>
        </p:txBody>
      </p:sp>
      <p:sp>
        <p:nvSpPr>
          <p:cNvPr id="3" name="2 Subtítulo"/>
          <p:cNvSpPr>
            <a:spLocks noGrp="1"/>
          </p:cNvSpPr>
          <p:nvPr>
            <p:ph type="subTitle" idx="1"/>
          </p:nvPr>
        </p:nvSpPr>
        <p:spPr>
          <a:xfrm>
            <a:off x="2895600" y="3878700"/>
            <a:ext cx="6400800" cy="1638532"/>
          </a:xfrm>
        </p:spPr>
        <p:txBody>
          <a:bodyPr>
            <a:normAutofit/>
          </a:bodyPr>
          <a:lstStyle/>
          <a:p>
            <a:r>
              <a:rPr lang="es-ES" sz="2400" b="1" dirty="0">
                <a:solidFill>
                  <a:schemeClr val="tx1">
                    <a:lumMod val="65000"/>
                    <a:lumOff val="35000"/>
                  </a:schemeClr>
                </a:solidFill>
              </a:rPr>
              <a:t>Manuel Díaz </a:t>
            </a:r>
            <a:r>
              <a:rPr lang="es-ES" sz="2400" b="1" dirty="0">
                <a:solidFill>
                  <a:schemeClr val="tx1">
                    <a:lumMod val="65000"/>
                    <a:lumOff val="35000"/>
                  </a:schemeClr>
                </a:solidFill>
                <a:hlinkClick r:id="rId3"/>
              </a:rPr>
              <a:t>mdiaz@uma.es</a:t>
            </a:r>
            <a:endParaRPr lang="es-ES" sz="2400" b="1" dirty="0">
              <a:solidFill>
                <a:schemeClr val="tx1">
                  <a:lumMod val="65000"/>
                  <a:lumOff val="35000"/>
                </a:schemeClr>
              </a:solidFill>
            </a:endParaRPr>
          </a:p>
        </p:txBody>
      </p:sp>
      <p:sp>
        <p:nvSpPr>
          <p:cNvPr id="4" name="3 CuadroTexto"/>
          <p:cNvSpPr txBox="1"/>
          <p:nvPr/>
        </p:nvSpPr>
        <p:spPr>
          <a:xfrm>
            <a:off x="2818568" y="5661249"/>
            <a:ext cx="6715172" cy="646331"/>
          </a:xfrm>
          <a:prstGeom prst="rect">
            <a:avLst/>
          </a:prstGeom>
          <a:noFill/>
        </p:spPr>
        <p:txBody>
          <a:bodyPr wrap="square" rtlCol="0">
            <a:spAutoFit/>
          </a:bodyPr>
          <a:lstStyle/>
          <a:p>
            <a:pPr algn="ctr"/>
            <a:r>
              <a:rPr lang="es-ES_tradnl" dirty="0"/>
              <a:t>Dpto. Lenguajes y Ciencias de la Computación</a:t>
            </a:r>
          </a:p>
          <a:p>
            <a:pPr algn="ctr"/>
            <a:r>
              <a:rPr lang="es-ES_tradnl" dirty="0"/>
              <a:t> Universidad de Málaga</a:t>
            </a:r>
          </a:p>
        </p:txBody>
      </p:sp>
      <p:pic>
        <p:nvPicPr>
          <p:cNvPr id="1027" name="Picture 3" descr="I:\Trabajo\Tesis\Congresos y articulos\03 IADIS Applied computing, 2009 november, Rome. Tractor security\Presentacion tractor safety rome\uma.gif"/>
          <p:cNvPicPr>
            <a:picLocks noChangeAspect="1" noChangeArrowheads="1"/>
          </p:cNvPicPr>
          <p:nvPr/>
        </p:nvPicPr>
        <p:blipFill>
          <a:blip r:embed="rId4" cstate="print"/>
          <a:srcRect/>
          <a:stretch>
            <a:fillRect/>
          </a:stretch>
        </p:blipFill>
        <p:spPr bwMode="auto">
          <a:xfrm>
            <a:off x="623392" y="275422"/>
            <a:ext cx="1677761" cy="108900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sz="3600" dirty="0"/>
              <a:t>Introducción a los Sistemas Críticos</a:t>
            </a:r>
          </a:p>
        </p:txBody>
      </p:sp>
      <p:sp>
        <p:nvSpPr>
          <p:cNvPr id="3" name="2 Marcador de contenido"/>
          <p:cNvSpPr>
            <a:spLocks noGrp="1"/>
          </p:cNvSpPr>
          <p:nvPr>
            <p:ph idx="1"/>
          </p:nvPr>
        </p:nvSpPr>
        <p:spPr/>
        <p:txBody>
          <a:bodyPr/>
          <a:lstStyle/>
          <a:p>
            <a:pPr lvl="1" indent="-342900">
              <a:lnSpc>
                <a:spcPct val="120000"/>
              </a:lnSpc>
            </a:pPr>
            <a:r>
              <a:rPr lang="en-US" altLang="es-ES" dirty="0" err="1"/>
              <a:t>Características</a:t>
            </a:r>
            <a:r>
              <a:rPr lang="en-US" altLang="es-ES" dirty="0"/>
              <a:t>. El </a:t>
            </a:r>
            <a:r>
              <a:rPr lang="en-US" altLang="es-ES" dirty="0" err="1"/>
              <a:t>papel</a:t>
            </a:r>
            <a:r>
              <a:rPr lang="en-US" altLang="es-ES" dirty="0"/>
              <a:t> del software</a:t>
            </a:r>
          </a:p>
          <a:p>
            <a:pPr lvl="1" indent="-342900">
              <a:lnSpc>
                <a:spcPct val="120000"/>
              </a:lnSpc>
            </a:pPr>
            <a:r>
              <a:rPr lang="en-US" altLang="es-ES" dirty="0"/>
              <a:t>Historia y </a:t>
            </a:r>
            <a:r>
              <a:rPr lang="en-US" altLang="es-ES" dirty="0" err="1"/>
              <a:t>evolución</a:t>
            </a:r>
            <a:r>
              <a:rPr lang="en-US" altLang="es-ES" dirty="0"/>
              <a:t>. </a:t>
            </a:r>
            <a:r>
              <a:rPr lang="en-US" altLang="es-ES" dirty="0" err="1"/>
              <a:t>Tecnología</a:t>
            </a:r>
            <a:r>
              <a:rPr lang="en-US" altLang="es-ES" dirty="0"/>
              <a:t> y accidents</a:t>
            </a:r>
          </a:p>
          <a:p>
            <a:pPr lvl="1" indent="-342900">
              <a:lnSpc>
                <a:spcPct val="120000"/>
              </a:lnSpc>
            </a:pPr>
            <a:r>
              <a:rPr lang="en-US" altLang="es-ES" i="1" dirty="0"/>
              <a:t>Safety I</a:t>
            </a:r>
            <a:r>
              <a:rPr lang="en-US" altLang="es-ES" dirty="0"/>
              <a:t> vs </a:t>
            </a:r>
            <a:r>
              <a:rPr lang="en-US" altLang="es-ES" i="1" dirty="0"/>
              <a:t>Safety II</a:t>
            </a:r>
          </a:p>
          <a:p>
            <a:pPr lvl="1" indent="-342900">
              <a:lnSpc>
                <a:spcPct val="120000"/>
              </a:lnSpc>
            </a:pPr>
            <a:r>
              <a:rPr lang="en-US" altLang="es-ES" dirty="0" err="1"/>
              <a:t>Terminología</a:t>
            </a:r>
            <a:endParaRPr lang="en-US" altLang="es-ES" dirty="0"/>
          </a:p>
          <a:p>
            <a:pPr lvl="1" indent="-342900">
              <a:lnSpc>
                <a:spcPct val="120000"/>
              </a:lnSpc>
            </a:pPr>
            <a:r>
              <a:rPr lang="en-US" altLang="es-ES" dirty="0" err="1"/>
              <a:t>Estándares</a:t>
            </a:r>
            <a:r>
              <a:rPr lang="en-US" altLang="es-ES" dirty="0"/>
              <a:t> y </a:t>
            </a:r>
            <a:r>
              <a:rPr lang="en-US" altLang="es-ES" dirty="0" err="1"/>
              <a:t>certificación</a:t>
            </a:r>
            <a:endParaRPr lang="en-US" altLang="es-ES" dirty="0"/>
          </a:p>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a:t>
            </a:fld>
            <a:endParaRPr lang="es-E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dirty="0">
                <a:solidFill>
                  <a:srgbClr val="0070C0"/>
                </a:solidFill>
              </a:rPr>
              <a:t>Sistemas Críticos</a:t>
            </a:r>
          </a:p>
        </p:txBody>
      </p:sp>
      <p:sp>
        <p:nvSpPr>
          <p:cNvPr id="3" name="2 Marcador de contenido"/>
          <p:cNvSpPr>
            <a:spLocks noGrp="1"/>
          </p:cNvSpPr>
          <p:nvPr>
            <p:ph idx="1"/>
          </p:nvPr>
        </p:nvSpPr>
        <p:spPr/>
        <p:txBody>
          <a:bodyPr>
            <a:normAutofit/>
          </a:bodyPr>
          <a:lstStyle/>
          <a:p>
            <a:pPr marL="355600" marR="763905" algn="just">
              <a:lnSpc>
                <a:spcPct val="89100"/>
              </a:lnSpc>
              <a:buClr>
                <a:srgbClr val="1F497D"/>
              </a:buClr>
              <a:buFont typeface="Arial"/>
              <a:buChar char="•"/>
              <a:tabLst>
                <a:tab pos="354965" algn="l"/>
                <a:tab pos="355600" algn="l"/>
                <a:tab pos="4888230" algn="l"/>
              </a:tabLst>
            </a:pPr>
            <a:r>
              <a:rPr lang="es-ES" sz="2400" dirty="0">
                <a:cs typeface="Calibri"/>
              </a:rPr>
              <a:t>Sistemas </a:t>
            </a:r>
            <a:r>
              <a:rPr lang="es-ES" sz="2400" spc="-5" dirty="0">
                <a:cs typeface="Calibri"/>
              </a:rPr>
              <a:t>informáticos cuyos posibles fallos tienen  consecuencias </a:t>
            </a:r>
            <a:r>
              <a:rPr lang="es-ES" sz="2400" dirty="0">
                <a:cs typeface="Calibri"/>
              </a:rPr>
              <a:t>indeseables para las </a:t>
            </a:r>
            <a:r>
              <a:rPr lang="es-ES" sz="2400" spc="-5" dirty="0">
                <a:cs typeface="Calibri"/>
              </a:rPr>
              <a:t>personas </a:t>
            </a:r>
            <a:r>
              <a:rPr lang="es-ES" sz="2400" dirty="0">
                <a:cs typeface="Calibri"/>
              </a:rPr>
              <a:t>u  </a:t>
            </a:r>
            <a:r>
              <a:rPr lang="es-ES" sz="2400" spc="-5" dirty="0">
                <a:cs typeface="Calibri"/>
              </a:rPr>
              <a:t>organizaciones, </a:t>
            </a:r>
            <a:r>
              <a:rPr lang="es-ES" sz="2400" dirty="0">
                <a:cs typeface="Calibri"/>
              </a:rPr>
              <a:t>el</a:t>
            </a:r>
            <a:r>
              <a:rPr lang="es-ES" sz="2400" spc="30" dirty="0">
                <a:cs typeface="Calibri"/>
              </a:rPr>
              <a:t> </a:t>
            </a:r>
            <a:r>
              <a:rPr lang="es-ES" sz="2400" dirty="0">
                <a:cs typeface="Calibri"/>
              </a:rPr>
              <a:t>medio</a:t>
            </a:r>
            <a:r>
              <a:rPr lang="es-ES" sz="2400" spc="10" dirty="0">
                <a:cs typeface="Calibri"/>
              </a:rPr>
              <a:t> </a:t>
            </a:r>
            <a:r>
              <a:rPr lang="es-ES" sz="2400" dirty="0">
                <a:cs typeface="Calibri"/>
              </a:rPr>
              <a:t>ambiente,	o la </a:t>
            </a:r>
            <a:r>
              <a:rPr lang="es-ES" sz="2400" spc="-5" dirty="0">
                <a:cs typeface="Calibri"/>
              </a:rPr>
              <a:t>sociedad</a:t>
            </a:r>
            <a:r>
              <a:rPr lang="es-ES" sz="2400" spc="-50" dirty="0">
                <a:cs typeface="Calibri"/>
              </a:rPr>
              <a:t> </a:t>
            </a:r>
            <a:r>
              <a:rPr lang="es-ES" sz="2400" dirty="0">
                <a:cs typeface="Calibri"/>
              </a:rPr>
              <a:t>en</a:t>
            </a:r>
            <a:r>
              <a:rPr lang="es-ES" sz="2400" spc="-20" dirty="0">
                <a:cs typeface="Calibri"/>
              </a:rPr>
              <a:t> </a:t>
            </a:r>
            <a:r>
              <a:rPr lang="es-ES" sz="2400" dirty="0">
                <a:cs typeface="Calibri"/>
              </a:rPr>
              <a:t>su  </a:t>
            </a:r>
            <a:r>
              <a:rPr lang="es-ES" sz="2400" spc="-5" dirty="0">
                <a:cs typeface="Calibri"/>
              </a:rPr>
              <a:t>conjunto</a:t>
            </a:r>
            <a:endParaRPr lang="es-ES" sz="2400" dirty="0">
              <a:cs typeface="Calibri"/>
            </a:endParaRPr>
          </a:p>
          <a:p>
            <a:pPr marL="749300" marR="625475" lvl="1" indent="-279400">
              <a:lnSpc>
                <a:spcPts val="2220"/>
              </a:lnSpc>
              <a:spcBef>
                <a:spcPts val="1060"/>
              </a:spcBef>
              <a:buFont typeface="Arial"/>
              <a:buChar char="–"/>
              <a:tabLst>
                <a:tab pos="755015" algn="l"/>
                <a:tab pos="755650" algn="l"/>
              </a:tabLst>
            </a:pPr>
            <a:r>
              <a:rPr lang="es-ES" sz="2000" i="1" spc="-5" dirty="0" err="1">
                <a:solidFill>
                  <a:srgbClr val="0070C0"/>
                </a:solidFill>
                <a:cs typeface="Calibri"/>
              </a:rPr>
              <a:t>business</a:t>
            </a:r>
            <a:r>
              <a:rPr lang="es-ES" sz="2000" i="1" spc="-5" dirty="0">
                <a:solidFill>
                  <a:srgbClr val="0070C0"/>
                </a:solidFill>
                <a:cs typeface="Calibri"/>
              </a:rPr>
              <a:t> </a:t>
            </a:r>
            <a:r>
              <a:rPr lang="es-ES" sz="2000" i="1" spc="-5" dirty="0" err="1">
                <a:solidFill>
                  <a:srgbClr val="0070C0"/>
                </a:solidFill>
                <a:cs typeface="Calibri"/>
              </a:rPr>
              <a:t>critical</a:t>
            </a:r>
            <a:r>
              <a:rPr lang="es-ES" sz="2000" spc="-5" dirty="0">
                <a:cs typeface="Calibri"/>
              </a:rPr>
              <a:t>: </a:t>
            </a:r>
            <a:r>
              <a:rPr lang="es-ES" sz="2000" dirty="0">
                <a:cs typeface="Calibri"/>
              </a:rPr>
              <a:t>un fallo del sistema puede tener</a:t>
            </a:r>
            <a:r>
              <a:rPr lang="es-ES" sz="2000" spc="-25" dirty="0">
                <a:cs typeface="Calibri"/>
              </a:rPr>
              <a:t> </a:t>
            </a:r>
            <a:r>
              <a:rPr lang="es-ES" sz="2000" dirty="0">
                <a:cs typeface="Calibri"/>
              </a:rPr>
              <a:t>consecuencias  </a:t>
            </a:r>
            <a:r>
              <a:rPr lang="es-ES" sz="2000" spc="-5" dirty="0">
                <a:cs typeface="Calibri"/>
              </a:rPr>
              <a:t>negativas </a:t>
            </a:r>
            <a:r>
              <a:rPr lang="es-ES" sz="2000" dirty="0">
                <a:cs typeface="Calibri"/>
              </a:rPr>
              <a:t>para una</a:t>
            </a:r>
            <a:r>
              <a:rPr lang="es-ES" sz="2000" spc="-65" dirty="0">
                <a:cs typeface="Calibri"/>
              </a:rPr>
              <a:t> </a:t>
            </a:r>
            <a:r>
              <a:rPr lang="es-ES" sz="2000" dirty="0">
                <a:cs typeface="Calibri"/>
              </a:rPr>
              <a:t>empresa</a:t>
            </a:r>
          </a:p>
          <a:p>
            <a:pPr marL="1028700">
              <a:spcBef>
                <a:spcPts val="680"/>
              </a:spcBef>
              <a:buNone/>
            </a:pPr>
            <a:r>
              <a:rPr lang="es-ES" sz="1600" dirty="0">
                <a:latin typeface="Arial"/>
                <a:cs typeface="Arial"/>
              </a:rPr>
              <a:t>»  </a:t>
            </a:r>
            <a:r>
              <a:rPr lang="es-ES" sz="1600" dirty="0" err="1">
                <a:cs typeface="Calibri"/>
              </a:rPr>
              <a:t>ej</a:t>
            </a:r>
            <a:r>
              <a:rPr lang="es-ES" sz="1600" dirty="0">
                <a:cs typeface="Calibri"/>
              </a:rPr>
              <a:t>: </a:t>
            </a:r>
            <a:r>
              <a:rPr lang="es-ES" sz="1600" spc="-5" dirty="0">
                <a:cs typeface="Calibri"/>
              </a:rPr>
              <a:t>dispositivos</a:t>
            </a:r>
            <a:r>
              <a:rPr lang="es-ES" sz="1600" spc="-35" dirty="0">
                <a:cs typeface="Calibri"/>
              </a:rPr>
              <a:t> </a:t>
            </a:r>
            <a:r>
              <a:rPr lang="es-ES" sz="1600" dirty="0">
                <a:cs typeface="Calibri"/>
              </a:rPr>
              <a:t>defectuosos</a:t>
            </a:r>
          </a:p>
          <a:p>
            <a:pPr marL="749300" marR="5080" lvl="1" indent="-279400">
              <a:lnSpc>
                <a:spcPts val="2220"/>
              </a:lnSpc>
              <a:spcBef>
                <a:spcPts val="1060"/>
              </a:spcBef>
              <a:buFont typeface="Arial"/>
              <a:buChar char="–"/>
              <a:tabLst>
                <a:tab pos="755015" algn="l"/>
                <a:tab pos="755650" algn="l"/>
              </a:tabLst>
            </a:pPr>
            <a:r>
              <a:rPr lang="es-ES" sz="2000" i="1" dirty="0" err="1">
                <a:solidFill>
                  <a:srgbClr val="0070C0"/>
                </a:solidFill>
                <a:cs typeface="Calibri"/>
              </a:rPr>
              <a:t>mission</a:t>
            </a:r>
            <a:r>
              <a:rPr lang="es-ES" sz="2000" i="1" dirty="0">
                <a:solidFill>
                  <a:srgbClr val="0070C0"/>
                </a:solidFill>
                <a:cs typeface="Calibri"/>
              </a:rPr>
              <a:t> </a:t>
            </a:r>
            <a:r>
              <a:rPr lang="es-ES" sz="2000" i="1" spc="-5" dirty="0" err="1">
                <a:solidFill>
                  <a:srgbClr val="0070C0"/>
                </a:solidFill>
                <a:cs typeface="Calibri"/>
              </a:rPr>
              <a:t>critical</a:t>
            </a:r>
            <a:r>
              <a:rPr lang="es-ES" sz="2000" spc="-5" dirty="0">
                <a:cs typeface="Calibri"/>
              </a:rPr>
              <a:t>: </a:t>
            </a:r>
            <a:r>
              <a:rPr lang="es-ES" sz="2000" dirty="0">
                <a:cs typeface="Calibri"/>
              </a:rPr>
              <a:t>un fallo del sistema puede hacer fracasar la misión</a:t>
            </a:r>
            <a:r>
              <a:rPr lang="es-ES" sz="2000" spc="-70" dirty="0">
                <a:cs typeface="Calibri"/>
              </a:rPr>
              <a:t> </a:t>
            </a:r>
            <a:r>
              <a:rPr lang="es-ES" sz="2000" dirty="0">
                <a:cs typeface="Calibri"/>
              </a:rPr>
              <a:t>del  sistema que</a:t>
            </a:r>
            <a:r>
              <a:rPr lang="es-ES" sz="2000" spc="-100" dirty="0">
                <a:cs typeface="Calibri"/>
              </a:rPr>
              <a:t> </a:t>
            </a:r>
            <a:r>
              <a:rPr lang="es-ES" sz="2000" dirty="0">
                <a:cs typeface="Calibri"/>
              </a:rPr>
              <a:t>controla</a:t>
            </a:r>
          </a:p>
          <a:p>
            <a:pPr marL="1028700">
              <a:spcBef>
                <a:spcPts val="680"/>
              </a:spcBef>
              <a:buNone/>
            </a:pPr>
            <a:r>
              <a:rPr lang="es-ES" sz="1600" dirty="0">
                <a:latin typeface="Arial"/>
                <a:cs typeface="Arial"/>
              </a:rPr>
              <a:t>»  </a:t>
            </a:r>
            <a:r>
              <a:rPr lang="es-ES" sz="1600" dirty="0" err="1">
                <a:cs typeface="Calibri"/>
              </a:rPr>
              <a:t>ej</a:t>
            </a:r>
            <a:r>
              <a:rPr lang="es-ES" sz="1600" dirty="0">
                <a:cs typeface="Calibri"/>
              </a:rPr>
              <a:t>: satélite de</a:t>
            </a:r>
            <a:r>
              <a:rPr lang="es-ES" sz="1600" spc="-80" dirty="0">
                <a:cs typeface="Calibri"/>
              </a:rPr>
              <a:t> </a:t>
            </a:r>
            <a:r>
              <a:rPr lang="es-ES" sz="1600" dirty="0">
                <a:cs typeface="Calibri"/>
              </a:rPr>
              <a:t>telecomunicaciones</a:t>
            </a:r>
          </a:p>
          <a:p>
            <a:pPr marL="749300" marR="27305" lvl="1" indent="-279400">
              <a:lnSpc>
                <a:spcPts val="2220"/>
              </a:lnSpc>
              <a:spcBef>
                <a:spcPts val="1060"/>
              </a:spcBef>
              <a:buFont typeface="Arial"/>
              <a:buChar char="–"/>
              <a:tabLst>
                <a:tab pos="755015" algn="l"/>
                <a:tab pos="755650" algn="l"/>
              </a:tabLst>
            </a:pPr>
            <a:r>
              <a:rPr lang="es-ES" sz="2000" i="1" dirty="0">
                <a:solidFill>
                  <a:srgbClr val="0070C0"/>
                </a:solidFill>
                <a:cs typeface="Calibri"/>
              </a:rPr>
              <a:t>safety </a:t>
            </a:r>
            <a:r>
              <a:rPr lang="es-ES" sz="2000" i="1" spc="-5" dirty="0" err="1">
                <a:solidFill>
                  <a:srgbClr val="0070C0"/>
                </a:solidFill>
                <a:cs typeface="Calibri"/>
              </a:rPr>
              <a:t>critical</a:t>
            </a:r>
            <a:r>
              <a:rPr lang="es-ES" sz="2000" spc="-5" dirty="0">
                <a:cs typeface="Calibri"/>
              </a:rPr>
              <a:t>: </a:t>
            </a:r>
            <a:r>
              <a:rPr lang="es-ES" sz="2000" dirty="0">
                <a:cs typeface="Calibri"/>
              </a:rPr>
              <a:t>un fallo del sistema puede producir la muerte o</a:t>
            </a:r>
            <a:r>
              <a:rPr lang="es-ES" sz="2000" spc="-70" dirty="0">
                <a:cs typeface="Calibri"/>
              </a:rPr>
              <a:t> </a:t>
            </a:r>
            <a:r>
              <a:rPr lang="es-ES" sz="2000" dirty="0">
                <a:cs typeface="Calibri"/>
              </a:rPr>
              <a:t>heridas  graves a personas, o daños inadmisibles al medio</a:t>
            </a:r>
            <a:r>
              <a:rPr lang="es-ES" sz="2000" spc="-100" dirty="0">
                <a:cs typeface="Calibri"/>
              </a:rPr>
              <a:t> </a:t>
            </a:r>
            <a:r>
              <a:rPr lang="es-ES" sz="2000" dirty="0">
                <a:cs typeface="Calibri"/>
              </a:rPr>
              <a:t>ambiente</a:t>
            </a:r>
          </a:p>
          <a:p>
            <a:pPr marL="1028700">
              <a:spcBef>
                <a:spcPts val="680"/>
              </a:spcBef>
              <a:buNone/>
            </a:pPr>
            <a:r>
              <a:rPr lang="es-ES" sz="1600" dirty="0">
                <a:latin typeface="Arial"/>
                <a:cs typeface="Arial"/>
              </a:rPr>
              <a:t>»  </a:t>
            </a:r>
            <a:r>
              <a:rPr lang="es-ES" sz="1600" dirty="0">
                <a:cs typeface="Calibri"/>
              </a:rPr>
              <a:t>ej. control de</a:t>
            </a:r>
            <a:r>
              <a:rPr lang="es-ES" sz="1600" spc="-85" dirty="0">
                <a:cs typeface="Calibri"/>
              </a:rPr>
              <a:t> </a:t>
            </a:r>
            <a:r>
              <a:rPr lang="es-ES" sz="1600" dirty="0">
                <a:cs typeface="Calibri"/>
              </a:rPr>
              <a:t>vuelo</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a:t>
            </a:fld>
            <a:endParaRPr lang="es-ES"/>
          </a:p>
        </p:txBody>
      </p:sp>
    </p:spTree>
    <p:extLst>
      <p:ext uri="{BB962C8B-B14F-4D97-AF65-F5344CB8AC3E}">
        <p14:creationId xmlns:p14="http://schemas.microsoft.com/office/powerpoint/2010/main" val="100826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El Software en los Accidentes</a:t>
            </a:r>
          </a:p>
        </p:txBody>
      </p:sp>
      <p:sp>
        <p:nvSpPr>
          <p:cNvPr id="3" name="2 Marcador de contenido"/>
          <p:cNvSpPr>
            <a:spLocks noGrp="1"/>
          </p:cNvSpPr>
          <p:nvPr>
            <p:ph idx="1"/>
          </p:nvPr>
        </p:nvSpPr>
        <p:spPr/>
        <p:txBody>
          <a:bodyPr>
            <a:normAutofit fontScale="85000" lnSpcReduction="20000"/>
          </a:bodyPr>
          <a:lstStyle/>
          <a:p>
            <a:r>
              <a:rPr lang="es-ES" dirty="0"/>
              <a:t>El software se utiliza para sustituir humanos y componentes hardware/mecánicos  en procesos cada vez más críticos</a:t>
            </a:r>
          </a:p>
          <a:p>
            <a:r>
              <a:rPr lang="es-ES" dirty="0"/>
              <a:t>Menos obvios son los peligros de:</a:t>
            </a:r>
          </a:p>
          <a:p>
            <a:pPr lvl="1"/>
            <a:r>
              <a:rPr lang="es-ES" dirty="0"/>
              <a:t>Utilizar datos generados por software (no desarrollado como crítico) para tomar decisiones críticas</a:t>
            </a:r>
          </a:p>
          <a:p>
            <a:pPr lvl="1"/>
            <a:r>
              <a:rPr lang="es-ES" dirty="0"/>
              <a:t>Aplicaciones no críticas (en principio) cuyos errores pueden tener consecuencias graves (error en una base de datos de pacientes)</a:t>
            </a:r>
          </a:p>
          <a:p>
            <a:pPr lvl="1"/>
            <a:r>
              <a:rPr lang="es-ES" dirty="0"/>
              <a:t>Errores en aplicaciones en herramientas de ingeniería (cálculo de una estructura,…)</a:t>
            </a:r>
          </a:p>
          <a:p>
            <a:pPr lvl="1"/>
            <a:r>
              <a:rPr lang="es-ES" dirty="0"/>
              <a:t>Usar metodologías/herramientas para sistemas críticos, que no han tenido en cuenta las características del software (por ej. el software no se desgasta, pero se puede actualizar!)</a:t>
            </a:r>
          </a:p>
          <a:p>
            <a:pPr lvl="1"/>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a:t>
            </a:fld>
            <a:endParaRPr lang="es-E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Seguridad y Fallos</a:t>
            </a:r>
          </a:p>
        </p:txBody>
      </p:sp>
      <p:sp>
        <p:nvSpPr>
          <p:cNvPr id="3" name="2 Marcador de contenido"/>
          <p:cNvSpPr>
            <a:spLocks noGrp="1"/>
          </p:cNvSpPr>
          <p:nvPr>
            <p:ph idx="1"/>
          </p:nvPr>
        </p:nvSpPr>
        <p:spPr/>
        <p:txBody>
          <a:bodyPr>
            <a:normAutofit/>
          </a:bodyPr>
          <a:lstStyle/>
          <a:p>
            <a:pPr algn="just"/>
            <a:r>
              <a:rPr lang="es-ES" sz="2400" dirty="0"/>
              <a:t>El desarrollo de Sistemas Críticos se ha centrado tradicionalmente en el análisis de los fallos</a:t>
            </a:r>
          </a:p>
          <a:p>
            <a:endParaRPr lang="es-ES" sz="2400" dirty="0"/>
          </a:p>
          <a:p>
            <a:endParaRPr lang="es-ES" sz="2400" dirty="0"/>
          </a:p>
          <a:p>
            <a:r>
              <a:rPr lang="es-ES" sz="2400" dirty="0"/>
              <a:t>Esta visión tradicional es simplista para los sistemas actuales</a:t>
            </a:r>
          </a:p>
          <a:p>
            <a:pPr lvl="1"/>
            <a:r>
              <a:rPr lang="es-ES" sz="2000" dirty="0"/>
              <a:t>Los sistemas son tan complejos que es imposible predecir todas las posible interacciones que pueden producir fallos</a:t>
            </a:r>
          </a:p>
          <a:p>
            <a:pPr lvl="1"/>
            <a:r>
              <a:rPr lang="es-ES" sz="2000" dirty="0"/>
              <a:t>En la mayoría de las ocasiones, ningún componente falla</a:t>
            </a:r>
          </a:p>
          <a:p>
            <a:pPr lvl="1"/>
            <a:r>
              <a:rPr lang="es-ES" sz="2000" dirty="0"/>
              <a:t>La seguridad es una </a:t>
            </a:r>
            <a:r>
              <a:rPr lang="es-ES" sz="2000" b="1" dirty="0">
                <a:solidFill>
                  <a:schemeClr val="accent2"/>
                </a:solidFill>
              </a:rPr>
              <a:t>propiedad emergente</a:t>
            </a:r>
          </a:p>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a:t>
            </a:fld>
            <a:endParaRPr lang="es-ES"/>
          </a:p>
        </p:txBody>
      </p:sp>
      <p:sp>
        <p:nvSpPr>
          <p:cNvPr id="5" name="5 CuadroTexto">
            <a:extLst>
              <a:ext uri="{FF2B5EF4-FFF2-40B4-BE49-F238E27FC236}">
                <a16:creationId xmlns:a16="http://schemas.microsoft.com/office/drawing/2014/main" id="{E28AEBEC-229B-C346-8868-E0E007A8C488}"/>
              </a:ext>
            </a:extLst>
          </p:cNvPr>
          <p:cNvSpPr txBox="1"/>
          <p:nvPr/>
        </p:nvSpPr>
        <p:spPr>
          <a:xfrm>
            <a:off x="3611724" y="2636912"/>
            <a:ext cx="4968552" cy="400110"/>
          </a:xfrm>
          <a:prstGeom prst="rect">
            <a:avLst/>
          </a:pr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lin ang="5400000" scaled="1"/>
            <a:tileRect/>
          </a:gradFill>
        </p:spPr>
        <p:txBody>
          <a:bodyPr wrap="square" rtlCol="0">
            <a:spAutoFit/>
          </a:bodyPr>
          <a:lstStyle/>
          <a:p>
            <a:r>
              <a:rPr lang="es-ES" sz="2000" dirty="0"/>
              <a:t>Análisis de la Seguridad ≠ Análisis de los Fallos</a:t>
            </a:r>
            <a:endParaRPr lang="es-E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Propiedades Emergentes</a:t>
            </a:r>
          </a:p>
        </p:txBody>
      </p:sp>
      <p:sp>
        <p:nvSpPr>
          <p:cNvPr id="3" name="2 Marcador de contenido"/>
          <p:cNvSpPr>
            <a:spLocks noGrp="1"/>
          </p:cNvSpPr>
          <p:nvPr>
            <p:ph idx="1"/>
          </p:nvPr>
        </p:nvSpPr>
        <p:spPr>
          <a:xfrm>
            <a:off x="839416" y="1450372"/>
            <a:ext cx="10513168" cy="5271104"/>
          </a:xfrm>
        </p:spPr>
        <p:txBody>
          <a:bodyPr>
            <a:noAutofit/>
          </a:bodyPr>
          <a:lstStyle/>
          <a:p>
            <a:r>
              <a:rPr lang="es-ES" sz="2400" dirty="0"/>
              <a:t>Son aquellas </a:t>
            </a:r>
            <a:r>
              <a:rPr lang="es-ES" sz="2400" dirty="0">
                <a:solidFill>
                  <a:schemeClr val="accent2"/>
                </a:solidFill>
              </a:rPr>
              <a:t>propiedades del sistema considerado como un todo</a:t>
            </a:r>
            <a:r>
              <a:rPr lang="es-ES" sz="2400" dirty="0"/>
              <a:t>, en lugar de como una colección de partes</a:t>
            </a:r>
          </a:p>
          <a:p>
            <a:r>
              <a:rPr lang="es-ES" sz="2400" dirty="0"/>
              <a:t>No están determinadas solo por las </a:t>
            </a:r>
            <a:r>
              <a:rPr lang="es-ES" sz="2400" dirty="0">
                <a:solidFill>
                  <a:schemeClr val="accent2"/>
                </a:solidFill>
              </a:rPr>
              <a:t>propiedades de </a:t>
            </a:r>
            <a:r>
              <a:rPr lang="es-ES" sz="2400" dirty="0"/>
              <a:t>las partes del sistema, sino también por </a:t>
            </a:r>
            <a:r>
              <a:rPr lang="es-ES" sz="2400" dirty="0">
                <a:solidFill>
                  <a:schemeClr val="accent2"/>
                </a:solidFill>
              </a:rPr>
              <a:t>la estructura </a:t>
            </a:r>
            <a:r>
              <a:rPr lang="es-ES" sz="2400" dirty="0"/>
              <a:t>del mismo</a:t>
            </a:r>
          </a:p>
          <a:p>
            <a:r>
              <a:rPr lang="es-ES" sz="2400" dirty="0"/>
              <a:t>Algunas propiedades emergentes son </a:t>
            </a:r>
            <a:r>
              <a:rPr lang="es-ES" sz="2400" dirty="0">
                <a:solidFill>
                  <a:schemeClr val="accent2"/>
                </a:solidFill>
              </a:rPr>
              <a:t>predecibles</a:t>
            </a:r>
            <a:r>
              <a:rPr lang="es-ES" sz="2400" dirty="0">
                <a:solidFill>
                  <a:srgbClr val="0070C0"/>
                </a:solidFill>
              </a:rPr>
              <a:t> </a:t>
            </a:r>
            <a:r>
              <a:rPr lang="es-ES" sz="2400" dirty="0"/>
              <a:t>(el sistema se construye para que las cumpla)</a:t>
            </a:r>
          </a:p>
          <a:p>
            <a:r>
              <a:rPr lang="es-ES" sz="2400" dirty="0"/>
              <a:t>Otras propiedades emergentes son </a:t>
            </a:r>
            <a:r>
              <a:rPr lang="es-ES" sz="2400" dirty="0">
                <a:solidFill>
                  <a:schemeClr val="accent2"/>
                </a:solidFill>
              </a:rPr>
              <a:t>conocidas</a:t>
            </a:r>
            <a:r>
              <a:rPr lang="es-ES" sz="2400" dirty="0"/>
              <a:t>, pero </a:t>
            </a:r>
            <a:r>
              <a:rPr lang="es-ES" sz="2400" dirty="0">
                <a:solidFill>
                  <a:schemeClr val="accent2"/>
                </a:solidFill>
              </a:rPr>
              <a:t>no predecibles </a:t>
            </a:r>
            <a:r>
              <a:rPr lang="es-ES" sz="2400" dirty="0"/>
              <a:t>(el móvil tiene la propiedad de  interferir en las comunicaciones de otros equipos, pero no sabemos en que contexto lo hará)</a:t>
            </a:r>
          </a:p>
          <a:p>
            <a:r>
              <a:rPr lang="es-ES" sz="2400" dirty="0"/>
              <a:t>Otras propiedades, simplemente son </a:t>
            </a:r>
            <a:r>
              <a:rPr lang="es-ES" sz="2400" dirty="0">
                <a:solidFill>
                  <a:schemeClr val="accent2"/>
                </a:solidFill>
              </a:rPr>
              <a:t>desconocidas</a:t>
            </a:r>
            <a:r>
              <a:rPr lang="es-ES" sz="2400" dirty="0"/>
              <a:t> (los diseñadores ni siquiera pensaron sobre ellas). Estas son las que causan más problemas.</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6</a:t>
            </a:fld>
            <a:endParaRPr lang="es-E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Propiedades Emergentes</a:t>
            </a:r>
          </a:p>
        </p:txBody>
      </p:sp>
      <p:sp>
        <p:nvSpPr>
          <p:cNvPr id="3" name="2 Marcador de contenido"/>
          <p:cNvSpPr>
            <a:spLocks noGrp="1"/>
          </p:cNvSpPr>
          <p:nvPr>
            <p:ph idx="1"/>
          </p:nvPr>
        </p:nvSpPr>
        <p:spPr/>
        <p:txBody>
          <a:bodyPr>
            <a:normAutofit fontScale="92500" lnSpcReduction="10000"/>
          </a:bodyPr>
          <a:lstStyle/>
          <a:p>
            <a:r>
              <a:rPr lang="es-ES" sz="2800" dirty="0"/>
              <a:t>Algunas propiedades emergentes son</a:t>
            </a:r>
          </a:p>
          <a:p>
            <a:pPr lvl="1"/>
            <a:r>
              <a:rPr lang="es-ES" sz="2400" dirty="0"/>
              <a:t>Rendimiento</a:t>
            </a:r>
          </a:p>
          <a:p>
            <a:pPr lvl="1"/>
            <a:r>
              <a:rPr lang="es-ES" sz="2400" dirty="0"/>
              <a:t>Fiabilidad</a:t>
            </a:r>
          </a:p>
          <a:p>
            <a:pPr lvl="1"/>
            <a:r>
              <a:rPr lang="es-ES" sz="2400" dirty="0"/>
              <a:t>Seguridad (safety)</a:t>
            </a:r>
          </a:p>
          <a:p>
            <a:pPr lvl="1"/>
            <a:r>
              <a:rPr lang="es-ES" sz="2400" dirty="0"/>
              <a:t>Seguridad (</a:t>
            </a:r>
            <a:r>
              <a:rPr lang="es-ES" sz="2400" dirty="0" err="1"/>
              <a:t>security</a:t>
            </a:r>
            <a:r>
              <a:rPr lang="es-ES" sz="2400" dirty="0"/>
              <a:t>)</a:t>
            </a:r>
          </a:p>
          <a:p>
            <a:pPr lvl="1"/>
            <a:r>
              <a:rPr lang="es-ES" sz="2400" dirty="0"/>
              <a:t>Usabilidad</a:t>
            </a:r>
          </a:p>
          <a:p>
            <a:pPr lvl="1"/>
            <a:r>
              <a:rPr lang="es-ES" sz="2400" dirty="0" err="1"/>
              <a:t>Mantenibilidad</a:t>
            </a:r>
            <a:endParaRPr lang="es-ES" sz="2400" dirty="0"/>
          </a:p>
          <a:p>
            <a:r>
              <a:rPr lang="es-ES" sz="2800" dirty="0"/>
              <a:t>Además son propiedades no funcionales (no se refieren a ninguna función específica del sistema)</a:t>
            </a:r>
          </a:p>
          <a:p>
            <a:r>
              <a:rPr lang="es-ES" sz="2800" dirty="0"/>
              <a:t>Algunas de estas propiedades son más importantes que la propia funcionalidad del sistema</a:t>
            </a:r>
          </a:p>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7</a:t>
            </a:fld>
            <a:endParaRPr lang="es-E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Modelos Causales</a:t>
            </a:r>
          </a:p>
        </p:txBody>
      </p:sp>
      <p:sp>
        <p:nvSpPr>
          <p:cNvPr id="3" name="2 Marcador de contenido"/>
          <p:cNvSpPr>
            <a:spLocks noGrp="1"/>
          </p:cNvSpPr>
          <p:nvPr>
            <p:ph idx="1"/>
          </p:nvPr>
        </p:nvSpPr>
        <p:spPr/>
        <p:txBody>
          <a:bodyPr>
            <a:normAutofit fontScale="85000" lnSpcReduction="20000"/>
          </a:bodyPr>
          <a:lstStyle/>
          <a:p>
            <a:r>
              <a:rPr lang="es-ES" sz="2800" dirty="0"/>
              <a:t>El concepto de seguridad en ingeniería está íntimamente ligado a los </a:t>
            </a:r>
            <a:r>
              <a:rPr lang="es-ES" sz="2800" dirty="0">
                <a:solidFill>
                  <a:schemeClr val="accent2"/>
                </a:solidFill>
              </a:rPr>
              <a:t>modelos causales </a:t>
            </a:r>
            <a:r>
              <a:rPr lang="es-ES" sz="2800" dirty="0"/>
              <a:t>utilizados en el </a:t>
            </a:r>
            <a:r>
              <a:rPr lang="es-ES" sz="2800" dirty="0">
                <a:solidFill>
                  <a:schemeClr val="accent2"/>
                </a:solidFill>
              </a:rPr>
              <a:t>análisis de los accidentes</a:t>
            </a:r>
          </a:p>
          <a:p>
            <a:r>
              <a:rPr lang="es-ES" sz="2800" dirty="0"/>
              <a:t>Estos modelos se basan en la suposición de que existen patrones comunes en los accidentes y que estos no son el resultado de meros eventos aleatorios</a:t>
            </a:r>
          </a:p>
          <a:p>
            <a:r>
              <a:rPr lang="es-ES" sz="2800" dirty="0"/>
              <a:t>Los modelos causales asumen que los accidentes son el resultado de una cadena (o árbol) de eventos de fallo y errores humanos.</a:t>
            </a:r>
          </a:p>
          <a:p>
            <a:pPr lvl="1"/>
            <a:r>
              <a:rPr lang="es-ES" sz="2400" dirty="0"/>
              <a:t>Las </a:t>
            </a:r>
            <a:r>
              <a:rPr lang="es-ES" sz="2400" dirty="0">
                <a:solidFill>
                  <a:schemeClr val="accent2"/>
                </a:solidFill>
              </a:rPr>
              <a:t>relaciones causales </a:t>
            </a:r>
            <a:r>
              <a:rPr lang="es-ES" sz="2400" dirty="0"/>
              <a:t>son directas y lineales </a:t>
            </a:r>
          </a:p>
          <a:p>
            <a:pPr lvl="1"/>
            <a:r>
              <a:rPr lang="es-ES" sz="2400" dirty="0"/>
              <a:t>La selección de los </a:t>
            </a:r>
            <a:r>
              <a:rPr lang="es-ES" sz="2500" dirty="0">
                <a:solidFill>
                  <a:schemeClr val="accent2"/>
                </a:solidFill>
              </a:rPr>
              <a:t>eventos que se incluyen en la cadena </a:t>
            </a:r>
            <a:r>
              <a:rPr lang="es-ES" sz="2400" dirty="0"/>
              <a:t>y cuando se considera que un determinado evento es una </a:t>
            </a:r>
            <a:r>
              <a:rPr lang="es-ES" sz="2400" b="1" dirty="0">
                <a:solidFill>
                  <a:schemeClr val="accent2"/>
                </a:solidFill>
              </a:rPr>
              <a:t>causa raíz</a:t>
            </a:r>
            <a:r>
              <a:rPr lang="es-ES" sz="2400" dirty="0">
                <a:solidFill>
                  <a:srgbClr val="0070C0"/>
                </a:solidFill>
              </a:rPr>
              <a:t> </a:t>
            </a:r>
            <a:r>
              <a:rPr lang="es-ES" sz="2400" dirty="0"/>
              <a:t>es normalmente subjetivo y obedece a aspectos tales como</a:t>
            </a:r>
          </a:p>
          <a:p>
            <a:pPr marL="1371600" lvl="2" indent="-457200">
              <a:buFont typeface="+mj-lt"/>
              <a:buAutoNum type="arabicPeriod"/>
            </a:pPr>
            <a:r>
              <a:rPr lang="es-ES" sz="2000" dirty="0"/>
              <a:t>Evento familiar y fácilmente aceptable como explicación del accidente</a:t>
            </a:r>
          </a:p>
          <a:p>
            <a:pPr marL="1371600" lvl="2" indent="-457200">
              <a:buFont typeface="+mj-lt"/>
              <a:buAutoNum type="arabicPeriod"/>
            </a:pPr>
            <a:r>
              <a:rPr lang="es-ES" sz="2000" dirty="0"/>
              <a:t>Desviación de un estándar</a:t>
            </a:r>
          </a:p>
          <a:p>
            <a:pPr marL="1371600" lvl="2" indent="-457200">
              <a:buFont typeface="+mj-lt"/>
              <a:buAutoNum type="arabicPeriod"/>
            </a:pPr>
            <a:r>
              <a:rPr lang="es-ES" sz="2000" dirty="0"/>
              <a:t>Es el primer evento para el que se conoce una acción correctiva</a:t>
            </a:r>
          </a:p>
          <a:p>
            <a:pPr marL="1371600" lvl="2" indent="-457200">
              <a:buFont typeface="+mj-lt"/>
              <a:buAutoNum type="arabicPeriod"/>
            </a:pPr>
            <a:r>
              <a:rPr lang="es-ES" sz="2000" dirty="0"/>
              <a:t>Es políticamente aceptable</a:t>
            </a:r>
          </a:p>
          <a:p>
            <a:pPr marL="1371600" lvl="2" indent="-457200">
              <a:buFont typeface="+mj-lt"/>
              <a:buAutoNum type="arabicPeriod"/>
            </a:pPr>
            <a:r>
              <a:rPr lang="es-ES" sz="2000" dirty="0"/>
              <a:t>No existe información suficiente para continuar en la cadena causal</a:t>
            </a:r>
          </a:p>
          <a:p>
            <a:endParaRPr lang="es-ES" sz="2800" dirty="0"/>
          </a:p>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8</a:t>
            </a:fld>
            <a:endParaRPr lang="es-E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Cadenas de Eventos Causales</a:t>
            </a:r>
          </a:p>
        </p:txBody>
      </p:sp>
      <p:sp>
        <p:nvSpPr>
          <p:cNvPr id="3" name="2 Marcador de contenido"/>
          <p:cNvSpPr>
            <a:spLocks noGrp="1"/>
          </p:cNvSpPr>
          <p:nvPr>
            <p:ph idx="1"/>
          </p:nvPr>
        </p:nvSpPr>
        <p:spPr/>
        <p:txBody>
          <a:bodyPr>
            <a:normAutofit/>
          </a:bodyPr>
          <a:lstStyle/>
          <a:p>
            <a:r>
              <a:rPr lang="en-US" sz="2400" dirty="0"/>
              <a:t>Los </a:t>
            </a:r>
            <a:r>
              <a:rPr lang="en-US" sz="2400" dirty="0" err="1"/>
              <a:t>eventos</a:t>
            </a:r>
            <a:r>
              <a:rPr lang="en-US" sz="2400" dirty="0"/>
              <a:t> </a:t>
            </a:r>
            <a:r>
              <a:rPr lang="en-US" sz="2400" dirty="0" err="1"/>
              <a:t>que</a:t>
            </a:r>
            <a:r>
              <a:rPr lang="en-US" sz="2400" dirty="0"/>
              <a:t> se </a:t>
            </a:r>
            <a:r>
              <a:rPr lang="en-US" sz="2400" dirty="0" err="1"/>
              <a:t>consideran</a:t>
            </a:r>
            <a:r>
              <a:rPr lang="en-US" sz="2400" dirty="0"/>
              <a:t> </a:t>
            </a:r>
            <a:r>
              <a:rPr lang="en-US" sz="2400" dirty="0" err="1"/>
              <a:t>casi</a:t>
            </a:r>
            <a:r>
              <a:rPr lang="en-US" sz="2400" dirty="0"/>
              <a:t> </a:t>
            </a:r>
            <a:r>
              <a:rPr lang="en-US" sz="2400" dirty="0" err="1"/>
              <a:t>siempre</a:t>
            </a:r>
            <a:r>
              <a:rPr lang="en-US" sz="2400" dirty="0"/>
              <a:t> son </a:t>
            </a:r>
            <a:r>
              <a:rPr lang="en-US" sz="2400" dirty="0" err="1">
                <a:solidFill>
                  <a:schemeClr val="accent2"/>
                </a:solidFill>
              </a:rPr>
              <a:t>fallos</a:t>
            </a:r>
            <a:r>
              <a:rPr lang="en-US" sz="2400" dirty="0">
                <a:solidFill>
                  <a:schemeClr val="accent2"/>
                </a:solidFill>
              </a:rPr>
              <a:t> de </a:t>
            </a:r>
            <a:r>
              <a:rPr lang="en-US" sz="2400" dirty="0" err="1">
                <a:solidFill>
                  <a:schemeClr val="accent2"/>
                </a:solidFill>
              </a:rPr>
              <a:t>componentes</a:t>
            </a:r>
            <a:r>
              <a:rPr lang="en-US" sz="2400" dirty="0"/>
              <a:t>, </a:t>
            </a:r>
            <a:r>
              <a:rPr lang="en-US" sz="2400" dirty="0" err="1">
                <a:solidFill>
                  <a:schemeClr val="accent2"/>
                </a:solidFill>
              </a:rPr>
              <a:t>errores</a:t>
            </a:r>
            <a:r>
              <a:rPr lang="en-US" sz="2400" dirty="0">
                <a:solidFill>
                  <a:schemeClr val="accent2"/>
                </a:solidFill>
              </a:rPr>
              <a:t> </a:t>
            </a:r>
            <a:r>
              <a:rPr lang="en-US" sz="2400" dirty="0" err="1">
                <a:solidFill>
                  <a:schemeClr val="accent2"/>
                </a:solidFill>
              </a:rPr>
              <a:t>humanos</a:t>
            </a:r>
            <a:r>
              <a:rPr lang="en-US" sz="2400" dirty="0">
                <a:solidFill>
                  <a:schemeClr val="accent2"/>
                </a:solidFill>
              </a:rPr>
              <a:t> </a:t>
            </a:r>
            <a:r>
              <a:rPr lang="en-US" sz="2400" dirty="0"/>
              <a:t>o </a:t>
            </a:r>
            <a:r>
              <a:rPr lang="en-US" sz="2400" dirty="0" err="1"/>
              <a:t>eventos</a:t>
            </a:r>
            <a:r>
              <a:rPr lang="en-US" sz="2400" dirty="0"/>
              <a:t> </a:t>
            </a:r>
            <a:r>
              <a:rPr lang="en-US" sz="2400" dirty="0" err="1"/>
              <a:t>relacionados</a:t>
            </a:r>
            <a:r>
              <a:rPr lang="en-US" sz="2400" dirty="0"/>
              <a:t> con la </a:t>
            </a:r>
            <a:r>
              <a:rPr lang="en-US" sz="2400" dirty="0" err="1">
                <a:solidFill>
                  <a:schemeClr val="accent2"/>
                </a:solidFill>
              </a:rPr>
              <a:t>energía</a:t>
            </a:r>
            <a:endParaRPr lang="en-US" sz="2400" dirty="0">
              <a:solidFill>
                <a:schemeClr val="accent2"/>
              </a:solidFill>
            </a:endParaRPr>
          </a:p>
          <a:p>
            <a:pPr>
              <a:spcAft>
                <a:spcPct val="40000"/>
              </a:spcAft>
            </a:pPr>
            <a:r>
              <a:rPr lang="en-US" sz="2400" dirty="0"/>
              <a:t>Son la base de </a:t>
            </a:r>
            <a:r>
              <a:rPr lang="en-US" sz="2400" dirty="0" err="1"/>
              <a:t>de</a:t>
            </a:r>
            <a:r>
              <a:rPr lang="en-US" sz="2400" dirty="0"/>
              <a:t> la mayor parte de </a:t>
            </a:r>
            <a:r>
              <a:rPr lang="en-US" sz="2400" dirty="0" err="1"/>
              <a:t>las</a:t>
            </a:r>
            <a:r>
              <a:rPr lang="en-US" sz="2400" dirty="0"/>
              <a:t> </a:t>
            </a:r>
            <a:r>
              <a:rPr lang="en-US" sz="2400" dirty="0" err="1"/>
              <a:t>técnicas</a:t>
            </a:r>
            <a:r>
              <a:rPr lang="en-US" sz="2400" dirty="0"/>
              <a:t> de </a:t>
            </a:r>
            <a:r>
              <a:rPr lang="en-US" sz="2400" dirty="0" err="1"/>
              <a:t>análisis</a:t>
            </a:r>
            <a:r>
              <a:rPr lang="en-US" sz="2400" dirty="0"/>
              <a:t> y </a:t>
            </a:r>
          </a:p>
          <a:p>
            <a:pPr lvl="1"/>
            <a:r>
              <a:rPr lang="en-US" sz="2000" dirty="0"/>
              <a:t>FTA, PRA, FMEA, Event Trees, etc.</a:t>
            </a:r>
          </a:p>
          <a:p>
            <a:pPr>
              <a:buFontTx/>
              <a:buNone/>
            </a:pPr>
            <a:r>
              <a:rPr lang="en-US" sz="1800" dirty="0"/>
              <a:t>    </a:t>
            </a:r>
            <a:r>
              <a:rPr lang="en-US" sz="2400" dirty="0" err="1"/>
              <a:t>diseño</a:t>
            </a:r>
            <a:r>
              <a:rPr lang="en-US" sz="2400" dirty="0"/>
              <a:t>:</a:t>
            </a:r>
          </a:p>
          <a:p>
            <a:pPr lvl="1"/>
            <a:r>
              <a:rPr lang="en-US" sz="2000" dirty="0" err="1"/>
              <a:t>redundancia</a:t>
            </a:r>
            <a:r>
              <a:rPr lang="en-US" sz="2000" dirty="0"/>
              <a:t>, </a:t>
            </a:r>
            <a:r>
              <a:rPr lang="en-US" sz="2000" dirty="0" err="1"/>
              <a:t>márgenes</a:t>
            </a:r>
            <a:r>
              <a:rPr lang="en-US" sz="2000" dirty="0"/>
              <a:t> de </a:t>
            </a:r>
            <a:r>
              <a:rPr lang="en-US" sz="2000" dirty="0" err="1"/>
              <a:t>seguridad</a:t>
            </a:r>
            <a:r>
              <a:rPr lang="en-US" sz="2000" dirty="0"/>
              <a:t>, </a:t>
            </a:r>
            <a:r>
              <a:rPr lang="en-US" sz="2000" dirty="0" err="1"/>
              <a:t>sobrediseño</a:t>
            </a:r>
            <a:r>
              <a:rPr lang="en-US" sz="2000" dirty="0"/>
              <a:t>, ….</a:t>
            </a:r>
          </a:p>
          <a:p>
            <a:endParaRPr lang="es-ES" sz="2800" dirty="0">
              <a:solidFill>
                <a:schemeClr val="accent2"/>
              </a:solidFill>
            </a:endParaRPr>
          </a:p>
          <a:p>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9</a:t>
            </a:fld>
            <a:endParaRPr lang="es-ES"/>
          </a:p>
        </p:txBody>
      </p:sp>
      <mc:AlternateContent xmlns:mc="http://schemas.openxmlformats.org/markup-compatibility/2006" xmlns:p14="http://schemas.microsoft.com/office/powerpoint/2010/main">
        <mc:Choice Requires="p14">
          <p:contentPart p14:bwMode="auto" r:id="rId2">
            <p14:nvContentPartPr>
              <p14:cNvPr id="5" name="Entrada de lápiz 4">
                <a:extLst>
                  <a:ext uri="{FF2B5EF4-FFF2-40B4-BE49-F238E27FC236}">
                    <a16:creationId xmlns:a16="http://schemas.microsoft.com/office/drawing/2014/main" id="{E3BA631D-3516-DC40-9063-26514CFFC76D}"/>
                  </a:ext>
                </a:extLst>
              </p14:cNvPr>
              <p14:cNvContentPartPr/>
              <p14:nvPr/>
            </p14:nvContentPartPr>
            <p14:xfrm>
              <a:off x="2806320" y="6492960"/>
              <a:ext cx="35640" cy="49320"/>
            </p14:xfrm>
          </p:contentPart>
        </mc:Choice>
        <mc:Fallback xmlns="">
          <p:pic>
            <p:nvPicPr>
              <p:cNvPr id="5" name="Entrada de lápiz 4">
                <a:extLst>
                  <a:ext uri="{FF2B5EF4-FFF2-40B4-BE49-F238E27FC236}">
                    <a16:creationId xmlns:a16="http://schemas.microsoft.com/office/drawing/2014/main" id="{E3BA631D-3516-DC40-9063-26514CFFC76D}"/>
                  </a:ext>
                </a:extLst>
              </p:cNvPr>
              <p:cNvPicPr/>
              <p:nvPr/>
            </p:nvPicPr>
            <p:blipFill>
              <a:blip r:embed="rId3"/>
              <a:stretch>
                <a:fillRect/>
              </a:stretch>
            </p:blipFill>
            <p:spPr>
              <a:xfrm>
                <a:off x="2790480" y="6429600"/>
                <a:ext cx="66960" cy="17604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Ejemplo de Análisis Causal</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10</a:t>
            </a:fld>
            <a:endParaRPr lang="es-ES"/>
          </a:p>
        </p:txBody>
      </p:sp>
      <p:pic>
        <p:nvPicPr>
          <p:cNvPr id="6" name="Picture 3" descr="chain-exam"/>
          <p:cNvPicPr>
            <a:picLocks noChangeAspect="1" noChangeArrowheads="1"/>
          </p:cNvPicPr>
          <p:nvPr/>
        </p:nvPicPr>
        <p:blipFill>
          <a:blip r:embed="rId2" cstate="print"/>
          <a:srcRect l="3993" t="69260" r="8229"/>
          <a:stretch>
            <a:fillRect/>
          </a:stretch>
        </p:blipFill>
        <p:spPr bwMode="auto">
          <a:xfrm>
            <a:off x="1524001" y="1412776"/>
            <a:ext cx="9151749" cy="4536504"/>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Objetivos Análisis Causal</a:t>
            </a:r>
          </a:p>
        </p:txBody>
      </p:sp>
      <p:sp>
        <p:nvSpPr>
          <p:cNvPr id="3" name="2 Marcador de contenido"/>
          <p:cNvSpPr>
            <a:spLocks noGrp="1"/>
          </p:cNvSpPr>
          <p:nvPr>
            <p:ph idx="1"/>
          </p:nvPr>
        </p:nvSpPr>
        <p:spPr/>
        <p:txBody>
          <a:bodyPr>
            <a:normAutofit lnSpcReduction="10000"/>
          </a:bodyPr>
          <a:lstStyle/>
          <a:p>
            <a:r>
              <a:rPr lang="es-ES" sz="2800" dirty="0"/>
              <a:t>Existen dos objetivos en la investigación de un accidente:</a:t>
            </a:r>
          </a:p>
          <a:p>
            <a:pPr lvl="1"/>
            <a:r>
              <a:rPr lang="es-ES" dirty="0">
                <a:solidFill>
                  <a:schemeClr val="accent2"/>
                </a:solidFill>
              </a:rPr>
              <a:t>Asignar responsabilidades</a:t>
            </a:r>
          </a:p>
          <a:p>
            <a:pPr lvl="2"/>
            <a:r>
              <a:rPr lang="es-ES" dirty="0"/>
              <a:t>La responsabilidad o culpa no es un concepto de ingeniería</a:t>
            </a:r>
          </a:p>
          <a:p>
            <a:pPr lvl="2"/>
            <a:r>
              <a:rPr lang="es-ES" dirty="0"/>
              <a:t>Aunque lo existan razones objetivas para distinguir la contribución de uno o varios factores en el accidente, las compañías de seguros/abogados simplifican el análisis para establecer la culpabilidad, normalmente identificando lo que denominan </a:t>
            </a:r>
            <a:r>
              <a:rPr lang="es-ES" i="1" dirty="0">
                <a:solidFill>
                  <a:schemeClr val="accent2"/>
                </a:solidFill>
              </a:rPr>
              <a:t>causa próxima</a:t>
            </a:r>
          </a:p>
          <a:p>
            <a:pPr lvl="1"/>
            <a:r>
              <a:rPr lang="es-ES" dirty="0">
                <a:solidFill>
                  <a:schemeClr val="accent2"/>
                </a:solidFill>
              </a:rPr>
              <a:t>Entender por qué ocurrió para evitarlo en el futuro</a:t>
            </a:r>
          </a:p>
          <a:p>
            <a:pPr lvl="2"/>
            <a:r>
              <a:rPr lang="es-ES" dirty="0"/>
              <a:t>En este caso identificar al responsable probablemente no proporcione información suficiente de la causa (por ej. el caso de la interacción de un operario con el software)</a:t>
            </a:r>
          </a:p>
          <a:p>
            <a:pPr lvl="1">
              <a:buNone/>
            </a:pPr>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11</a:t>
            </a:fld>
            <a:endParaRPr lang="es-E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Seguridad y Análisis Causal</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12</a:t>
            </a:fld>
            <a:endParaRPr lang="es-ES"/>
          </a:p>
        </p:txBody>
      </p:sp>
      <p:pic>
        <p:nvPicPr>
          <p:cNvPr id="6" name="Picture 3" descr="reactor"/>
          <p:cNvPicPr>
            <a:picLocks noChangeAspect="1" noChangeArrowheads="1"/>
          </p:cNvPicPr>
          <p:nvPr/>
        </p:nvPicPr>
        <p:blipFill>
          <a:blip r:embed="rId2" cstate="print"/>
          <a:srcRect t="46556"/>
          <a:stretch>
            <a:fillRect/>
          </a:stretch>
        </p:blipFill>
        <p:spPr bwMode="auto">
          <a:xfrm>
            <a:off x="6600056" y="1321686"/>
            <a:ext cx="5591944" cy="5329128"/>
          </a:xfrm>
          <a:prstGeom prst="rect">
            <a:avLst/>
          </a:prstGeom>
          <a:noFill/>
        </p:spPr>
      </p:pic>
      <p:sp>
        <p:nvSpPr>
          <p:cNvPr id="3" name="2 Marcador de contenido">
            <a:extLst>
              <a:ext uri="{FF2B5EF4-FFF2-40B4-BE49-F238E27FC236}">
                <a16:creationId xmlns:a16="http://schemas.microsoft.com/office/drawing/2014/main" id="{BEB7878C-38BB-7660-8A0C-8F5004833DD9}"/>
              </a:ext>
            </a:extLst>
          </p:cNvPr>
          <p:cNvSpPr>
            <a:spLocks noGrp="1"/>
          </p:cNvSpPr>
          <p:nvPr>
            <p:ph idx="1"/>
          </p:nvPr>
        </p:nvSpPr>
        <p:spPr>
          <a:xfrm>
            <a:off x="-312712" y="1297860"/>
            <a:ext cx="6655606" cy="5569108"/>
          </a:xfrm>
        </p:spPr>
        <p:txBody>
          <a:bodyPr>
            <a:normAutofit fontScale="85000" lnSpcReduction="20000"/>
          </a:bodyPr>
          <a:lstStyle/>
          <a:p>
            <a:pPr lvl="1"/>
            <a:r>
              <a:rPr lang="es-ES" dirty="0"/>
              <a:t>El computador es el encargado de controlar el flujo del catalizador al reactor y el de agua al condensador para enfriar la reacción</a:t>
            </a:r>
          </a:p>
          <a:p>
            <a:pPr lvl="1"/>
            <a:r>
              <a:rPr lang="es-ES" dirty="0"/>
              <a:t>Hay sensores de entrada que alertan sobre posibles malfuncionamientos del sistema</a:t>
            </a:r>
          </a:p>
          <a:p>
            <a:pPr lvl="1"/>
            <a:r>
              <a:rPr lang="es-ES" dirty="0"/>
              <a:t>En los requisitos se establecía </a:t>
            </a:r>
            <a:r>
              <a:rPr lang="es-ES" dirty="0">
                <a:solidFill>
                  <a:schemeClr val="accent2"/>
                </a:solidFill>
              </a:rPr>
              <a:t>que en caso de fallo las variables de control se debían dejar como estaban </a:t>
            </a:r>
            <a:r>
              <a:rPr lang="es-ES" dirty="0"/>
              <a:t>y se debía hacer sonar una alarma.</a:t>
            </a:r>
          </a:p>
          <a:p>
            <a:pPr lvl="1"/>
            <a:r>
              <a:rPr lang="es-ES" dirty="0">
                <a:solidFill>
                  <a:schemeClr val="accent2"/>
                </a:solidFill>
              </a:rPr>
              <a:t>En el accidente, el catalizador acababa de ser añadido y el agua aún tenía un flujo bajo</a:t>
            </a:r>
          </a:p>
          <a:p>
            <a:pPr lvl="1"/>
            <a:r>
              <a:rPr lang="es-ES" dirty="0"/>
              <a:t>Un fallo del motor llevo al sistema al modo de “parada segura”</a:t>
            </a:r>
          </a:p>
          <a:p>
            <a:pPr lvl="1"/>
            <a:r>
              <a:rPr lang="es-ES" dirty="0"/>
              <a:t>El sistema se sobrecalentó y se abrió la válvula de seguridad, contaminando el entorno</a:t>
            </a:r>
          </a:p>
          <a:p>
            <a:pPr lvl="1"/>
            <a:r>
              <a:rPr lang="es-ES" b="1" dirty="0">
                <a:solidFill>
                  <a:schemeClr val="accent2"/>
                </a:solidFill>
              </a:rPr>
              <a:t>NO FALLÓ NINGÚN COMPONENTE</a:t>
            </a:r>
            <a:r>
              <a:rPr lang="es-ES" dirty="0"/>
              <a:t>, todos funcionaron según lo especificado</a:t>
            </a:r>
          </a:p>
          <a:p>
            <a:endParaRPr lang="es-E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767405-4BAE-2AEF-5747-00BD0964D49D}"/>
              </a:ext>
            </a:extLst>
          </p:cNvPr>
          <p:cNvSpPr>
            <a:spLocks noGrp="1"/>
          </p:cNvSpPr>
          <p:nvPr>
            <p:ph type="title"/>
          </p:nvPr>
        </p:nvSpPr>
        <p:spPr>
          <a:xfrm>
            <a:off x="-1371104" y="136524"/>
            <a:ext cx="10972800" cy="1143000"/>
          </a:xfrm>
        </p:spPr>
        <p:txBody>
          <a:bodyPr/>
          <a:lstStyle/>
          <a:p>
            <a:r>
              <a:rPr lang="es-ES" dirty="0">
                <a:solidFill>
                  <a:srgbClr val="0070C0"/>
                </a:solidFill>
              </a:rPr>
              <a:t>Safety I vs Safety II</a:t>
            </a:r>
            <a:endParaRPr lang="en-GB" dirty="0"/>
          </a:p>
        </p:txBody>
      </p:sp>
      <p:sp>
        <p:nvSpPr>
          <p:cNvPr id="3" name="Marcador de contenido 2">
            <a:extLst>
              <a:ext uri="{FF2B5EF4-FFF2-40B4-BE49-F238E27FC236}">
                <a16:creationId xmlns:a16="http://schemas.microsoft.com/office/drawing/2014/main" id="{05B87F44-75DD-7DB5-44D5-6FE44444373A}"/>
              </a:ext>
            </a:extLst>
          </p:cNvPr>
          <p:cNvSpPr>
            <a:spLocks noGrp="1"/>
          </p:cNvSpPr>
          <p:nvPr>
            <p:ph idx="1"/>
          </p:nvPr>
        </p:nvSpPr>
        <p:spPr>
          <a:xfrm>
            <a:off x="609600" y="1417639"/>
            <a:ext cx="6206480" cy="4708526"/>
          </a:xfrm>
        </p:spPr>
        <p:txBody>
          <a:bodyPr>
            <a:normAutofit fontScale="77500" lnSpcReduction="20000"/>
          </a:bodyPr>
          <a:lstStyle/>
          <a:p>
            <a:r>
              <a:rPr lang="en-GB" dirty="0"/>
              <a:t>En la </a:t>
            </a:r>
            <a:r>
              <a:rPr lang="en-GB" dirty="0" err="1"/>
              <a:t>aproximación</a:t>
            </a:r>
            <a:r>
              <a:rPr lang="en-GB" dirty="0"/>
              <a:t> </a:t>
            </a:r>
            <a:r>
              <a:rPr lang="en-GB" dirty="0" err="1"/>
              <a:t>más</a:t>
            </a:r>
            <a:r>
              <a:rPr lang="en-GB" dirty="0"/>
              <a:t> </a:t>
            </a:r>
            <a:r>
              <a:rPr lang="en-GB" dirty="0" err="1"/>
              <a:t>tradicional</a:t>
            </a:r>
            <a:r>
              <a:rPr lang="en-GB" dirty="0"/>
              <a:t> a la </a:t>
            </a:r>
            <a:r>
              <a:rPr lang="en-GB" dirty="0" err="1"/>
              <a:t>seguridad</a:t>
            </a:r>
            <a:r>
              <a:rPr lang="en-GB" dirty="0"/>
              <a:t> (Safety I) se </a:t>
            </a:r>
            <a:r>
              <a:rPr lang="en-GB" dirty="0" err="1"/>
              <a:t>supone</a:t>
            </a:r>
            <a:r>
              <a:rPr lang="en-GB" dirty="0"/>
              <a:t> que:</a:t>
            </a:r>
          </a:p>
          <a:p>
            <a:pPr lvl="1"/>
            <a:r>
              <a:rPr lang="en-GB" dirty="0"/>
              <a:t>Los </a:t>
            </a:r>
            <a:r>
              <a:rPr lang="en-GB" dirty="0" err="1"/>
              <a:t>sistemas</a:t>
            </a:r>
            <a:r>
              <a:rPr lang="en-GB" dirty="0"/>
              <a:t> </a:t>
            </a:r>
            <a:r>
              <a:rPr lang="en-GB" dirty="0" err="1"/>
              <a:t>pueden</a:t>
            </a:r>
            <a:r>
              <a:rPr lang="en-GB" dirty="0"/>
              <a:t> </a:t>
            </a:r>
            <a:r>
              <a:rPr lang="en-GB" dirty="0" err="1"/>
              <a:t>descomponerse</a:t>
            </a:r>
            <a:r>
              <a:rPr lang="en-GB" dirty="0"/>
              <a:t> </a:t>
            </a:r>
          </a:p>
          <a:p>
            <a:pPr lvl="1"/>
            <a:r>
              <a:rPr lang="en-GB" dirty="0"/>
              <a:t>Los </a:t>
            </a:r>
            <a:r>
              <a:rPr lang="en-GB" dirty="0" err="1"/>
              <a:t>componentes</a:t>
            </a:r>
            <a:r>
              <a:rPr lang="en-GB" dirty="0"/>
              <a:t> del </a:t>
            </a:r>
            <a:r>
              <a:rPr lang="en-GB" dirty="0" err="1"/>
              <a:t>sistema</a:t>
            </a:r>
            <a:r>
              <a:rPr lang="en-GB" dirty="0"/>
              <a:t> </a:t>
            </a:r>
            <a:r>
              <a:rPr lang="en-GB" dirty="0" err="1"/>
              <a:t>funcionaban</a:t>
            </a:r>
            <a:r>
              <a:rPr lang="en-GB" dirty="0"/>
              <a:t> de </a:t>
            </a:r>
            <a:r>
              <a:rPr lang="en-GB" dirty="0" err="1"/>
              <a:t>manera</a:t>
            </a:r>
            <a:r>
              <a:rPr lang="en-GB" dirty="0"/>
              <a:t> bimodal, </a:t>
            </a:r>
            <a:r>
              <a:rPr lang="en-GB" dirty="0" err="1"/>
              <a:t>ya</a:t>
            </a:r>
            <a:r>
              <a:rPr lang="en-GB" dirty="0"/>
              <a:t> </a:t>
            </a:r>
            <a:r>
              <a:rPr lang="en-GB" dirty="0" err="1"/>
              <a:t>fuera</a:t>
            </a:r>
            <a:r>
              <a:rPr lang="en-GB" dirty="0"/>
              <a:t> de </a:t>
            </a:r>
            <a:r>
              <a:rPr lang="en-GB" dirty="0" err="1"/>
              <a:t>manera</a:t>
            </a:r>
            <a:r>
              <a:rPr lang="en-GB" dirty="0"/>
              <a:t> </a:t>
            </a:r>
            <a:r>
              <a:rPr lang="en-GB" dirty="0" err="1"/>
              <a:t>correcta</a:t>
            </a:r>
            <a:r>
              <a:rPr lang="en-GB" dirty="0"/>
              <a:t> o </a:t>
            </a:r>
            <a:r>
              <a:rPr lang="en-GB" dirty="0" err="1"/>
              <a:t>incorrecta</a:t>
            </a:r>
            <a:endParaRPr lang="en-GB" dirty="0"/>
          </a:p>
          <a:p>
            <a:r>
              <a:rPr lang="en-GB" dirty="0" err="1"/>
              <a:t>Esto</a:t>
            </a:r>
            <a:r>
              <a:rPr lang="en-GB" dirty="0"/>
              <a:t> conduce a </a:t>
            </a:r>
            <a:r>
              <a:rPr lang="en-GB" dirty="0" err="1"/>
              <a:t>descripciones</a:t>
            </a:r>
            <a:r>
              <a:rPr lang="en-GB" dirty="0"/>
              <a:t> </a:t>
            </a:r>
            <a:r>
              <a:rPr lang="en-GB" dirty="0" err="1"/>
              <a:t>detalladas</a:t>
            </a:r>
            <a:r>
              <a:rPr lang="en-GB" dirty="0"/>
              <a:t> y </a:t>
            </a:r>
            <a:r>
              <a:rPr lang="en-GB" dirty="0" err="1"/>
              <a:t>estables</a:t>
            </a:r>
            <a:r>
              <a:rPr lang="en-GB" dirty="0"/>
              <a:t> del </a:t>
            </a:r>
            <a:r>
              <a:rPr lang="en-GB" dirty="0" err="1"/>
              <a:t>sistema</a:t>
            </a:r>
            <a:r>
              <a:rPr lang="en-GB" dirty="0"/>
              <a:t> que </a:t>
            </a:r>
            <a:r>
              <a:rPr lang="en-GB" dirty="0" err="1"/>
              <a:t>permiten</a:t>
            </a:r>
            <a:r>
              <a:rPr lang="en-GB" dirty="0"/>
              <a:t> la </a:t>
            </a:r>
            <a:r>
              <a:rPr lang="en-GB" dirty="0" err="1"/>
              <a:t>búsqueda</a:t>
            </a:r>
            <a:r>
              <a:rPr lang="en-GB" dirty="0"/>
              <a:t> de </a:t>
            </a:r>
            <a:r>
              <a:rPr lang="en-GB" dirty="0" err="1"/>
              <a:t>causas</a:t>
            </a:r>
            <a:r>
              <a:rPr lang="en-GB" dirty="0"/>
              <a:t> y </a:t>
            </a:r>
            <a:r>
              <a:rPr lang="en-GB" dirty="0" err="1"/>
              <a:t>soluciones</a:t>
            </a:r>
            <a:r>
              <a:rPr lang="en-GB" dirty="0"/>
              <a:t> para </a:t>
            </a:r>
            <a:r>
              <a:rPr lang="en-GB" dirty="0" err="1"/>
              <a:t>los</a:t>
            </a:r>
            <a:r>
              <a:rPr lang="en-GB" dirty="0"/>
              <a:t> </a:t>
            </a:r>
            <a:r>
              <a:rPr lang="en-GB" dirty="0" err="1"/>
              <a:t>fallos</a:t>
            </a:r>
            <a:r>
              <a:rPr lang="en-GB" dirty="0"/>
              <a:t> de </a:t>
            </a:r>
            <a:r>
              <a:rPr lang="en-GB" dirty="0" err="1"/>
              <a:t>funcionamiento</a:t>
            </a:r>
            <a:endParaRPr lang="en-GB" dirty="0"/>
          </a:p>
          <a:p>
            <a:r>
              <a:rPr lang="en-GB" dirty="0"/>
              <a:t>Pero </a:t>
            </a:r>
            <a:r>
              <a:rPr lang="en-GB" dirty="0" err="1"/>
              <a:t>estas</a:t>
            </a:r>
            <a:r>
              <a:rPr lang="en-GB" dirty="0"/>
              <a:t> </a:t>
            </a:r>
            <a:r>
              <a:rPr lang="en-GB" dirty="0" err="1"/>
              <a:t>suposiciones</a:t>
            </a:r>
            <a:r>
              <a:rPr lang="en-GB" dirty="0"/>
              <a:t> no se </a:t>
            </a:r>
            <a:r>
              <a:rPr lang="en-GB" dirty="0" err="1"/>
              <a:t>ajustan</a:t>
            </a:r>
            <a:r>
              <a:rPr lang="en-GB" dirty="0"/>
              <a:t> a la </a:t>
            </a:r>
            <a:r>
              <a:rPr lang="en-GB" dirty="0" err="1"/>
              <a:t>realidad</a:t>
            </a:r>
            <a:r>
              <a:rPr lang="en-GB" dirty="0"/>
              <a:t> actual:</a:t>
            </a:r>
          </a:p>
          <a:p>
            <a:pPr lvl="1"/>
            <a:r>
              <a:rPr lang="en-GB" dirty="0" err="1"/>
              <a:t>Sistemas</a:t>
            </a:r>
            <a:r>
              <a:rPr lang="en-GB" dirty="0"/>
              <a:t> socio-</a:t>
            </a:r>
            <a:r>
              <a:rPr lang="en-GB" dirty="0" err="1"/>
              <a:t>tecnológicos</a:t>
            </a:r>
            <a:r>
              <a:rPr lang="en-GB" dirty="0"/>
              <a:t> </a:t>
            </a:r>
            <a:r>
              <a:rPr lang="en-GB" dirty="0" err="1"/>
              <a:t>complejos</a:t>
            </a:r>
            <a:endParaRPr lang="en-GB" dirty="0"/>
          </a:p>
          <a:p>
            <a:pPr lvl="1"/>
            <a:r>
              <a:rPr lang="en-GB" dirty="0"/>
              <a:t>El </a:t>
            </a:r>
            <a:r>
              <a:rPr lang="en-GB" dirty="0" err="1"/>
              <a:t>funcionamiento</a:t>
            </a:r>
            <a:r>
              <a:rPr lang="en-GB" dirty="0"/>
              <a:t> “normal” no es bimodal</a:t>
            </a:r>
          </a:p>
          <a:p>
            <a:pPr lvl="1"/>
            <a:endParaRPr lang="en-GB" dirty="0"/>
          </a:p>
          <a:p>
            <a:pPr lvl="1"/>
            <a:endParaRPr lang="en-GB" dirty="0"/>
          </a:p>
          <a:p>
            <a:pPr lvl="1"/>
            <a:endParaRPr lang="en-GB" dirty="0"/>
          </a:p>
        </p:txBody>
      </p:sp>
      <p:sp>
        <p:nvSpPr>
          <p:cNvPr id="4" name="Marcador de número de diapositiva 3">
            <a:extLst>
              <a:ext uri="{FF2B5EF4-FFF2-40B4-BE49-F238E27FC236}">
                <a16:creationId xmlns:a16="http://schemas.microsoft.com/office/drawing/2014/main" id="{B31EBA92-8E70-166D-1041-201B0FED95B6}"/>
              </a:ext>
            </a:extLst>
          </p:cNvPr>
          <p:cNvSpPr>
            <a:spLocks noGrp="1"/>
          </p:cNvSpPr>
          <p:nvPr>
            <p:ph type="sldNum" sz="quarter" idx="12"/>
          </p:nvPr>
        </p:nvSpPr>
        <p:spPr/>
        <p:txBody>
          <a:bodyPr/>
          <a:lstStyle/>
          <a:p>
            <a:fld id="{132FADFE-3B8F-471C-ABF0-DBC7717ECBBC}" type="slidenum">
              <a:rPr lang="es-ES" smtClean="0"/>
              <a:pPr/>
              <a:t>13</a:t>
            </a:fld>
            <a:endParaRPr lang="es-ES"/>
          </a:p>
        </p:txBody>
      </p:sp>
      <p:pic>
        <p:nvPicPr>
          <p:cNvPr id="5" name="Imagen 4">
            <a:extLst>
              <a:ext uri="{FF2B5EF4-FFF2-40B4-BE49-F238E27FC236}">
                <a16:creationId xmlns:a16="http://schemas.microsoft.com/office/drawing/2014/main" id="{510A4937-28CE-2226-064E-810A6254F701}"/>
              </a:ext>
            </a:extLst>
          </p:cNvPr>
          <p:cNvPicPr>
            <a:picLocks noChangeAspect="1"/>
          </p:cNvPicPr>
          <p:nvPr/>
        </p:nvPicPr>
        <p:blipFill>
          <a:blip r:embed="rId2"/>
          <a:stretch>
            <a:fillRect/>
          </a:stretch>
        </p:blipFill>
        <p:spPr>
          <a:xfrm>
            <a:off x="7805434" y="454365"/>
            <a:ext cx="3803606" cy="2731161"/>
          </a:xfrm>
          <a:prstGeom prst="rect">
            <a:avLst/>
          </a:prstGeom>
        </p:spPr>
      </p:pic>
      <p:pic>
        <p:nvPicPr>
          <p:cNvPr id="6" name="Imagen 5">
            <a:extLst>
              <a:ext uri="{FF2B5EF4-FFF2-40B4-BE49-F238E27FC236}">
                <a16:creationId xmlns:a16="http://schemas.microsoft.com/office/drawing/2014/main" id="{BC94C362-2DAD-3D4A-A2D1-D696A5F2FBAD}"/>
              </a:ext>
            </a:extLst>
          </p:cNvPr>
          <p:cNvPicPr>
            <a:picLocks noChangeAspect="1"/>
          </p:cNvPicPr>
          <p:nvPr/>
        </p:nvPicPr>
        <p:blipFill>
          <a:blip r:embed="rId3"/>
          <a:stretch>
            <a:fillRect/>
          </a:stretch>
        </p:blipFill>
        <p:spPr>
          <a:xfrm>
            <a:off x="7805435" y="3197202"/>
            <a:ext cx="3772746" cy="3438217"/>
          </a:xfrm>
          <a:prstGeom prst="rect">
            <a:avLst/>
          </a:prstGeom>
        </p:spPr>
      </p:pic>
    </p:spTree>
    <p:extLst>
      <p:ext uri="{BB962C8B-B14F-4D97-AF65-F5344CB8AC3E}">
        <p14:creationId xmlns:p14="http://schemas.microsoft.com/office/powerpoint/2010/main" val="252498760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9A5DF5-C412-10B3-120C-3E7D3434677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7675B6A-73C2-C206-4AE3-06FE039A03D8}"/>
              </a:ext>
            </a:extLst>
          </p:cNvPr>
          <p:cNvSpPr>
            <a:spLocks noGrp="1"/>
          </p:cNvSpPr>
          <p:nvPr>
            <p:ph type="title"/>
          </p:nvPr>
        </p:nvSpPr>
        <p:spPr>
          <a:xfrm>
            <a:off x="428248" y="274639"/>
            <a:ext cx="10972800" cy="1143000"/>
          </a:xfrm>
        </p:spPr>
        <p:txBody>
          <a:bodyPr/>
          <a:lstStyle/>
          <a:p>
            <a:r>
              <a:rPr lang="es-ES" dirty="0">
                <a:solidFill>
                  <a:srgbClr val="0070C0"/>
                </a:solidFill>
              </a:rPr>
              <a:t>Safety I vs Safety II</a:t>
            </a:r>
            <a:endParaRPr lang="en-GB" dirty="0"/>
          </a:p>
        </p:txBody>
      </p:sp>
      <p:sp>
        <p:nvSpPr>
          <p:cNvPr id="3" name="Marcador de contenido 2">
            <a:extLst>
              <a:ext uri="{FF2B5EF4-FFF2-40B4-BE49-F238E27FC236}">
                <a16:creationId xmlns:a16="http://schemas.microsoft.com/office/drawing/2014/main" id="{FE198A12-00B3-FD35-E3C0-2D2E566337E6}"/>
              </a:ext>
            </a:extLst>
          </p:cNvPr>
          <p:cNvSpPr>
            <a:spLocks noGrp="1"/>
          </p:cNvSpPr>
          <p:nvPr>
            <p:ph idx="1"/>
          </p:nvPr>
        </p:nvSpPr>
        <p:spPr>
          <a:xfrm>
            <a:off x="609600" y="1417639"/>
            <a:ext cx="10814992" cy="4708526"/>
          </a:xfrm>
        </p:spPr>
        <p:txBody>
          <a:bodyPr>
            <a:normAutofit fontScale="92500"/>
          </a:bodyPr>
          <a:lstStyle/>
          <a:p>
            <a:r>
              <a:rPr lang="en-GB" dirty="0"/>
              <a:t>Como </a:t>
            </a:r>
            <a:r>
              <a:rPr lang="en-GB" dirty="0" err="1"/>
              <a:t>los</a:t>
            </a:r>
            <a:r>
              <a:rPr lang="en-GB" dirty="0"/>
              <a:t> </a:t>
            </a:r>
            <a:r>
              <a:rPr lang="en-GB" dirty="0" err="1"/>
              <a:t>sistemas</a:t>
            </a:r>
            <a:r>
              <a:rPr lang="en-GB" dirty="0"/>
              <a:t> </a:t>
            </a:r>
            <a:r>
              <a:rPr lang="en-GB" dirty="0" err="1"/>
              <a:t>actuales</a:t>
            </a:r>
            <a:r>
              <a:rPr lang="en-GB" dirty="0"/>
              <a:t> son </a:t>
            </a:r>
            <a:r>
              <a:rPr lang="en-GB" dirty="0" err="1"/>
              <a:t>cada</a:t>
            </a:r>
            <a:r>
              <a:rPr lang="en-GB" dirty="0"/>
              <a:t> </a:t>
            </a:r>
            <a:r>
              <a:rPr lang="en-GB" dirty="0" err="1"/>
              <a:t>vez</a:t>
            </a:r>
            <a:r>
              <a:rPr lang="en-GB" dirty="0"/>
              <a:t> </a:t>
            </a:r>
            <a:r>
              <a:rPr lang="en-GB" dirty="0" err="1"/>
              <a:t>más</a:t>
            </a:r>
            <a:r>
              <a:rPr lang="en-GB" dirty="0"/>
              <a:t> </a:t>
            </a:r>
            <a:r>
              <a:rPr lang="en-GB" dirty="0" err="1"/>
              <a:t>inmanejables</a:t>
            </a:r>
            <a:r>
              <a:rPr lang="en-GB" dirty="0"/>
              <a:t>, es </a:t>
            </a:r>
            <a:r>
              <a:rPr lang="en-GB" dirty="0" err="1"/>
              <a:t>imposible</a:t>
            </a:r>
            <a:r>
              <a:rPr lang="en-GB" dirty="0"/>
              <a:t> </a:t>
            </a:r>
            <a:r>
              <a:rPr lang="en-GB" dirty="0" err="1"/>
              <a:t>proporcionar</a:t>
            </a:r>
            <a:r>
              <a:rPr lang="en-GB" dirty="0"/>
              <a:t> </a:t>
            </a:r>
            <a:r>
              <a:rPr lang="en-GB" dirty="0" err="1"/>
              <a:t>una</a:t>
            </a:r>
            <a:r>
              <a:rPr lang="en-GB" dirty="0"/>
              <a:t> </a:t>
            </a:r>
            <a:r>
              <a:rPr lang="en-GB" dirty="0" err="1"/>
              <a:t>descripción</a:t>
            </a:r>
            <a:r>
              <a:rPr lang="en-GB" dirty="0"/>
              <a:t> </a:t>
            </a:r>
            <a:r>
              <a:rPr lang="en-GB" dirty="0" err="1"/>
              <a:t>completa</a:t>
            </a:r>
            <a:r>
              <a:rPr lang="en-GB" dirty="0"/>
              <a:t> de </a:t>
            </a:r>
            <a:r>
              <a:rPr lang="en-GB" dirty="0" err="1"/>
              <a:t>ellos</a:t>
            </a:r>
            <a:r>
              <a:rPr lang="en-GB" dirty="0"/>
              <a:t> </a:t>
            </a:r>
          </a:p>
          <a:p>
            <a:r>
              <a:rPr lang="en-GB" dirty="0"/>
              <a:t>Se </a:t>
            </a:r>
            <a:r>
              <a:rPr lang="en-GB" dirty="0" err="1"/>
              <a:t>requieren</a:t>
            </a:r>
            <a:r>
              <a:rPr lang="en-GB" dirty="0"/>
              <a:t> </a:t>
            </a:r>
            <a:r>
              <a:rPr lang="en-GB" dirty="0" err="1"/>
              <a:t>ciertos</a:t>
            </a:r>
            <a:r>
              <a:rPr lang="en-GB" dirty="0"/>
              <a:t> </a:t>
            </a:r>
            <a:r>
              <a:rPr lang="en-GB" dirty="0" err="1"/>
              <a:t>grados</a:t>
            </a:r>
            <a:r>
              <a:rPr lang="en-GB" dirty="0"/>
              <a:t> de </a:t>
            </a:r>
            <a:r>
              <a:rPr lang="en-GB" dirty="0" err="1"/>
              <a:t>variabilidad</a:t>
            </a:r>
            <a:r>
              <a:rPr lang="en-GB" dirty="0"/>
              <a:t>, </a:t>
            </a:r>
            <a:r>
              <a:rPr lang="en-GB" dirty="0" err="1"/>
              <a:t>flexibilidad</a:t>
            </a:r>
            <a:r>
              <a:rPr lang="en-GB" dirty="0"/>
              <a:t> o </a:t>
            </a:r>
            <a:r>
              <a:rPr lang="en-GB" dirty="0" err="1"/>
              <a:t>adaptabilidad</a:t>
            </a:r>
            <a:r>
              <a:rPr lang="en-GB" dirty="0"/>
              <a:t> para que </a:t>
            </a:r>
            <a:r>
              <a:rPr lang="en-GB" dirty="0" err="1"/>
              <a:t>el</a:t>
            </a:r>
            <a:r>
              <a:rPr lang="en-GB" dirty="0"/>
              <a:t> </a:t>
            </a:r>
            <a:r>
              <a:rPr lang="en-GB" dirty="0" err="1"/>
              <a:t>sistema</a:t>
            </a:r>
            <a:r>
              <a:rPr lang="en-GB" dirty="0"/>
              <a:t> </a:t>
            </a:r>
            <a:r>
              <a:rPr lang="en-GB" dirty="0" err="1"/>
              <a:t>funcione</a:t>
            </a:r>
            <a:endParaRPr lang="en-GB" dirty="0"/>
          </a:p>
          <a:p>
            <a:r>
              <a:rPr lang="en-GB" dirty="0"/>
              <a:t>Los </a:t>
            </a:r>
            <a:r>
              <a:rPr lang="en-GB" dirty="0" err="1"/>
              <a:t>sistemas</a:t>
            </a:r>
            <a:r>
              <a:rPr lang="en-GB" dirty="0"/>
              <a:t> son </a:t>
            </a:r>
            <a:r>
              <a:rPr lang="en-GB" dirty="0" err="1"/>
              <a:t>seguros</a:t>
            </a:r>
            <a:r>
              <a:rPr lang="en-GB" dirty="0"/>
              <a:t> </a:t>
            </a:r>
            <a:r>
              <a:rPr lang="en-GB" dirty="0" err="1"/>
              <a:t>porque</a:t>
            </a:r>
            <a:r>
              <a:rPr lang="en-GB" dirty="0"/>
              <a:t> se </a:t>
            </a:r>
            <a:r>
              <a:rPr lang="en-GB" dirty="0" err="1"/>
              <a:t>pueden</a:t>
            </a:r>
            <a:r>
              <a:rPr lang="en-GB" dirty="0"/>
              <a:t> </a:t>
            </a:r>
            <a:r>
              <a:rPr lang="en-GB" dirty="0" err="1"/>
              <a:t>adaptar</a:t>
            </a:r>
            <a:r>
              <a:rPr lang="en-GB" dirty="0"/>
              <a:t> a </a:t>
            </a:r>
            <a:r>
              <a:rPr lang="en-GB" dirty="0" err="1"/>
              <a:t>condiciones</a:t>
            </a:r>
            <a:r>
              <a:rPr lang="en-GB" dirty="0"/>
              <a:t> </a:t>
            </a:r>
            <a:r>
              <a:rPr lang="en-GB" dirty="0" err="1"/>
              <a:t>cambiantes</a:t>
            </a:r>
            <a:endParaRPr lang="en-GB" dirty="0"/>
          </a:p>
          <a:p>
            <a:r>
              <a:rPr lang="en-GB" dirty="0"/>
              <a:t>En </a:t>
            </a:r>
            <a:r>
              <a:rPr lang="en-GB" dirty="0" err="1"/>
              <a:t>lugar</a:t>
            </a:r>
            <a:r>
              <a:rPr lang="en-GB" dirty="0"/>
              <a:t> de </a:t>
            </a:r>
            <a:r>
              <a:rPr lang="en-GB" dirty="0" err="1"/>
              <a:t>analizar</a:t>
            </a:r>
            <a:r>
              <a:rPr lang="en-GB" dirty="0"/>
              <a:t> </a:t>
            </a:r>
            <a:r>
              <a:rPr lang="en-GB" dirty="0" err="1"/>
              <a:t>únicamente</a:t>
            </a:r>
            <a:r>
              <a:rPr lang="en-GB" dirty="0"/>
              <a:t> </a:t>
            </a:r>
            <a:r>
              <a:rPr lang="en-GB" dirty="0" err="1"/>
              <a:t>los</a:t>
            </a:r>
            <a:r>
              <a:rPr lang="en-GB" dirty="0"/>
              <a:t> </a:t>
            </a:r>
            <a:r>
              <a:rPr lang="en-GB" dirty="0" err="1"/>
              <a:t>pocos</a:t>
            </a:r>
            <a:r>
              <a:rPr lang="en-GB" dirty="0"/>
              <a:t> </a:t>
            </a:r>
            <a:r>
              <a:rPr lang="en-GB" dirty="0" err="1"/>
              <a:t>casos</a:t>
            </a:r>
            <a:r>
              <a:rPr lang="en-GB" dirty="0"/>
              <a:t> </a:t>
            </a:r>
            <a:r>
              <a:rPr lang="en-GB" dirty="0" err="1"/>
              <a:t>en</a:t>
            </a:r>
            <a:r>
              <a:rPr lang="en-GB" dirty="0"/>
              <a:t> </a:t>
            </a:r>
            <a:r>
              <a:rPr lang="en-GB" dirty="0" err="1"/>
              <a:t>los</a:t>
            </a:r>
            <a:r>
              <a:rPr lang="en-GB" dirty="0"/>
              <a:t> que las </a:t>
            </a:r>
            <a:r>
              <a:rPr lang="en-GB" dirty="0" err="1"/>
              <a:t>cosas</a:t>
            </a:r>
            <a:r>
              <a:rPr lang="en-GB" dirty="0"/>
              <a:t> </a:t>
            </a:r>
            <a:r>
              <a:rPr lang="en-GB" dirty="0" err="1"/>
              <a:t>salen</a:t>
            </a:r>
            <a:r>
              <a:rPr lang="en-GB" dirty="0"/>
              <a:t> mal, </a:t>
            </a:r>
            <a:r>
              <a:rPr lang="en-GB" dirty="0" err="1"/>
              <a:t>deberíamos</a:t>
            </a:r>
            <a:r>
              <a:rPr lang="en-GB" dirty="0"/>
              <a:t> </a:t>
            </a:r>
            <a:r>
              <a:rPr lang="en-GB" dirty="0" err="1"/>
              <a:t>analizar</a:t>
            </a:r>
            <a:r>
              <a:rPr lang="en-GB" dirty="0"/>
              <a:t> </a:t>
            </a:r>
            <a:r>
              <a:rPr lang="en-GB" dirty="0" err="1"/>
              <a:t>los</a:t>
            </a:r>
            <a:r>
              <a:rPr lang="en-GB" dirty="0"/>
              <a:t> </a:t>
            </a:r>
            <a:r>
              <a:rPr lang="en-GB" dirty="0" err="1"/>
              <a:t>numerosos</a:t>
            </a:r>
            <a:r>
              <a:rPr lang="en-GB" dirty="0"/>
              <a:t> </a:t>
            </a:r>
            <a:r>
              <a:rPr lang="en-GB" dirty="0" err="1"/>
              <a:t>casos</a:t>
            </a:r>
            <a:r>
              <a:rPr lang="en-GB" dirty="0"/>
              <a:t> </a:t>
            </a:r>
            <a:r>
              <a:rPr lang="en-GB" dirty="0" err="1"/>
              <a:t>en</a:t>
            </a:r>
            <a:r>
              <a:rPr lang="en-GB" dirty="0"/>
              <a:t> </a:t>
            </a:r>
            <a:r>
              <a:rPr lang="en-GB" dirty="0" err="1"/>
              <a:t>los</a:t>
            </a:r>
            <a:r>
              <a:rPr lang="en-GB" dirty="0"/>
              <a:t> que las </a:t>
            </a:r>
            <a:r>
              <a:rPr lang="en-GB" dirty="0" err="1"/>
              <a:t>cosas</a:t>
            </a:r>
            <a:r>
              <a:rPr lang="en-GB" dirty="0"/>
              <a:t> </a:t>
            </a:r>
            <a:r>
              <a:rPr lang="en-GB" dirty="0" err="1"/>
              <a:t>salen</a:t>
            </a:r>
            <a:r>
              <a:rPr lang="en-GB" dirty="0"/>
              <a:t> bien e </a:t>
            </a:r>
            <a:r>
              <a:rPr lang="en-GB" dirty="0" err="1"/>
              <a:t>intentar</a:t>
            </a:r>
            <a:r>
              <a:rPr lang="en-GB" dirty="0"/>
              <a:t> </a:t>
            </a:r>
            <a:r>
              <a:rPr lang="en-GB" dirty="0" err="1"/>
              <a:t>comprender</a:t>
            </a:r>
            <a:r>
              <a:rPr lang="en-GB" dirty="0"/>
              <a:t> </a:t>
            </a:r>
            <a:r>
              <a:rPr lang="en-GB" dirty="0" err="1"/>
              <a:t>cómo</a:t>
            </a:r>
            <a:r>
              <a:rPr lang="en-GB" dirty="0"/>
              <a:t> </a:t>
            </a:r>
            <a:r>
              <a:rPr lang="en-GB" dirty="0" err="1"/>
              <a:t>sucede</a:t>
            </a:r>
            <a:r>
              <a:rPr lang="en-GB" dirty="0"/>
              <a:t> </a:t>
            </a:r>
            <a:r>
              <a:rPr lang="en-GB" dirty="0" err="1"/>
              <a:t>eso</a:t>
            </a:r>
            <a:endParaRPr lang="en-GB" dirty="0"/>
          </a:p>
          <a:p>
            <a:pPr lvl="1"/>
            <a:endParaRPr lang="en-GB" dirty="0"/>
          </a:p>
        </p:txBody>
      </p:sp>
      <p:sp>
        <p:nvSpPr>
          <p:cNvPr id="4" name="Marcador de número de diapositiva 3">
            <a:extLst>
              <a:ext uri="{FF2B5EF4-FFF2-40B4-BE49-F238E27FC236}">
                <a16:creationId xmlns:a16="http://schemas.microsoft.com/office/drawing/2014/main" id="{5A572535-30C0-15B0-B767-8370878BC032}"/>
              </a:ext>
            </a:extLst>
          </p:cNvPr>
          <p:cNvSpPr>
            <a:spLocks noGrp="1"/>
          </p:cNvSpPr>
          <p:nvPr>
            <p:ph type="sldNum" sz="quarter" idx="12"/>
          </p:nvPr>
        </p:nvSpPr>
        <p:spPr/>
        <p:txBody>
          <a:bodyPr/>
          <a:lstStyle/>
          <a:p>
            <a:fld id="{132FADFE-3B8F-471C-ABF0-DBC7717ECBBC}" type="slidenum">
              <a:rPr lang="es-ES" smtClean="0"/>
              <a:pPr/>
              <a:t>14</a:t>
            </a:fld>
            <a:endParaRPr lang="es-ES"/>
          </a:p>
        </p:txBody>
      </p:sp>
    </p:spTree>
    <p:extLst>
      <p:ext uri="{BB962C8B-B14F-4D97-AF65-F5344CB8AC3E}">
        <p14:creationId xmlns:p14="http://schemas.microsoft.com/office/powerpoint/2010/main" val="39487299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ECD8BE-9772-5CAB-814D-D492F6DAC3EE}"/>
            </a:ext>
          </a:extLst>
        </p:cNvPr>
        <p:cNvGrpSpPr/>
        <p:nvPr/>
      </p:nvGrpSpPr>
      <p:grpSpPr>
        <a:xfrm>
          <a:off x="0" y="0"/>
          <a:ext cx="0" cy="0"/>
          <a:chOff x="0" y="0"/>
          <a:chExt cx="0" cy="0"/>
        </a:xfrm>
      </p:grpSpPr>
      <p:sp useBgFill="1">
        <p:nvSpPr>
          <p:cNvPr id="11" name="Rectangle 12">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Imagen 7">
            <a:extLst>
              <a:ext uri="{FF2B5EF4-FFF2-40B4-BE49-F238E27FC236}">
                <a16:creationId xmlns:a16="http://schemas.microsoft.com/office/drawing/2014/main" id="{1F470E66-B264-012F-6108-0E6E7D63278E}"/>
              </a:ext>
            </a:extLst>
          </p:cNvPr>
          <p:cNvPicPr>
            <a:picLocks noChangeAspect="1"/>
          </p:cNvPicPr>
          <p:nvPr/>
        </p:nvPicPr>
        <p:blipFill>
          <a:blip r:embed="rId2"/>
          <a:stretch>
            <a:fillRect/>
          </a:stretch>
        </p:blipFill>
        <p:spPr>
          <a:xfrm>
            <a:off x="181234" y="2498761"/>
            <a:ext cx="5828261" cy="3671803"/>
          </a:xfrm>
          <a:prstGeom prst="rect">
            <a:avLst/>
          </a:prstGeom>
        </p:spPr>
      </p:pic>
      <p:pic>
        <p:nvPicPr>
          <p:cNvPr id="7" name="Imagen 6">
            <a:extLst>
              <a:ext uri="{FF2B5EF4-FFF2-40B4-BE49-F238E27FC236}">
                <a16:creationId xmlns:a16="http://schemas.microsoft.com/office/drawing/2014/main" id="{D5F2B7F5-F8FF-702D-4813-7E3B53C11678}"/>
              </a:ext>
            </a:extLst>
          </p:cNvPr>
          <p:cNvPicPr>
            <a:picLocks noChangeAspect="1"/>
          </p:cNvPicPr>
          <p:nvPr/>
        </p:nvPicPr>
        <p:blipFill>
          <a:blip r:embed="rId3"/>
          <a:stretch>
            <a:fillRect/>
          </a:stretch>
        </p:blipFill>
        <p:spPr>
          <a:xfrm>
            <a:off x="6182505" y="2877598"/>
            <a:ext cx="5828261" cy="2914129"/>
          </a:xfrm>
          <a:prstGeom prst="rect">
            <a:avLst/>
          </a:prstGeom>
        </p:spPr>
      </p:pic>
      <p:sp>
        <p:nvSpPr>
          <p:cNvPr id="4" name="Marcador de número de diapositiva 3">
            <a:extLst>
              <a:ext uri="{FF2B5EF4-FFF2-40B4-BE49-F238E27FC236}">
                <a16:creationId xmlns:a16="http://schemas.microsoft.com/office/drawing/2014/main" id="{40260A54-4DE2-B606-1426-AC0FEA78657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132FADFE-3B8F-471C-ABF0-DBC7717ECBBC}" type="slidenum">
              <a:rPr lang="en-US" smtClean="0"/>
              <a:pPr>
                <a:spcAft>
                  <a:spcPts val="600"/>
                </a:spcAft>
              </a:pPr>
              <a:t>15</a:t>
            </a:fld>
            <a:endParaRPr lang="en-US"/>
          </a:p>
        </p:txBody>
      </p:sp>
      <p:sp>
        <p:nvSpPr>
          <p:cNvPr id="18" name="Título 1">
            <a:extLst>
              <a:ext uri="{FF2B5EF4-FFF2-40B4-BE49-F238E27FC236}">
                <a16:creationId xmlns:a16="http://schemas.microsoft.com/office/drawing/2014/main" id="{9AC1E529-BF19-561A-AE26-1FAA0BA3A05B}"/>
              </a:ext>
            </a:extLst>
          </p:cNvPr>
          <p:cNvSpPr>
            <a:spLocks noGrp="1"/>
          </p:cNvSpPr>
          <p:nvPr>
            <p:ph type="title"/>
          </p:nvPr>
        </p:nvSpPr>
        <p:spPr>
          <a:xfrm>
            <a:off x="428248" y="274639"/>
            <a:ext cx="10972800" cy="1143000"/>
          </a:xfrm>
        </p:spPr>
        <p:txBody>
          <a:bodyPr/>
          <a:lstStyle/>
          <a:p>
            <a:r>
              <a:rPr lang="es-ES" dirty="0">
                <a:solidFill>
                  <a:srgbClr val="0070C0"/>
                </a:solidFill>
              </a:rPr>
              <a:t>Safety I vs Safety II</a:t>
            </a:r>
            <a:endParaRPr lang="en-GB" dirty="0"/>
          </a:p>
        </p:txBody>
      </p:sp>
    </p:spTree>
    <p:extLst>
      <p:ext uri="{BB962C8B-B14F-4D97-AF65-F5344CB8AC3E}">
        <p14:creationId xmlns:p14="http://schemas.microsoft.com/office/powerpoint/2010/main" val="29520217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5351DA-EE90-4DA5-0750-25A2AF0DE8E7}"/>
              </a:ext>
            </a:extLst>
          </p:cNvPr>
          <p:cNvSpPr>
            <a:spLocks noGrp="1"/>
          </p:cNvSpPr>
          <p:nvPr>
            <p:ph type="title"/>
          </p:nvPr>
        </p:nvSpPr>
        <p:spPr/>
        <p:txBody>
          <a:bodyPr/>
          <a:lstStyle/>
          <a:p>
            <a:r>
              <a:rPr lang="es-ES" dirty="0">
                <a:solidFill>
                  <a:srgbClr val="0070C0"/>
                </a:solidFill>
              </a:rPr>
              <a:t>Safety I vs Safety II</a:t>
            </a:r>
            <a:endParaRPr lang="en-GB" dirty="0"/>
          </a:p>
        </p:txBody>
      </p:sp>
      <p:sp>
        <p:nvSpPr>
          <p:cNvPr id="3" name="Marcador de contenido 2">
            <a:extLst>
              <a:ext uri="{FF2B5EF4-FFF2-40B4-BE49-F238E27FC236}">
                <a16:creationId xmlns:a16="http://schemas.microsoft.com/office/drawing/2014/main" id="{A74D435D-563A-CF42-9067-E56AEF363151}"/>
              </a:ext>
            </a:extLst>
          </p:cNvPr>
          <p:cNvSpPr>
            <a:spLocks noGrp="1"/>
          </p:cNvSpPr>
          <p:nvPr>
            <p:ph idx="1"/>
          </p:nvPr>
        </p:nvSpPr>
        <p:spPr>
          <a:xfrm>
            <a:off x="609600" y="1600201"/>
            <a:ext cx="10972800" cy="5121275"/>
          </a:xfrm>
        </p:spPr>
        <p:txBody>
          <a:bodyPr>
            <a:normAutofit fontScale="92500" lnSpcReduction="20000"/>
          </a:bodyPr>
          <a:lstStyle/>
          <a:p>
            <a:r>
              <a:rPr lang="en-GB" dirty="0"/>
              <a:t>Las </a:t>
            </a:r>
            <a:r>
              <a:rPr lang="en-GB" dirty="0" err="1"/>
              <a:t>prioridades</a:t>
            </a:r>
            <a:r>
              <a:rPr lang="en-GB" dirty="0"/>
              <a:t> de la </a:t>
            </a:r>
            <a:r>
              <a:rPr lang="en-GB" dirty="0" err="1"/>
              <a:t>gestión</a:t>
            </a:r>
            <a:r>
              <a:rPr lang="en-GB" dirty="0"/>
              <a:t> de la </a:t>
            </a:r>
            <a:r>
              <a:rPr lang="en-GB" dirty="0" err="1"/>
              <a:t>seguridad</a:t>
            </a:r>
            <a:r>
              <a:rPr lang="en-GB" dirty="0"/>
              <a:t> </a:t>
            </a:r>
            <a:r>
              <a:rPr lang="en-GB" dirty="0" err="1"/>
              <a:t>deben</a:t>
            </a:r>
            <a:r>
              <a:rPr lang="en-GB" dirty="0"/>
              <a:t> </a:t>
            </a:r>
            <a:r>
              <a:rPr lang="en-GB" dirty="0" err="1"/>
              <a:t>cambiar</a:t>
            </a:r>
            <a:endParaRPr lang="en-GB" dirty="0"/>
          </a:p>
          <a:p>
            <a:pPr lvl="1"/>
            <a:r>
              <a:rPr lang="en-GB" dirty="0"/>
              <a:t>En </a:t>
            </a:r>
            <a:r>
              <a:rPr lang="en-GB" dirty="0" err="1"/>
              <a:t>lugar</a:t>
            </a:r>
            <a:r>
              <a:rPr lang="en-GB" dirty="0"/>
              <a:t> de </a:t>
            </a:r>
            <a:r>
              <a:rPr lang="en-GB" dirty="0" err="1"/>
              <a:t>realizar</a:t>
            </a:r>
            <a:r>
              <a:rPr lang="en-GB" dirty="0"/>
              <a:t> </a:t>
            </a:r>
            <a:r>
              <a:rPr lang="en-GB" dirty="0" err="1"/>
              <a:t>investigaciones</a:t>
            </a:r>
            <a:r>
              <a:rPr lang="en-GB" dirty="0"/>
              <a:t> </a:t>
            </a:r>
            <a:r>
              <a:rPr lang="en-GB" dirty="0" err="1"/>
              <a:t>después</a:t>
            </a:r>
            <a:r>
              <a:rPr lang="en-GB" dirty="0"/>
              <a:t> del </a:t>
            </a:r>
            <a:r>
              <a:rPr lang="en-GB" dirty="0" err="1"/>
              <a:t>evento</a:t>
            </a:r>
            <a:r>
              <a:rPr lang="en-GB" dirty="0"/>
              <a:t> o </a:t>
            </a:r>
            <a:r>
              <a:rPr lang="en-GB" dirty="0" err="1"/>
              <a:t>esforzarse</a:t>
            </a:r>
            <a:r>
              <a:rPr lang="en-GB" dirty="0"/>
              <a:t> </a:t>
            </a:r>
            <a:r>
              <a:rPr lang="en-GB" dirty="0" err="1"/>
              <a:t>por</a:t>
            </a:r>
            <a:r>
              <a:rPr lang="en-GB" dirty="0"/>
              <a:t> </a:t>
            </a:r>
            <a:r>
              <a:rPr lang="en-GB" dirty="0" err="1"/>
              <a:t>reducir</a:t>
            </a:r>
            <a:r>
              <a:rPr lang="en-GB" dirty="0"/>
              <a:t> </a:t>
            </a:r>
            <a:r>
              <a:rPr lang="en-GB" dirty="0" err="1"/>
              <a:t>los</a:t>
            </a:r>
            <a:r>
              <a:rPr lang="en-GB" dirty="0"/>
              <a:t> </a:t>
            </a:r>
            <a:r>
              <a:rPr lang="en-GB" dirty="0" err="1"/>
              <a:t>resultados</a:t>
            </a:r>
            <a:r>
              <a:rPr lang="en-GB" dirty="0"/>
              <a:t> </a:t>
            </a:r>
            <a:r>
              <a:rPr lang="en-GB" dirty="0" err="1"/>
              <a:t>adversos</a:t>
            </a:r>
            <a:r>
              <a:rPr lang="en-GB" dirty="0"/>
              <a:t>, la </a:t>
            </a:r>
            <a:r>
              <a:rPr lang="en-GB" dirty="0" err="1"/>
              <a:t>gestión</a:t>
            </a:r>
            <a:r>
              <a:rPr lang="en-GB" dirty="0"/>
              <a:t> de la </a:t>
            </a:r>
            <a:r>
              <a:rPr lang="en-GB" dirty="0" err="1"/>
              <a:t>seguridad</a:t>
            </a:r>
            <a:r>
              <a:rPr lang="en-GB" dirty="0"/>
              <a:t>, </a:t>
            </a:r>
            <a:r>
              <a:rPr lang="en-GB" dirty="0" err="1"/>
              <a:t>analizar</a:t>
            </a:r>
            <a:r>
              <a:rPr lang="en-GB" dirty="0"/>
              <a:t> </a:t>
            </a:r>
            <a:r>
              <a:rPr lang="en-GB" dirty="0" err="1"/>
              <a:t>los</a:t>
            </a:r>
            <a:r>
              <a:rPr lang="en-GB" dirty="0"/>
              <a:t> </a:t>
            </a:r>
            <a:r>
              <a:rPr lang="en-GB" dirty="0" err="1"/>
              <a:t>eventos</a:t>
            </a:r>
            <a:r>
              <a:rPr lang="en-GB" dirty="0"/>
              <a:t> que </a:t>
            </a:r>
            <a:r>
              <a:rPr lang="en-GB" dirty="0" err="1"/>
              <a:t>salen</a:t>
            </a:r>
            <a:r>
              <a:rPr lang="en-GB" dirty="0"/>
              <a:t> bien y </a:t>
            </a:r>
            <a:r>
              <a:rPr lang="en-GB" dirty="0" err="1"/>
              <a:t>tratar</a:t>
            </a:r>
            <a:r>
              <a:rPr lang="en-GB" dirty="0"/>
              <a:t> de </a:t>
            </a:r>
            <a:r>
              <a:rPr lang="en-GB" dirty="0" err="1"/>
              <a:t>aprender</a:t>
            </a:r>
            <a:r>
              <a:rPr lang="en-GB" dirty="0"/>
              <a:t> de </a:t>
            </a:r>
            <a:r>
              <a:rPr lang="en-GB" dirty="0" err="1"/>
              <a:t>ellos</a:t>
            </a:r>
            <a:endParaRPr lang="en-GB" dirty="0"/>
          </a:p>
          <a:p>
            <a:pPr lvl="1"/>
            <a:r>
              <a:rPr lang="en-GB" dirty="0"/>
              <a:t>En </a:t>
            </a:r>
            <a:r>
              <a:rPr lang="en-GB" dirty="0" err="1"/>
              <a:t>lugar</a:t>
            </a:r>
            <a:r>
              <a:rPr lang="en-GB" dirty="0"/>
              <a:t> de </a:t>
            </a:r>
            <a:r>
              <a:rPr lang="en-GB" dirty="0" err="1"/>
              <a:t>aprender</a:t>
            </a:r>
            <a:r>
              <a:rPr lang="en-GB" dirty="0"/>
              <a:t> de </a:t>
            </a:r>
            <a:r>
              <a:rPr lang="en-GB" dirty="0" err="1"/>
              <a:t>los</a:t>
            </a:r>
            <a:r>
              <a:rPr lang="en-GB" dirty="0"/>
              <a:t> </a:t>
            </a:r>
            <a:r>
              <a:rPr lang="en-GB" dirty="0" err="1"/>
              <a:t>eventos</a:t>
            </a:r>
            <a:r>
              <a:rPr lang="en-GB" dirty="0"/>
              <a:t> </a:t>
            </a:r>
            <a:r>
              <a:rPr lang="en-GB" dirty="0" err="1"/>
              <a:t>en</a:t>
            </a:r>
            <a:r>
              <a:rPr lang="en-GB" dirty="0"/>
              <a:t> </a:t>
            </a:r>
            <a:r>
              <a:rPr lang="en-GB" dirty="0" err="1"/>
              <a:t>función</a:t>
            </a:r>
            <a:r>
              <a:rPr lang="en-GB" dirty="0"/>
              <a:t> de </a:t>
            </a:r>
            <a:r>
              <a:rPr lang="en-GB" dirty="0" err="1"/>
              <a:t>su</a:t>
            </a:r>
            <a:r>
              <a:rPr lang="en-GB" dirty="0"/>
              <a:t> </a:t>
            </a:r>
            <a:r>
              <a:rPr lang="en-GB" dirty="0" err="1"/>
              <a:t>gravedad</a:t>
            </a:r>
            <a:r>
              <a:rPr lang="en-GB" dirty="0"/>
              <a:t>, las personas </a:t>
            </a:r>
            <a:r>
              <a:rPr lang="en-GB" dirty="0" err="1"/>
              <a:t>deberían</a:t>
            </a:r>
            <a:r>
              <a:rPr lang="en-GB" dirty="0"/>
              <a:t> </a:t>
            </a:r>
            <a:r>
              <a:rPr lang="en-GB" dirty="0" err="1"/>
              <a:t>tratar</a:t>
            </a:r>
            <a:r>
              <a:rPr lang="en-GB" dirty="0"/>
              <a:t> de </a:t>
            </a:r>
            <a:r>
              <a:rPr lang="en-GB" dirty="0" err="1"/>
              <a:t>aprender</a:t>
            </a:r>
            <a:r>
              <a:rPr lang="en-GB" dirty="0"/>
              <a:t> de </a:t>
            </a:r>
            <a:r>
              <a:rPr lang="en-GB" dirty="0" err="1"/>
              <a:t>los</a:t>
            </a:r>
            <a:r>
              <a:rPr lang="en-GB" dirty="0"/>
              <a:t> </a:t>
            </a:r>
            <a:r>
              <a:rPr lang="en-GB" dirty="0" err="1"/>
              <a:t>eventos</a:t>
            </a:r>
            <a:r>
              <a:rPr lang="en-GB" dirty="0"/>
              <a:t> </a:t>
            </a:r>
            <a:r>
              <a:rPr lang="en-GB" dirty="0" err="1"/>
              <a:t>en</a:t>
            </a:r>
            <a:r>
              <a:rPr lang="en-GB" dirty="0"/>
              <a:t> </a:t>
            </a:r>
            <a:r>
              <a:rPr lang="en-GB" dirty="0" err="1"/>
              <a:t>función</a:t>
            </a:r>
            <a:r>
              <a:rPr lang="en-GB" dirty="0"/>
              <a:t> de </a:t>
            </a:r>
            <a:r>
              <a:rPr lang="en-GB" dirty="0" err="1"/>
              <a:t>su</a:t>
            </a:r>
            <a:r>
              <a:rPr lang="en-GB" dirty="0"/>
              <a:t> </a:t>
            </a:r>
            <a:r>
              <a:rPr lang="en-GB" dirty="0" err="1"/>
              <a:t>frecuencia</a:t>
            </a:r>
            <a:endParaRPr lang="en-GB" dirty="0"/>
          </a:p>
          <a:p>
            <a:pPr lvl="1"/>
            <a:r>
              <a:rPr lang="en-GB" dirty="0"/>
              <a:t>Y </a:t>
            </a:r>
            <a:r>
              <a:rPr lang="en-GB" dirty="0" err="1"/>
              <a:t>en</a:t>
            </a:r>
            <a:r>
              <a:rPr lang="en-GB" dirty="0"/>
              <a:t> </a:t>
            </a:r>
            <a:r>
              <a:rPr lang="en-GB" dirty="0" err="1"/>
              <a:t>lugar</a:t>
            </a:r>
            <a:r>
              <a:rPr lang="en-GB" dirty="0"/>
              <a:t> de </a:t>
            </a:r>
            <a:r>
              <a:rPr lang="en-GB" dirty="0" err="1"/>
              <a:t>analizar</a:t>
            </a:r>
            <a:r>
              <a:rPr lang="en-GB" dirty="0"/>
              <a:t> </a:t>
            </a:r>
            <a:r>
              <a:rPr lang="en-GB" dirty="0" err="1"/>
              <a:t>en</a:t>
            </a:r>
            <a:r>
              <a:rPr lang="en-GB" dirty="0"/>
              <a:t> </a:t>
            </a:r>
            <a:r>
              <a:rPr lang="en-GB" dirty="0" err="1"/>
              <a:t>profundidad</a:t>
            </a:r>
            <a:r>
              <a:rPr lang="en-GB" dirty="0"/>
              <a:t> </a:t>
            </a:r>
            <a:r>
              <a:rPr lang="en-GB" dirty="0" err="1"/>
              <a:t>los</a:t>
            </a:r>
            <a:r>
              <a:rPr lang="en-GB" dirty="0"/>
              <a:t> </a:t>
            </a:r>
            <a:r>
              <a:rPr lang="en-GB" dirty="0" err="1"/>
              <a:t>eventos</a:t>
            </a:r>
            <a:r>
              <a:rPr lang="en-GB" dirty="0"/>
              <a:t> graves </a:t>
            </a:r>
            <a:r>
              <a:rPr lang="en-GB" dirty="0" err="1"/>
              <a:t>individuales</a:t>
            </a:r>
            <a:r>
              <a:rPr lang="en-GB" dirty="0"/>
              <a:t>, las personas </a:t>
            </a:r>
            <a:r>
              <a:rPr lang="en-GB" dirty="0" err="1"/>
              <a:t>deberían</a:t>
            </a:r>
            <a:r>
              <a:rPr lang="en-GB" dirty="0"/>
              <a:t> </a:t>
            </a:r>
            <a:r>
              <a:rPr lang="en-GB" dirty="0" err="1"/>
              <a:t>explorar</a:t>
            </a:r>
            <a:r>
              <a:rPr lang="en-GB" dirty="0"/>
              <a:t> la </a:t>
            </a:r>
            <a:r>
              <a:rPr lang="en-GB" dirty="0" err="1"/>
              <a:t>regularidad</a:t>
            </a:r>
            <a:r>
              <a:rPr lang="en-GB" dirty="0"/>
              <a:t> de </a:t>
            </a:r>
            <a:r>
              <a:rPr lang="en-GB" dirty="0" err="1"/>
              <a:t>los</a:t>
            </a:r>
            <a:r>
              <a:rPr lang="en-GB" dirty="0"/>
              <a:t> </a:t>
            </a:r>
            <a:r>
              <a:rPr lang="en-GB" dirty="0" err="1"/>
              <a:t>muchos</a:t>
            </a:r>
            <a:r>
              <a:rPr lang="en-GB" dirty="0"/>
              <a:t> </a:t>
            </a:r>
            <a:r>
              <a:rPr lang="en-GB" dirty="0" err="1"/>
              <a:t>eventos</a:t>
            </a:r>
            <a:r>
              <a:rPr lang="en-GB" dirty="0"/>
              <a:t> </a:t>
            </a:r>
            <a:r>
              <a:rPr lang="en-GB" dirty="0" err="1"/>
              <a:t>frecuentes</a:t>
            </a:r>
            <a:r>
              <a:rPr lang="en-GB" dirty="0"/>
              <a:t> </a:t>
            </a:r>
            <a:r>
              <a:rPr lang="en-GB" dirty="0" err="1"/>
              <a:t>en</a:t>
            </a:r>
            <a:r>
              <a:rPr lang="en-GB" dirty="0"/>
              <a:t> general, para </a:t>
            </a:r>
            <a:r>
              <a:rPr lang="en-GB" dirty="0" err="1"/>
              <a:t>comprender</a:t>
            </a:r>
            <a:r>
              <a:rPr lang="en-GB" dirty="0"/>
              <a:t> </a:t>
            </a:r>
            <a:r>
              <a:rPr lang="en-GB" dirty="0" err="1"/>
              <a:t>los</a:t>
            </a:r>
            <a:r>
              <a:rPr lang="en-GB" dirty="0"/>
              <a:t> </a:t>
            </a:r>
            <a:r>
              <a:rPr lang="en-GB" dirty="0" err="1"/>
              <a:t>patrones</a:t>
            </a:r>
            <a:r>
              <a:rPr lang="en-GB" dirty="0"/>
              <a:t> </a:t>
            </a:r>
            <a:r>
              <a:rPr lang="en-GB" dirty="0" err="1"/>
              <a:t>en</a:t>
            </a:r>
            <a:r>
              <a:rPr lang="en-GB" dirty="0"/>
              <a:t> </a:t>
            </a:r>
            <a:r>
              <a:rPr lang="en-GB" dirty="0" err="1"/>
              <a:t>el</a:t>
            </a:r>
            <a:r>
              <a:rPr lang="en-GB" dirty="0"/>
              <a:t> </a:t>
            </a:r>
            <a:r>
              <a:rPr lang="en-GB" dirty="0" err="1"/>
              <a:t>rendimiento</a:t>
            </a:r>
            <a:r>
              <a:rPr lang="en-GB" dirty="0"/>
              <a:t> del Sistema</a:t>
            </a:r>
          </a:p>
          <a:p>
            <a:pPr lvl="1"/>
            <a:r>
              <a:rPr lang="en-GB" dirty="0"/>
              <a:t>Una </a:t>
            </a:r>
            <a:r>
              <a:rPr lang="en-GB" dirty="0" err="1"/>
              <a:t>buena</a:t>
            </a:r>
            <a:r>
              <a:rPr lang="en-GB" dirty="0"/>
              <a:t> forma de </a:t>
            </a:r>
            <a:r>
              <a:rPr lang="en-GB" dirty="0" err="1"/>
              <a:t>comenzar</a:t>
            </a:r>
            <a:r>
              <a:rPr lang="en-GB" dirty="0"/>
              <a:t> </a:t>
            </a:r>
            <a:r>
              <a:rPr lang="en-GB" dirty="0" err="1"/>
              <a:t>sería</a:t>
            </a:r>
            <a:r>
              <a:rPr lang="en-GB" dirty="0"/>
              <a:t> </a:t>
            </a:r>
            <a:r>
              <a:rPr lang="en-GB" dirty="0" err="1"/>
              <a:t>reducir</a:t>
            </a:r>
            <a:r>
              <a:rPr lang="en-GB" dirty="0"/>
              <a:t> la </a:t>
            </a:r>
            <a:r>
              <a:rPr lang="en-GB" dirty="0" err="1"/>
              <a:t>dependencia</a:t>
            </a:r>
            <a:r>
              <a:rPr lang="en-GB" dirty="0"/>
              <a:t> del "error </a:t>
            </a:r>
            <a:r>
              <a:rPr lang="en-GB" dirty="0" err="1"/>
              <a:t>humano</a:t>
            </a:r>
            <a:r>
              <a:rPr lang="en-GB" dirty="0"/>
              <a:t>" </a:t>
            </a:r>
            <a:r>
              <a:rPr lang="en-GB" dirty="0" err="1"/>
              <a:t>como</a:t>
            </a:r>
            <a:r>
              <a:rPr lang="en-GB" dirty="0"/>
              <a:t> causa </a:t>
            </a:r>
            <a:r>
              <a:rPr lang="en-GB" dirty="0" err="1"/>
              <a:t>casi</a:t>
            </a:r>
            <a:r>
              <a:rPr lang="en-GB" dirty="0"/>
              <a:t> universal de </a:t>
            </a:r>
            <a:r>
              <a:rPr lang="en-GB" dirty="0" err="1"/>
              <a:t>los</a:t>
            </a:r>
            <a:r>
              <a:rPr lang="en-GB" dirty="0"/>
              <a:t> </a:t>
            </a:r>
            <a:r>
              <a:rPr lang="en-GB" dirty="0" err="1"/>
              <a:t>incidentes</a:t>
            </a:r>
            <a:r>
              <a:rPr lang="en-GB" dirty="0"/>
              <a:t> y, </a:t>
            </a:r>
            <a:r>
              <a:rPr lang="en-GB" dirty="0" err="1"/>
              <a:t>en</a:t>
            </a:r>
            <a:r>
              <a:rPr lang="en-GB" dirty="0"/>
              <a:t> </a:t>
            </a:r>
            <a:r>
              <a:rPr lang="en-GB" dirty="0" err="1"/>
              <a:t>cambio</a:t>
            </a:r>
            <a:r>
              <a:rPr lang="en-GB" dirty="0"/>
              <a:t>, </a:t>
            </a:r>
            <a:r>
              <a:rPr lang="en-GB" dirty="0" err="1"/>
              <a:t>comprender</a:t>
            </a:r>
            <a:r>
              <a:rPr lang="en-GB" dirty="0"/>
              <a:t> la </a:t>
            </a:r>
            <a:r>
              <a:rPr lang="en-GB" dirty="0" err="1"/>
              <a:t>necesidad</a:t>
            </a:r>
            <a:r>
              <a:rPr lang="en-GB" dirty="0"/>
              <a:t> de la </a:t>
            </a:r>
            <a:r>
              <a:rPr lang="en-GB" dirty="0" err="1"/>
              <a:t>variabilidad</a:t>
            </a:r>
            <a:r>
              <a:rPr lang="en-GB" dirty="0"/>
              <a:t> del </a:t>
            </a:r>
            <a:r>
              <a:rPr lang="en-GB" dirty="0" err="1"/>
              <a:t>rendimiento</a:t>
            </a:r>
            <a:r>
              <a:rPr lang="en-GB" dirty="0"/>
              <a:t>.</a:t>
            </a:r>
          </a:p>
        </p:txBody>
      </p:sp>
      <p:sp>
        <p:nvSpPr>
          <p:cNvPr id="4" name="Marcador de número de diapositiva 3">
            <a:extLst>
              <a:ext uri="{FF2B5EF4-FFF2-40B4-BE49-F238E27FC236}">
                <a16:creationId xmlns:a16="http://schemas.microsoft.com/office/drawing/2014/main" id="{C81B2960-C5EF-607B-D7B7-4CA86A7F8212}"/>
              </a:ext>
            </a:extLst>
          </p:cNvPr>
          <p:cNvSpPr>
            <a:spLocks noGrp="1"/>
          </p:cNvSpPr>
          <p:nvPr>
            <p:ph type="sldNum" sz="quarter" idx="12"/>
          </p:nvPr>
        </p:nvSpPr>
        <p:spPr/>
        <p:txBody>
          <a:bodyPr/>
          <a:lstStyle/>
          <a:p>
            <a:fld id="{132FADFE-3B8F-471C-ABF0-DBC7717ECBBC}" type="slidenum">
              <a:rPr lang="es-ES" smtClean="0"/>
              <a:pPr/>
              <a:t>16</a:t>
            </a:fld>
            <a:endParaRPr lang="es-ES"/>
          </a:p>
        </p:txBody>
      </p:sp>
    </p:spTree>
    <p:extLst>
      <p:ext uri="{BB962C8B-B14F-4D97-AF65-F5344CB8AC3E}">
        <p14:creationId xmlns:p14="http://schemas.microsoft.com/office/powerpoint/2010/main" val="28290476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Más allá de los accidentes</a:t>
            </a:r>
            <a:br>
              <a:rPr lang="es-ES" sz="2800" dirty="0">
                <a:solidFill>
                  <a:srgbClr val="0070C0"/>
                </a:solidFill>
              </a:rPr>
            </a:br>
            <a:r>
              <a:rPr lang="es-ES" sz="2800" dirty="0">
                <a:solidFill>
                  <a:srgbClr val="0070C0"/>
                </a:solidFill>
              </a:rPr>
              <a:t>SOTIF: Safety of </a:t>
            </a:r>
            <a:r>
              <a:rPr lang="es-ES" sz="2800" dirty="0" err="1">
                <a:solidFill>
                  <a:srgbClr val="0070C0"/>
                </a:solidFill>
              </a:rPr>
              <a:t>the</a:t>
            </a:r>
            <a:r>
              <a:rPr lang="es-ES" sz="2800" dirty="0">
                <a:solidFill>
                  <a:srgbClr val="0070C0"/>
                </a:solidFill>
              </a:rPr>
              <a:t> </a:t>
            </a:r>
            <a:r>
              <a:rPr lang="es-ES" sz="2800" dirty="0" err="1">
                <a:solidFill>
                  <a:srgbClr val="0070C0"/>
                </a:solidFill>
              </a:rPr>
              <a:t>Intended</a:t>
            </a:r>
            <a:r>
              <a:rPr lang="es-ES" sz="2800" dirty="0">
                <a:solidFill>
                  <a:srgbClr val="0070C0"/>
                </a:solidFill>
              </a:rPr>
              <a:t> </a:t>
            </a:r>
            <a:r>
              <a:rPr lang="es-ES" sz="2800" dirty="0" err="1">
                <a:solidFill>
                  <a:srgbClr val="0070C0"/>
                </a:solidFill>
              </a:rPr>
              <a:t>Functionality</a:t>
            </a:r>
            <a:endParaRPr lang="es-ES" sz="2800" dirty="0">
              <a:solidFill>
                <a:srgbClr val="0070C0"/>
              </a:solidFill>
            </a:endParaRPr>
          </a:p>
        </p:txBody>
      </p:sp>
      <p:sp>
        <p:nvSpPr>
          <p:cNvPr id="3" name="2 Marcador de contenido"/>
          <p:cNvSpPr>
            <a:spLocks noGrp="1"/>
          </p:cNvSpPr>
          <p:nvPr>
            <p:ph idx="1"/>
          </p:nvPr>
        </p:nvSpPr>
        <p:spPr/>
        <p:txBody>
          <a:bodyPr>
            <a:normAutofit/>
          </a:bodyPr>
          <a:lstStyle/>
          <a:p>
            <a:r>
              <a:rPr lang="es-ES" sz="2400" dirty="0"/>
              <a:t>El concepto surge en la industria de la automoción y hace referencia al correcto funcionamiento de los sistemas</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17</a:t>
            </a:fld>
            <a:endParaRPr lang="es-ES"/>
          </a:p>
        </p:txBody>
      </p:sp>
      <p:sp>
        <p:nvSpPr>
          <p:cNvPr id="5" name="object 24"/>
          <p:cNvSpPr txBox="1"/>
          <p:nvPr/>
        </p:nvSpPr>
        <p:spPr>
          <a:xfrm>
            <a:off x="8161731" y="2446459"/>
            <a:ext cx="801178" cy="248612"/>
          </a:xfrm>
          <a:prstGeom prst="rect">
            <a:avLst/>
          </a:prstGeom>
        </p:spPr>
        <p:txBody>
          <a:bodyPr vert="horz" wrap="square" lIns="0" tIns="0" rIns="0" bIns="0" rtlCol="0">
            <a:noAutofit/>
          </a:bodyPr>
          <a:lstStyle/>
          <a:p>
            <a:pPr marL="12700" marR="12700" indent="54610">
              <a:lnSpc>
                <a:spcPct val="102200"/>
              </a:lnSpc>
            </a:pPr>
            <a:endParaRPr dirty="0">
              <a:latin typeface="Arial"/>
              <a:cs typeface="Arial"/>
            </a:endParaRPr>
          </a:p>
        </p:txBody>
      </p:sp>
      <p:sp>
        <p:nvSpPr>
          <p:cNvPr id="11" name="object 34"/>
          <p:cNvSpPr txBox="1"/>
          <p:nvPr/>
        </p:nvSpPr>
        <p:spPr>
          <a:xfrm>
            <a:off x="4354224" y="5630782"/>
            <a:ext cx="6120680" cy="486805"/>
          </a:xfrm>
          <a:prstGeom prst="rect">
            <a:avLst/>
          </a:prstGeom>
        </p:spPr>
        <p:txBody>
          <a:bodyPr vert="horz" wrap="square" lIns="0" tIns="0" rIns="0" bIns="0" rtlCol="0">
            <a:noAutofit/>
          </a:bodyPr>
          <a:lstStyle/>
          <a:p>
            <a:pPr marL="12700" marR="12700" algn="ctr">
              <a:lnSpc>
                <a:spcPts val="650"/>
              </a:lnSpc>
            </a:pPr>
            <a:r>
              <a:rPr lang="es-ES" spc="-10" dirty="0">
                <a:solidFill>
                  <a:srgbClr val="C7053F"/>
                </a:solidFill>
                <a:latin typeface="Arial"/>
                <a:cs typeface="Arial"/>
              </a:rPr>
              <a:t>Sistemas mecánicos mejorados </a:t>
            </a:r>
          </a:p>
          <a:p>
            <a:pPr marL="12700" marR="12700" algn="ctr">
              <a:lnSpc>
                <a:spcPts val="650"/>
              </a:lnSpc>
            </a:pPr>
            <a:endParaRPr lang="es-ES" spc="-10" dirty="0">
              <a:solidFill>
                <a:srgbClr val="C7053F"/>
              </a:solidFill>
              <a:latin typeface="Arial"/>
              <a:cs typeface="Arial"/>
            </a:endParaRPr>
          </a:p>
          <a:p>
            <a:pPr marL="12700" marR="12700" algn="ctr">
              <a:lnSpc>
                <a:spcPts val="650"/>
              </a:lnSpc>
            </a:pPr>
            <a:endParaRPr lang="es-ES" spc="-10" dirty="0">
              <a:solidFill>
                <a:srgbClr val="C7053F"/>
              </a:solidFill>
              <a:latin typeface="Arial"/>
              <a:cs typeface="Arial"/>
            </a:endParaRPr>
          </a:p>
          <a:p>
            <a:pPr marL="12700" marR="12700" algn="ctr">
              <a:lnSpc>
                <a:spcPts val="650"/>
              </a:lnSpc>
            </a:pPr>
            <a:r>
              <a:rPr lang="es-ES" spc="-10" dirty="0">
                <a:solidFill>
                  <a:srgbClr val="C7053F"/>
                </a:solidFill>
                <a:latin typeface="Arial"/>
                <a:cs typeface="Arial"/>
              </a:rPr>
              <a:t>(dirección frenos,…)</a:t>
            </a:r>
            <a:endParaRPr dirty="0">
              <a:latin typeface="Arial"/>
              <a:cs typeface="Arial"/>
            </a:endParaRPr>
          </a:p>
        </p:txBody>
      </p:sp>
      <p:grpSp>
        <p:nvGrpSpPr>
          <p:cNvPr id="14" name="Grupo 13">
            <a:extLst>
              <a:ext uri="{FF2B5EF4-FFF2-40B4-BE49-F238E27FC236}">
                <a16:creationId xmlns:a16="http://schemas.microsoft.com/office/drawing/2014/main" id="{419B42D0-1AD2-5A22-0263-A59215D25F93}"/>
              </a:ext>
            </a:extLst>
          </p:cNvPr>
          <p:cNvGrpSpPr/>
          <p:nvPr/>
        </p:nvGrpSpPr>
        <p:grpSpPr>
          <a:xfrm>
            <a:off x="2910628" y="2733843"/>
            <a:ext cx="5593576" cy="2910155"/>
            <a:chOff x="2910628" y="2733843"/>
            <a:chExt cx="5593576" cy="2910155"/>
          </a:xfrm>
        </p:grpSpPr>
        <p:sp>
          <p:nvSpPr>
            <p:cNvPr id="6" name="object 29"/>
            <p:cNvSpPr/>
            <p:nvPr/>
          </p:nvSpPr>
          <p:spPr>
            <a:xfrm>
              <a:off x="2910628" y="4461218"/>
              <a:ext cx="2355165" cy="855121"/>
            </a:xfrm>
            <a:prstGeom prst="rect">
              <a:avLst/>
            </a:prstGeom>
            <a:blipFill>
              <a:blip r:embed="rId2" cstate="print"/>
              <a:stretch>
                <a:fillRect/>
              </a:stretch>
            </a:blipFill>
          </p:spPr>
          <p:txBody>
            <a:bodyPr wrap="square" lIns="0" tIns="0" rIns="0" bIns="0" rtlCol="0">
              <a:noAutofit/>
            </a:bodyPr>
            <a:lstStyle/>
            <a:p>
              <a:endParaRPr/>
            </a:p>
          </p:txBody>
        </p:sp>
        <p:sp>
          <p:nvSpPr>
            <p:cNvPr id="7" name="object 30"/>
            <p:cNvSpPr/>
            <p:nvPr/>
          </p:nvSpPr>
          <p:spPr>
            <a:xfrm>
              <a:off x="3107042" y="2777141"/>
              <a:ext cx="1978028" cy="963365"/>
            </a:xfrm>
            <a:prstGeom prst="rect">
              <a:avLst/>
            </a:prstGeom>
            <a:blipFill>
              <a:blip r:embed="rId3" cstate="print"/>
              <a:stretch>
                <a:fillRect/>
              </a:stretch>
            </a:blipFill>
          </p:spPr>
          <p:txBody>
            <a:bodyPr wrap="square" lIns="0" tIns="0" rIns="0" bIns="0" rtlCol="0">
              <a:noAutofit/>
            </a:bodyPr>
            <a:lstStyle/>
            <a:p>
              <a:endParaRPr/>
            </a:p>
          </p:txBody>
        </p:sp>
        <p:sp>
          <p:nvSpPr>
            <p:cNvPr id="8" name="object 31"/>
            <p:cNvSpPr txBox="1"/>
            <p:nvPr/>
          </p:nvSpPr>
          <p:spPr>
            <a:xfrm>
              <a:off x="3171742" y="3758536"/>
              <a:ext cx="2289689" cy="209290"/>
            </a:xfrm>
            <a:prstGeom prst="rect">
              <a:avLst/>
            </a:prstGeom>
          </p:spPr>
          <p:txBody>
            <a:bodyPr vert="horz" wrap="square" lIns="0" tIns="0" rIns="0" bIns="0" rtlCol="0">
              <a:noAutofit/>
            </a:bodyPr>
            <a:lstStyle/>
            <a:p>
              <a:pPr marL="12700"/>
              <a:r>
                <a:rPr lang="es-ES" spc="5" dirty="0">
                  <a:solidFill>
                    <a:srgbClr val="C7053F"/>
                  </a:solidFill>
                  <a:latin typeface="Arial"/>
                  <a:cs typeface="Arial"/>
                </a:rPr>
                <a:t>Seguridad Activa</a:t>
              </a:r>
              <a:endParaRPr dirty="0">
                <a:latin typeface="Arial"/>
                <a:cs typeface="Arial"/>
              </a:endParaRPr>
            </a:p>
          </p:txBody>
        </p:sp>
        <p:sp>
          <p:nvSpPr>
            <p:cNvPr id="9" name="object 32"/>
            <p:cNvSpPr txBox="1"/>
            <p:nvPr/>
          </p:nvSpPr>
          <p:spPr>
            <a:xfrm>
              <a:off x="3400776" y="5477545"/>
              <a:ext cx="1684294" cy="166453"/>
            </a:xfrm>
            <a:prstGeom prst="rect">
              <a:avLst/>
            </a:prstGeom>
          </p:spPr>
          <p:txBody>
            <a:bodyPr vert="horz" wrap="square" lIns="0" tIns="0" rIns="0" bIns="0" rtlCol="0">
              <a:noAutofit/>
            </a:bodyPr>
            <a:lstStyle/>
            <a:p>
              <a:pPr marL="12700" algn="ctr"/>
              <a:r>
                <a:rPr lang="es-ES" spc="-35" dirty="0">
                  <a:solidFill>
                    <a:srgbClr val="C7053F"/>
                  </a:solidFill>
                  <a:latin typeface="Arial"/>
                  <a:cs typeface="Arial"/>
                </a:rPr>
                <a:t>Sistemas de Información</a:t>
              </a:r>
              <a:endParaRPr dirty="0">
                <a:latin typeface="Arial"/>
                <a:cs typeface="Arial"/>
              </a:endParaRPr>
            </a:p>
          </p:txBody>
        </p:sp>
        <p:sp>
          <p:nvSpPr>
            <p:cNvPr id="10" name="object 33"/>
            <p:cNvSpPr/>
            <p:nvPr/>
          </p:nvSpPr>
          <p:spPr>
            <a:xfrm>
              <a:off x="6195218" y="4410168"/>
              <a:ext cx="2308986" cy="990426"/>
            </a:xfrm>
            <a:prstGeom prst="rect">
              <a:avLst/>
            </a:prstGeom>
            <a:blipFill>
              <a:blip r:embed="rId4" cstate="print"/>
              <a:stretch>
                <a:fillRect/>
              </a:stretch>
            </a:blipFill>
          </p:spPr>
          <p:txBody>
            <a:bodyPr wrap="square" lIns="0" tIns="0" rIns="0" bIns="0" rtlCol="0">
              <a:noAutofit/>
            </a:bodyPr>
            <a:lstStyle/>
            <a:p>
              <a:endParaRPr/>
            </a:p>
          </p:txBody>
        </p:sp>
        <p:sp>
          <p:nvSpPr>
            <p:cNvPr id="12" name="object 35"/>
            <p:cNvSpPr/>
            <p:nvPr/>
          </p:nvSpPr>
          <p:spPr>
            <a:xfrm>
              <a:off x="6333757" y="2733843"/>
              <a:ext cx="2031909" cy="1006663"/>
            </a:xfrm>
            <a:prstGeom prst="rect">
              <a:avLst/>
            </a:prstGeom>
            <a:blipFill>
              <a:blip r:embed="rId5" cstate="print"/>
              <a:stretch>
                <a:fillRect/>
              </a:stretch>
            </a:blipFill>
          </p:spPr>
          <p:txBody>
            <a:bodyPr wrap="square" lIns="0" tIns="0" rIns="0" bIns="0" rtlCol="0">
              <a:noAutofit/>
            </a:bodyPr>
            <a:lstStyle/>
            <a:p>
              <a:endParaRPr/>
            </a:p>
          </p:txBody>
        </p:sp>
        <p:sp>
          <p:nvSpPr>
            <p:cNvPr id="13" name="object 36"/>
            <p:cNvSpPr txBox="1"/>
            <p:nvPr/>
          </p:nvSpPr>
          <p:spPr>
            <a:xfrm>
              <a:off x="6434039" y="3717247"/>
              <a:ext cx="1931627" cy="166453"/>
            </a:xfrm>
            <a:prstGeom prst="rect">
              <a:avLst/>
            </a:prstGeom>
          </p:spPr>
          <p:txBody>
            <a:bodyPr vert="horz" wrap="square" lIns="0" tIns="0" rIns="0" bIns="0" rtlCol="0">
              <a:noAutofit/>
            </a:bodyPr>
            <a:lstStyle/>
            <a:p>
              <a:pPr marL="12700"/>
              <a:r>
                <a:rPr lang="es-ES" spc="-10" dirty="0">
                  <a:solidFill>
                    <a:srgbClr val="C7053F"/>
                  </a:solidFill>
                  <a:latin typeface="Arial"/>
                  <a:cs typeface="Arial"/>
                </a:rPr>
                <a:t>Seguridad Pasiva</a:t>
              </a:r>
              <a:endParaRPr dirty="0">
                <a:latin typeface="Arial"/>
                <a:cs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Más allá de los accidentes</a:t>
            </a:r>
            <a:br>
              <a:rPr lang="es-ES" sz="2800" dirty="0">
                <a:solidFill>
                  <a:srgbClr val="0070C0"/>
                </a:solidFill>
              </a:rPr>
            </a:br>
            <a:r>
              <a:rPr lang="es-ES" sz="2800" dirty="0">
                <a:solidFill>
                  <a:srgbClr val="0070C0"/>
                </a:solidFill>
              </a:rPr>
              <a:t>SOTIF: Safety of </a:t>
            </a:r>
            <a:r>
              <a:rPr lang="es-ES" sz="2800" dirty="0" err="1">
                <a:solidFill>
                  <a:srgbClr val="0070C0"/>
                </a:solidFill>
              </a:rPr>
              <a:t>the</a:t>
            </a:r>
            <a:r>
              <a:rPr lang="es-ES" sz="2800" dirty="0">
                <a:solidFill>
                  <a:srgbClr val="0070C0"/>
                </a:solidFill>
              </a:rPr>
              <a:t> </a:t>
            </a:r>
            <a:r>
              <a:rPr lang="es-ES" sz="2800" dirty="0" err="1">
                <a:solidFill>
                  <a:srgbClr val="0070C0"/>
                </a:solidFill>
              </a:rPr>
              <a:t>Intended</a:t>
            </a:r>
            <a:r>
              <a:rPr lang="es-ES" sz="2800" dirty="0">
                <a:solidFill>
                  <a:srgbClr val="0070C0"/>
                </a:solidFill>
              </a:rPr>
              <a:t> </a:t>
            </a:r>
            <a:r>
              <a:rPr lang="es-ES" sz="2800" dirty="0" err="1">
                <a:solidFill>
                  <a:srgbClr val="0070C0"/>
                </a:solidFill>
              </a:rPr>
              <a:t>Functionality</a:t>
            </a:r>
            <a:endParaRPr lang="es-ES" sz="2800" dirty="0">
              <a:solidFill>
                <a:srgbClr val="0070C0"/>
              </a:solidFill>
            </a:endParaRPr>
          </a:p>
        </p:txBody>
      </p:sp>
      <p:sp>
        <p:nvSpPr>
          <p:cNvPr id="3" name="2 Marcador de contenido"/>
          <p:cNvSpPr>
            <a:spLocks noGrp="1"/>
          </p:cNvSpPr>
          <p:nvPr>
            <p:ph idx="1"/>
          </p:nvPr>
        </p:nvSpPr>
        <p:spPr>
          <a:xfrm>
            <a:off x="839416" y="1600200"/>
            <a:ext cx="10513168" cy="5121276"/>
          </a:xfrm>
        </p:spPr>
        <p:txBody>
          <a:bodyPr>
            <a:normAutofit/>
          </a:bodyPr>
          <a:lstStyle/>
          <a:p>
            <a:r>
              <a:rPr lang="es-ES" sz="2400" dirty="0"/>
              <a:t>Peligros obvios:</a:t>
            </a:r>
          </a:p>
          <a:p>
            <a:pPr lvl="1"/>
            <a:r>
              <a:rPr lang="es-ES" sz="2000" dirty="0"/>
              <a:t>Aceleración no intencionada</a:t>
            </a:r>
          </a:p>
          <a:p>
            <a:pPr lvl="1"/>
            <a:r>
              <a:rPr lang="es-ES" sz="2000" dirty="0"/>
              <a:t>Activación no intencionada del airbag</a:t>
            </a:r>
          </a:p>
          <a:p>
            <a:pPr lvl="1"/>
            <a:r>
              <a:rPr lang="es-ES" sz="2000" dirty="0"/>
              <a:t>Frenazo no intencionado</a:t>
            </a:r>
          </a:p>
          <a:p>
            <a:r>
              <a:rPr lang="es-ES" sz="2400" dirty="0"/>
              <a:t>No tan obvios: movimiento súbito del asiento</a:t>
            </a:r>
          </a:p>
          <a:p>
            <a:endParaRPr lang="es-ES" sz="2000" dirty="0">
              <a:solidFill>
                <a:srgbClr val="FF0000"/>
              </a:solidFill>
            </a:endParaRPr>
          </a:p>
          <a:p>
            <a:endParaRPr lang="es-ES" sz="2000" dirty="0">
              <a:solidFill>
                <a:srgbClr val="FF0000"/>
              </a:solidFill>
            </a:endParaRPr>
          </a:p>
          <a:p>
            <a:endParaRPr lang="es-ES" sz="2000" dirty="0">
              <a:solidFill>
                <a:srgbClr val="FF0000"/>
              </a:solidFill>
            </a:endParaRPr>
          </a:p>
          <a:p>
            <a:endParaRPr lang="es-ES" sz="2000" dirty="0">
              <a:solidFill>
                <a:srgbClr val="FF0000"/>
              </a:solidFill>
            </a:endParaRPr>
          </a:p>
          <a:p>
            <a:endParaRPr lang="es-ES" sz="2000" dirty="0">
              <a:solidFill>
                <a:srgbClr val="FF0000"/>
              </a:solidFill>
            </a:endParaRPr>
          </a:p>
          <a:p>
            <a:pPr algn="just"/>
            <a:r>
              <a:rPr lang="en-US" sz="2000" dirty="0">
                <a:solidFill>
                  <a:srgbClr val="0070C0"/>
                </a:solidFill>
              </a:rPr>
              <a:t>The absence of unreasonable risk due to hazards resulting from functional insufficiencies of the intended functionality or by reasonably foreseeable </a:t>
            </a:r>
            <a:r>
              <a:rPr lang="en-US" sz="2000" dirty="0" err="1">
                <a:solidFill>
                  <a:srgbClr val="0070C0"/>
                </a:solidFill>
              </a:rPr>
              <a:t>missuse</a:t>
            </a:r>
            <a:r>
              <a:rPr lang="en-US" sz="2000" dirty="0">
                <a:solidFill>
                  <a:srgbClr val="0070C0"/>
                </a:solidFill>
              </a:rPr>
              <a:t> by persons is referred to as the </a:t>
            </a:r>
            <a:r>
              <a:rPr lang="en-US" sz="2000" dirty="0">
                <a:solidFill>
                  <a:srgbClr val="C00000"/>
                </a:solidFill>
              </a:rPr>
              <a:t>Safety Of The Intended Functionality (SOTIF)</a:t>
            </a:r>
            <a:r>
              <a:rPr lang="en-US" sz="2000" dirty="0">
                <a:solidFill>
                  <a:srgbClr val="0070C0"/>
                </a:solidFill>
              </a:rPr>
              <a:t> ISO/PAS 21448:20129</a:t>
            </a:r>
            <a:endParaRPr lang="es-ES" sz="2000"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18</a:t>
            </a:fld>
            <a:endParaRPr lang="es-ES"/>
          </a:p>
        </p:txBody>
      </p:sp>
      <p:sp>
        <p:nvSpPr>
          <p:cNvPr id="6" name="object 25"/>
          <p:cNvSpPr/>
          <p:nvPr/>
        </p:nvSpPr>
        <p:spPr>
          <a:xfrm>
            <a:off x="2423592" y="3789040"/>
            <a:ext cx="2520280" cy="1368152"/>
          </a:xfrm>
          <a:prstGeom prst="rect">
            <a:avLst/>
          </a:prstGeom>
          <a:blipFill>
            <a:blip r:embed="rId3" cstate="print"/>
            <a:stretch>
              <a:fillRect/>
            </a:stretch>
          </a:blipFill>
        </p:spPr>
        <p:txBody>
          <a:bodyPr wrap="square" lIns="0" tIns="0" rIns="0" bIns="0" rtlCol="0">
            <a:noAutofit/>
          </a:bodyPr>
          <a:lstStyle/>
          <a:p>
            <a:endParaRPr/>
          </a:p>
        </p:txBody>
      </p:sp>
      <p:sp>
        <p:nvSpPr>
          <p:cNvPr id="7" name="object 26"/>
          <p:cNvSpPr/>
          <p:nvPr/>
        </p:nvSpPr>
        <p:spPr>
          <a:xfrm>
            <a:off x="7392144" y="3789040"/>
            <a:ext cx="2448272" cy="1368152"/>
          </a:xfrm>
          <a:prstGeom prst="rect">
            <a:avLst/>
          </a:prstGeom>
          <a:blipFill>
            <a:blip r:embed="rId4" cstate="print"/>
            <a:stretch>
              <a:fillRect/>
            </a:stretch>
          </a:blipFill>
        </p:spPr>
        <p:txBody>
          <a:bodyPr wrap="square" lIns="0" tIns="0" rIns="0" bIns="0" rtlCol="0">
            <a:noAutofit/>
          </a:bodyPr>
          <a:lstStyle/>
          <a:p>
            <a:endParaRPr/>
          </a:p>
        </p:txBody>
      </p:sp>
      <p:sp>
        <p:nvSpPr>
          <p:cNvPr id="8" name="object 27"/>
          <p:cNvSpPr/>
          <p:nvPr/>
        </p:nvSpPr>
        <p:spPr>
          <a:xfrm>
            <a:off x="5123892" y="4329100"/>
            <a:ext cx="2088232" cy="288032"/>
          </a:xfrm>
          <a:custGeom>
            <a:avLst/>
            <a:gdLst/>
            <a:ahLst/>
            <a:cxnLst/>
            <a:rect l="l" t="t" r="r" b="b"/>
            <a:pathLst>
              <a:path w="521207" h="73151">
                <a:moveTo>
                  <a:pt x="445007" y="0"/>
                </a:moveTo>
                <a:lnTo>
                  <a:pt x="445007" y="73151"/>
                </a:lnTo>
                <a:lnTo>
                  <a:pt x="495807" y="48767"/>
                </a:lnTo>
                <a:lnTo>
                  <a:pt x="457199" y="48767"/>
                </a:lnTo>
                <a:lnTo>
                  <a:pt x="457199" y="24383"/>
                </a:lnTo>
                <a:lnTo>
                  <a:pt x="495807" y="24383"/>
                </a:lnTo>
                <a:lnTo>
                  <a:pt x="445007" y="0"/>
                </a:lnTo>
                <a:close/>
              </a:path>
              <a:path w="521207" h="73151">
                <a:moveTo>
                  <a:pt x="445007" y="24383"/>
                </a:moveTo>
                <a:lnTo>
                  <a:pt x="0" y="24383"/>
                </a:lnTo>
                <a:lnTo>
                  <a:pt x="0" y="48767"/>
                </a:lnTo>
                <a:lnTo>
                  <a:pt x="445007" y="48767"/>
                </a:lnTo>
                <a:lnTo>
                  <a:pt x="445007" y="24383"/>
                </a:lnTo>
                <a:close/>
              </a:path>
              <a:path w="521207" h="73151">
                <a:moveTo>
                  <a:pt x="495807" y="24383"/>
                </a:moveTo>
                <a:lnTo>
                  <a:pt x="457199" y="24383"/>
                </a:lnTo>
                <a:lnTo>
                  <a:pt x="457199" y="48767"/>
                </a:lnTo>
                <a:lnTo>
                  <a:pt x="495807" y="48767"/>
                </a:lnTo>
                <a:lnTo>
                  <a:pt x="521207" y="36575"/>
                </a:lnTo>
                <a:lnTo>
                  <a:pt x="495807" y="24383"/>
                </a:lnTo>
                <a:close/>
              </a:path>
            </a:pathLst>
          </a:custGeom>
          <a:solidFill>
            <a:schemeClr val="accent2"/>
          </a:solidFill>
        </p:spPr>
        <p:txBody>
          <a:bodyPr wrap="square" lIns="0" tIns="0" rIns="0" bIns="0" rtlCol="0">
            <a:noAutofit/>
          </a:bodyPr>
          <a:lstStyle/>
          <a:p>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60648"/>
            <a:ext cx="8229600" cy="1143000"/>
          </a:xfrm>
        </p:spPr>
        <p:txBody>
          <a:bodyPr>
            <a:noAutofit/>
          </a:bodyPr>
          <a:lstStyle/>
          <a:p>
            <a:br>
              <a:rPr lang="es-ES" sz="3600" dirty="0">
                <a:solidFill>
                  <a:srgbClr val="0070C0"/>
                </a:solidFill>
              </a:rPr>
            </a:br>
            <a:r>
              <a:rPr lang="es-ES" sz="3600" dirty="0">
                <a:solidFill>
                  <a:srgbClr val="0070C0"/>
                </a:solidFill>
              </a:rPr>
              <a:t>Machine </a:t>
            </a:r>
            <a:r>
              <a:rPr lang="es-ES" sz="3600" dirty="0" err="1">
                <a:solidFill>
                  <a:srgbClr val="0070C0"/>
                </a:solidFill>
              </a:rPr>
              <a:t>Learning</a:t>
            </a:r>
            <a:r>
              <a:rPr lang="es-ES" sz="3600" dirty="0">
                <a:solidFill>
                  <a:srgbClr val="0070C0"/>
                </a:solidFill>
              </a:rPr>
              <a:t> y SOTIF</a:t>
            </a:r>
            <a:br>
              <a:rPr lang="es-ES" sz="3600" dirty="0">
                <a:solidFill>
                  <a:srgbClr val="0070C0"/>
                </a:solidFill>
              </a:rPr>
            </a:br>
            <a:br>
              <a:rPr lang="es-ES" sz="3600" dirty="0">
                <a:solidFill>
                  <a:srgbClr val="0070C0"/>
                </a:solidFill>
              </a:rPr>
            </a:br>
            <a:endParaRPr lang="es-ES" sz="3600" dirty="0"/>
          </a:p>
        </p:txBody>
      </p:sp>
      <p:sp>
        <p:nvSpPr>
          <p:cNvPr id="3" name="2 Marcador de contenido"/>
          <p:cNvSpPr>
            <a:spLocks noGrp="1"/>
          </p:cNvSpPr>
          <p:nvPr>
            <p:ph idx="1"/>
          </p:nvPr>
        </p:nvSpPr>
        <p:spPr>
          <a:xfrm>
            <a:off x="983432" y="1484785"/>
            <a:ext cx="10225136" cy="4525963"/>
          </a:xfrm>
        </p:spPr>
        <p:txBody>
          <a:bodyPr>
            <a:normAutofit fontScale="92500"/>
          </a:bodyPr>
          <a:lstStyle/>
          <a:p>
            <a:r>
              <a:rPr lang="es-ES" sz="2800" dirty="0"/>
              <a:t>En muchos casos cuando ocurre una situación peligrosa nada ha fallado, sino que la </a:t>
            </a:r>
            <a:r>
              <a:rPr lang="es-ES" sz="2800" dirty="0">
                <a:solidFill>
                  <a:srgbClr val="C00000"/>
                </a:solidFill>
              </a:rPr>
              <a:t>funcionalidad prevista </a:t>
            </a:r>
            <a:r>
              <a:rPr lang="es-ES" sz="2800" dirty="0"/>
              <a:t>ha sido la causa del problema</a:t>
            </a:r>
          </a:p>
          <a:p>
            <a:r>
              <a:rPr lang="es-ES" sz="2800" dirty="0"/>
              <a:t>Esto es especialmente relevante cuando </a:t>
            </a:r>
            <a:r>
              <a:rPr lang="es-ES" sz="2800" dirty="0">
                <a:solidFill>
                  <a:srgbClr val="C00000"/>
                </a:solidFill>
              </a:rPr>
              <a:t>el comportamiento del sistema ha sido aprendido</a:t>
            </a:r>
            <a:r>
              <a:rPr lang="es-ES" sz="2800" dirty="0"/>
              <a:t>, en lugar de haber sido programado explícitamente</a:t>
            </a:r>
          </a:p>
          <a:p>
            <a:r>
              <a:rPr lang="es-ES" sz="2800" dirty="0"/>
              <a:t>Es difícil determinar lo que el sistema ha aprendido realmente (problema de la </a:t>
            </a:r>
            <a:r>
              <a:rPr lang="es-ES" sz="2800" dirty="0" err="1"/>
              <a:t>interpretabilidad</a:t>
            </a:r>
            <a:r>
              <a:rPr lang="es-ES" sz="2800" dirty="0"/>
              <a:t> del modelo)</a:t>
            </a:r>
          </a:p>
          <a:p>
            <a:r>
              <a:rPr lang="es-ES" sz="2800" dirty="0"/>
              <a:t>Además, en la UE los individuos afectados por la decisión de un algoritmo </a:t>
            </a:r>
            <a:r>
              <a:rPr lang="es-ES" sz="2800" dirty="0">
                <a:solidFill>
                  <a:srgbClr val="C00000"/>
                </a:solidFill>
              </a:rPr>
              <a:t>tienen el derecho </a:t>
            </a:r>
            <a:r>
              <a:rPr lang="es-ES" sz="2800" dirty="0"/>
              <a:t>a una explicación de cómo se han llevado a cabo las decisiones que le han afectado</a:t>
            </a:r>
          </a:p>
          <a:p>
            <a:endParaRPr lang="es-ES" sz="2400" dirty="0"/>
          </a:p>
          <a:p>
            <a:endParaRPr lang="es-ES" sz="2000" dirty="0"/>
          </a:p>
          <a:p>
            <a:endParaRPr lang="es-ES" sz="2000" dirty="0"/>
          </a:p>
          <a:p>
            <a:endParaRPr lang="es-ES" sz="1600" dirty="0"/>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19</a:t>
            </a:fld>
            <a:endParaRPr lang="es-ES"/>
          </a:p>
        </p:txBody>
      </p:sp>
      <p:sp>
        <p:nvSpPr>
          <p:cNvPr id="5" name="4 CuadroTexto"/>
          <p:cNvSpPr txBox="1"/>
          <p:nvPr/>
        </p:nvSpPr>
        <p:spPr>
          <a:xfrm>
            <a:off x="1524001" y="1916832"/>
            <a:ext cx="184731"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22881107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60648"/>
            <a:ext cx="8229600" cy="1143000"/>
          </a:xfrm>
        </p:spPr>
        <p:txBody>
          <a:bodyPr>
            <a:noAutofit/>
          </a:bodyPr>
          <a:lstStyle/>
          <a:p>
            <a:br>
              <a:rPr lang="es-ES" sz="3600" dirty="0">
                <a:solidFill>
                  <a:srgbClr val="0070C0"/>
                </a:solidFill>
              </a:rPr>
            </a:br>
            <a:r>
              <a:rPr lang="es-ES" sz="3600" dirty="0">
                <a:solidFill>
                  <a:srgbClr val="0070C0"/>
                </a:solidFill>
              </a:rPr>
              <a:t>Machine </a:t>
            </a:r>
            <a:r>
              <a:rPr lang="es-ES" sz="3600" dirty="0" err="1">
                <a:solidFill>
                  <a:srgbClr val="0070C0"/>
                </a:solidFill>
              </a:rPr>
              <a:t>Learning</a:t>
            </a:r>
            <a:r>
              <a:rPr lang="es-ES" sz="3600" dirty="0">
                <a:solidFill>
                  <a:srgbClr val="0070C0"/>
                </a:solidFill>
              </a:rPr>
              <a:t> y SOTIF</a:t>
            </a:r>
            <a:br>
              <a:rPr lang="es-ES" sz="3600" dirty="0">
                <a:solidFill>
                  <a:srgbClr val="0070C0"/>
                </a:solidFill>
              </a:rPr>
            </a:br>
            <a:br>
              <a:rPr lang="es-ES" sz="3600" dirty="0">
                <a:solidFill>
                  <a:srgbClr val="0070C0"/>
                </a:solidFill>
              </a:rPr>
            </a:br>
            <a:endParaRPr lang="es-ES" sz="3600" dirty="0"/>
          </a:p>
        </p:txBody>
      </p:sp>
      <p:sp>
        <p:nvSpPr>
          <p:cNvPr id="3" name="2 Marcador de contenido"/>
          <p:cNvSpPr>
            <a:spLocks noGrp="1"/>
          </p:cNvSpPr>
          <p:nvPr>
            <p:ph idx="1"/>
          </p:nvPr>
        </p:nvSpPr>
        <p:spPr>
          <a:xfrm>
            <a:off x="911424" y="1484785"/>
            <a:ext cx="10441160" cy="4525963"/>
          </a:xfrm>
        </p:spPr>
        <p:txBody>
          <a:bodyPr>
            <a:normAutofit/>
          </a:bodyPr>
          <a:lstStyle/>
          <a:p>
            <a:r>
              <a:rPr lang="es-ES" sz="2400" dirty="0"/>
              <a:t>Nuevas dimensiones relativas a los datos tanto en calidad como en completitud</a:t>
            </a:r>
          </a:p>
          <a:p>
            <a:r>
              <a:rPr lang="es-ES" sz="2400" dirty="0"/>
              <a:t>¿Cómo analizamos de manera adecuada la seguridad de estos sistemas?</a:t>
            </a:r>
          </a:p>
          <a:p>
            <a:r>
              <a:rPr lang="es-ES" sz="2400" dirty="0"/>
              <a:t>Cuando el sistema de encuentra con situaciones para las que no ha sido entrenado, ¿cómo debe comportarse?</a:t>
            </a:r>
          </a:p>
          <a:p>
            <a:r>
              <a:rPr lang="es-ES" sz="2400" dirty="0"/>
              <a:t>Aparece el problema de las distribuciones “</a:t>
            </a:r>
            <a:r>
              <a:rPr lang="es-ES" sz="2400" dirty="0">
                <a:solidFill>
                  <a:srgbClr val="C00000"/>
                </a:solidFill>
              </a:rPr>
              <a:t>heavy </a:t>
            </a:r>
            <a:r>
              <a:rPr lang="es-ES" sz="2400" dirty="0" err="1">
                <a:solidFill>
                  <a:srgbClr val="C00000"/>
                </a:solidFill>
              </a:rPr>
              <a:t>tail</a:t>
            </a:r>
            <a:r>
              <a:rPr lang="es-ES" sz="2400" dirty="0"/>
              <a:t>”</a:t>
            </a:r>
          </a:p>
          <a:p>
            <a:r>
              <a:rPr lang="es-ES" sz="2400" dirty="0"/>
              <a:t>No hay razón para entrenar  los sistemas ante este tipo de situaciones:</a:t>
            </a:r>
          </a:p>
          <a:p>
            <a:pPr lvl="1"/>
            <a:r>
              <a:rPr lang="es-ES" sz="2000" dirty="0"/>
              <a:t>El número de “sorpresas” latentes es muy alto</a:t>
            </a:r>
          </a:p>
          <a:p>
            <a:pPr lvl="1"/>
            <a:r>
              <a:rPr lang="es-ES" sz="2000" dirty="0"/>
              <a:t>La frecuencia de estas “sorpresas”  que son consideradas riesgos no asumibles es mayor que la tasa de fallos asumible por el sistema</a:t>
            </a:r>
          </a:p>
          <a:p>
            <a:r>
              <a:rPr lang="es-ES" sz="2400" dirty="0"/>
              <a:t>No tiene sentido “aprender” estas sorpresas, porque este aprendizaje no cambia el tamaño de la población latente de las mismas</a:t>
            </a:r>
          </a:p>
          <a:p>
            <a:endParaRPr lang="es-ES" sz="2000" dirty="0"/>
          </a:p>
          <a:p>
            <a:endParaRPr lang="es-ES" sz="2000" dirty="0"/>
          </a:p>
          <a:p>
            <a:endParaRPr lang="es-ES" sz="1600" dirty="0"/>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20</a:t>
            </a:fld>
            <a:endParaRPr lang="es-ES"/>
          </a:p>
        </p:txBody>
      </p:sp>
      <p:sp>
        <p:nvSpPr>
          <p:cNvPr id="5" name="4 CuadroTexto"/>
          <p:cNvSpPr txBox="1"/>
          <p:nvPr/>
        </p:nvSpPr>
        <p:spPr>
          <a:xfrm>
            <a:off x="1524001" y="1916832"/>
            <a:ext cx="184731" cy="369332"/>
          </a:xfrm>
          <a:prstGeom prst="rect">
            <a:avLst/>
          </a:prstGeom>
          <a:noFill/>
        </p:spPr>
        <p:txBody>
          <a:bodyPr wrap="none" rtlCol="0">
            <a:spAutoFit/>
          </a:bodyPr>
          <a:lstStyle/>
          <a:p>
            <a:endParaRPr lang="es-ES" dirty="0"/>
          </a:p>
        </p:txBody>
      </p:sp>
    </p:spTree>
    <p:extLst>
      <p:ext uri="{BB962C8B-B14F-4D97-AF65-F5344CB8AC3E}">
        <p14:creationId xmlns:p14="http://schemas.microsoft.com/office/powerpoint/2010/main" val="2196328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60648"/>
            <a:ext cx="8229600" cy="1143000"/>
          </a:xfrm>
        </p:spPr>
        <p:txBody>
          <a:bodyPr>
            <a:noAutofit/>
          </a:bodyPr>
          <a:lstStyle/>
          <a:p>
            <a:br>
              <a:rPr lang="es-ES" sz="3600" dirty="0">
                <a:solidFill>
                  <a:srgbClr val="0070C0"/>
                </a:solidFill>
              </a:rPr>
            </a:br>
            <a:r>
              <a:rPr lang="es-ES" sz="3600" dirty="0">
                <a:solidFill>
                  <a:srgbClr val="0070C0"/>
                </a:solidFill>
              </a:rPr>
              <a:t>Machine </a:t>
            </a:r>
            <a:r>
              <a:rPr lang="es-ES" sz="3600" dirty="0" err="1">
                <a:solidFill>
                  <a:srgbClr val="0070C0"/>
                </a:solidFill>
              </a:rPr>
              <a:t>Learning</a:t>
            </a:r>
            <a:r>
              <a:rPr lang="es-ES" sz="3600" dirty="0">
                <a:solidFill>
                  <a:srgbClr val="0070C0"/>
                </a:solidFill>
              </a:rPr>
              <a:t> y SOTIF</a:t>
            </a:r>
            <a:br>
              <a:rPr lang="es-ES" sz="3600" dirty="0">
                <a:solidFill>
                  <a:srgbClr val="0070C0"/>
                </a:solidFill>
              </a:rPr>
            </a:br>
            <a:br>
              <a:rPr lang="es-ES" sz="3600" dirty="0">
                <a:solidFill>
                  <a:srgbClr val="0070C0"/>
                </a:solidFill>
              </a:rPr>
            </a:br>
            <a:endParaRPr lang="es-ES" sz="3600" dirty="0"/>
          </a:p>
        </p:txBody>
      </p:sp>
      <p:sp>
        <p:nvSpPr>
          <p:cNvPr id="3" name="2 Marcador de contenido"/>
          <p:cNvSpPr>
            <a:spLocks noGrp="1"/>
          </p:cNvSpPr>
          <p:nvPr>
            <p:ph idx="1"/>
          </p:nvPr>
        </p:nvSpPr>
        <p:spPr>
          <a:xfrm>
            <a:off x="767408" y="1052736"/>
            <a:ext cx="10513168" cy="5544616"/>
          </a:xfrm>
        </p:spPr>
        <p:txBody>
          <a:bodyPr>
            <a:normAutofit fontScale="92500" lnSpcReduction="10000"/>
          </a:bodyPr>
          <a:lstStyle/>
          <a:p>
            <a:r>
              <a:rPr lang="es-ES" sz="2400" dirty="0"/>
              <a:t>El problema de probar un sistema crítico basado en aprendizaje automático no es nuevo (ISO/PAS 21448 2019) – </a:t>
            </a:r>
            <a:r>
              <a:rPr lang="es-ES" sz="2400" dirty="0">
                <a:solidFill>
                  <a:srgbClr val="C00000"/>
                </a:solidFill>
              </a:rPr>
              <a:t>PAS = </a:t>
            </a:r>
            <a:r>
              <a:rPr lang="es-ES" sz="2400" dirty="0" err="1">
                <a:solidFill>
                  <a:srgbClr val="C00000"/>
                </a:solidFill>
              </a:rPr>
              <a:t>Publicly</a:t>
            </a:r>
            <a:r>
              <a:rPr lang="es-ES" sz="2400" dirty="0">
                <a:solidFill>
                  <a:srgbClr val="C00000"/>
                </a:solidFill>
              </a:rPr>
              <a:t> </a:t>
            </a:r>
            <a:r>
              <a:rPr lang="es-ES" sz="2400" dirty="0" err="1">
                <a:solidFill>
                  <a:srgbClr val="C00000"/>
                </a:solidFill>
              </a:rPr>
              <a:t>Available</a:t>
            </a:r>
            <a:r>
              <a:rPr lang="es-ES" sz="2400" dirty="0">
                <a:solidFill>
                  <a:srgbClr val="C00000"/>
                </a:solidFill>
              </a:rPr>
              <a:t> </a:t>
            </a:r>
            <a:r>
              <a:rPr lang="es-ES" sz="2400" dirty="0" err="1">
                <a:solidFill>
                  <a:srgbClr val="C00000"/>
                </a:solidFill>
              </a:rPr>
              <a:t>Specification</a:t>
            </a:r>
            <a:r>
              <a:rPr lang="es-ES" sz="2400" dirty="0"/>
              <a:t>, no es un estándar</a:t>
            </a:r>
          </a:p>
          <a:p>
            <a:r>
              <a:rPr lang="es-ES" sz="2400" dirty="0"/>
              <a:t>Ejemplos de situaciones peligrosas</a:t>
            </a:r>
          </a:p>
          <a:p>
            <a:pPr lvl="1"/>
            <a:r>
              <a:rPr lang="es-ES" sz="2000" dirty="0"/>
              <a:t>Ilusiones ópticas (cámara vs LIDAR)</a:t>
            </a:r>
          </a:p>
          <a:p>
            <a:pPr lvl="1"/>
            <a:endParaRPr lang="es-ES" sz="2000" dirty="0"/>
          </a:p>
          <a:p>
            <a:pPr lvl="1"/>
            <a:endParaRPr lang="es-ES" sz="2000" dirty="0"/>
          </a:p>
          <a:p>
            <a:pPr lvl="1"/>
            <a:endParaRPr lang="es-ES" sz="2000" dirty="0"/>
          </a:p>
          <a:p>
            <a:pPr lvl="1"/>
            <a:endParaRPr lang="es-ES" sz="2000" dirty="0"/>
          </a:p>
          <a:p>
            <a:pPr lvl="1"/>
            <a:endParaRPr lang="es-ES" sz="2000" dirty="0"/>
          </a:p>
          <a:p>
            <a:pPr lvl="1"/>
            <a:endParaRPr lang="es-ES" sz="2000" dirty="0"/>
          </a:p>
          <a:p>
            <a:pPr lvl="1"/>
            <a:endParaRPr lang="es-ES" sz="2000" dirty="0"/>
          </a:p>
          <a:p>
            <a:pPr lvl="1"/>
            <a:endParaRPr lang="es-ES" sz="2000" dirty="0"/>
          </a:p>
          <a:p>
            <a:pPr lvl="1"/>
            <a:endParaRPr lang="es-ES" sz="2000" dirty="0"/>
          </a:p>
          <a:p>
            <a:pPr lvl="1"/>
            <a:endParaRPr lang="es-ES" sz="2000" dirty="0"/>
          </a:p>
          <a:p>
            <a:pPr lvl="1"/>
            <a:endParaRPr lang="es-ES" sz="2000" dirty="0"/>
          </a:p>
          <a:p>
            <a:pPr lvl="1"/>
            <a:r>
              <a:rPr lang="es-ES" sz="2000" dirty="0"/>
              <a:t>Sistema de detección de objetos: </a:t>
            </a:r>
            <a:r>
              <a:rPr lang="es-ES" sz="2000" dirty="0">
                <a:highlight>
                  <a:srgbClr val="FFFF00"/>
                </a:highlight>
              </a:rPr>
              <a:t>el problema de la persona en patinete</a:t>
            </a:r>
          </a:p>
          <a:p>
            <a:pPr lvl="1"/>
            <a:endParaRPr lang="es-ES" sz="1800" dirty="0">
              <a:highlight>
                <a:srgbClr val="FFFF00"/>
              </a:highlight>
            </a:endParaRPr>
          </a:p>
          <a:p>
            <a:endParaRPr lang="es-ES" sz="2000" dirty="0">
              <a:highlight>
                <a:srgbClr val="FFFF00"/>
              </a:highlight>
            </a:endParaRPr>
          </a:p>
          <a:p>
            <a:pPr lvl="1"/>
            <a:endParaRPr lang="es-ES" sz="1800" dirty="0"/>
          </a:p>
          <a:p>
            <a:endParaRPr lang="es-ES" sz="2000" dirty="0"/>
          </a:p>
          <a:p>
            <a:endParaRPr lang="es-ES" sz="1600" dirty="0"/>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21</a:t>
            </a:fld>
            <a:endParaRPr lang="es-ES"/>
          </a:p>
        </p:txBody>
      </p:sp>
      <p:sp>
        <p:nvSpPr>
          <p:cNvPr id="5" name="4 CuadroTexto"/>
          <p:cNvSpPr txBox="1"/>
          <p:nvPr/>
        </p:nvSpPr>
        <p:spPr>
          <a:xfrm>
            <a:off x="1524001" y="1916832"/>
            <a:ext cx="184731" cy="369332"/>
          </a:xfrm>
          <a:prstGeom prst="rect">
            <a:avLst/>
          </a:prstGeom>
          <a:noFill/>
        </p:spPr>
        <p:txBody>
          <a:bodyPr wrap="none" rtlCol="0">
            <a:spAutoFit/>
          </a:bodyPr>
          <a:lstStyle/>
          <a:p>
            <a:endParaRPr lang="es-ES" dirty="0"/>
          </a:p>
        </p:txBody>
      </p:sp>
      <p:pic>
        <p:nvPicPr>
          <p:cNvPr id="1026" name="Picture 2"/>
          <p:cNvPicPr>
            <a:picLocks noChangeAspect="1" noChangeArrowheads="1"/>
          </p:cNvPicPr>
          <p:nvPr/>
        </p:nvPicPr>
        <p:blipFill>
          <a:blip r:embed="rId3" cstate="print"/>
          <a:srcRect/>
          <a:stretch>
            <a:fillRect/>
          </a:stretch>
        </p:blipFill>
        <p:spPr bwMode="auto">
          <a:xfrm>
            <a:off x="3935760" y="2780929"/>
            <a:ext cx="3960440" cy="3010798"/>
          </a:xfrm>
          <a:prstGeom prst="rect">
            <a:avLst/>
          </a:prstGeom>
          <a:noFill/>
          <a:ln w="9525">
            <a:noFill/>
            <a:miter lim="800000"/>
            <a:headEnd/>
            <a:tailEnd/>
          </a:ln>
        </p:spPr>
      </p:pic>
    </p:spTree>
    <p:extLst>
      <p:ext uri="{BB962C8B-B14F-4D97-AF65-F5344CB8AC3E}">
        <p14:creationId xmlns:p14="http://schemas.microsoft.com/office/powerpoint/2010/main" val="22580881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60648"/>
            <a:ext cx="8229600" cy="1143000"/>
          </a:xfrm>
        </p:spPr>
        <p:txBody>
          <a:bodyPr>
            <a:noAutofit/>
          </a:bodyPr>
          <a:lstStyle/>
          <a:p>
            <a:br>
              <a:rPr lang="es-ES" sz="3600" dirty="0">
                <a:solidFill>
                  <a:srgbClr val="0070C0"/>
                </a:solidFill>
              </a:rPr>
            </a:br>
            <a:r>
              <a:rPr lang="es-ES" sz="3600" dirty="0">
                <a:solidFill>
                  <a:srgbClr val="0070C0"/>
                </a:solidFill>
              </a:rPr>
              <a:t>Machine </a:t>
            </a:r>
            <a:r>
              <a:rPr lang="es-ES" sz="3600" dirty="0" err="1">
                <a:solidFill>
                  <a:srgbClr val="0070C0"/>
                </a:solidFill>
              </a:rPr>
              <a:t>Learning</a:t>
            </a:r>
            <a:r>
              <a:rPr lang="es-ES" sz="3600" dirty="0">
                <a:solidFill>
                  <a:srgbClr val="0070C0"/>
                </a:solidFill>
              </a:rPr>
              <a:t> y SOTIF</a:t>
            </a:r>
            <a:br>
              <a:rPr lang="es-ES" sz="3600" dirty="0">
                <a:solidFill>
                  <a:srgbClr val="0070C0"/>
                </a:solidFill>
              </a:rPr>
            </a:br>
            <a:br>
              <a:rPr lang="es-ES" sz="3600" dirty="0">
                <a:solidFill>
                  <a:srgbClr val="0070C0"/>
                </a:solidFill>
              </a:rPr>
            </a:br>
            <a:endParaRPr lang="es-ES" sz="3600" dirty="0"/>
          </a:p>
        </p:txBody>
      </p:sp>
      <p:sp>
        <p:nvSpPr>
          <p:cNvPr id="3" name="2 Marcador de contenido"/>
          <p:cNvSpPr>
            <a:spLocks noGrp="1"/>
          </p:cNvSpPr>
          <p:nvPr>
            <p:ph idx="1"/>
          </p:nvPr>
        </p:nvSpPr>
        <p:spPr>
          <a:xfrm>
            <a:off x="551384" y="1268760"/>
            <a:ext cx="10801200" cy="5328592"/>
          </a:xfrm>
        </p:spPr>
        <p:txBody>
          <a:bodyPr>
            <a:normAutofit fontScale="85000" lnSpcReduction="10000"/>
          </a:bodyPr>
          <a:lstStyle/>
          <a:p>
            <a:r>
              <a:rPr lang="es-ES" dirty="0"/>
              <a:t>Por definición, los escenarios peligrosos que pueden aparecer por problemas relacionados con la funcionalidad son difíciles de predecir</a:t>
            </a:r>
          </a:p>
          <a:p>
            <a:pPr lvl="1"/>
            <a:r>
              <a:rPr lang="es-ES" dirty="0"/>
              <a:t>Si lo fueran, se contemplarían en el diseño</a:t>
            </a:r>
          </a:p>
          <a:p>
            <a:pPr lvl="1"/>
            <a:r>
              <a:rPr lang="es-ES" dirty="0"/>
              <a:t>ISO/PAS 21448 clasifica los escenarios</a:t>
            </a:r>
          </a:p>
          <a:p>
            <a:pPr lvl="1"/>
            <a:endParaRPr lang="es-ES" dirty="0"/>
          </a:p>
          <a:p>
            <a:endParaRPr lang="es-ES" sz="2800" dirty="0"/>
          </a:p>
          <a:p>
            <a:endParaRPr lang="es-ES" sz="2800" dirty="0"/>
          </a:p>
          <a:p>
            <a:endParaRPr lang="es-ES" sz="2000" dirty="0"/>
          </a:p>
          <a:p>
            <a:pPr lvl="1"/>
            <a:endParaRPr lang="es-ES" dirty="0">
              <a:solidFill>
                <a:srgbClr val="FF0000"/>
              </a:solidFill>
            </a:endParaRPr>
          </a:p>
          <a:p>
            <a:pPr lvl="1"/>
            <a:endParaRPr lang="es-ES" dirty="0">
              <a:solidFill>
                <a:srgbClr val="FF0000"/>
              </a:solidFill>
            </a:endParaRPr>
          </a:p>
          <a:p>
            <a:pPr lvl="1"/>
            <a:r>
              <a:rPr lang="es-ES" dirty="0">
                <a:solidFill>
                  <a:srgbClr val="FF0000"/>
                </a:solidFill>
              </a:rPr>
              <a:t>Área 2: </a:t>
            </a:r>
            <a:r>
              <a:rPr lang="es-ES" dirty="0"/>
              <a:t>¿Qué eventos peligrosos pueden surgir con los comportamientos no seguros de la funcionalidad? </a:t>
            </a:r>
          </a:p>
          <a:p>
            <a:pPr lvl="1"/>
            <a:r>
              <a:rPr lang="es-ES" dirty="0">
                <a:solidFill>
                  <a:srgbClr val="FF0000"/>
                </a:solidFill>
              </a:rPr>
              <a:t>Área 3 </a:t>
            </a:r>
            <a:r>
              <a:rPr lang="es-ES" dirty="0"/>
              <a:t>¿Cuáles son las causas potenciales de dichos comportamiento?</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22</a:t>
            </a:fld>
            <a:endParaRPr lang="es-ES"/>
          </a:p>
        </p:txBody>
      </p:sp>
      <p:sp>
        <p:nvSpPr>
          <p:cNvPr id="5" name="4 CuadroTexto"/>
          <p:cNvSpPr txBox="1"/>
          <p:nvPr/>
        </p:nvSpPr>
        <p:spPr>
          <a:xfrm>
            <a:off x="1524001" y="1916832"/>
            <a:ext cx="184731" cy="369332"/>
          </a:xfrm>
          <a:prstGeom prst="rect">
            <a:avLst/>
          </a:prstGeom>
          <a:noFill/>
        </p:spPr>
        <p:txBody>
          <a:bodyPr wrap="none" rtlCol="0">
            <a:spAutoFit/>
          </a:bodyPr>
          <a:lstStyle/>
          <a:p>
            <a:endParaRPr lang="es-ES" dirty="0"/>
          </a:p>
        </p:txBody>
      </p:sp>
      <p:graphicFrame>
        <p:nvGraphicFramePr>
          <p:cNvPr id="6" name="5 Tabla"/>
          <p:cNvGraphicFramePr>
            <a:graphicFrameLocks noGrp="1"/>
          </p:cNvGraphicFramePr>
          <p:nvPr/>
        </p:nvGraphicFramePr>
        <p:xfrm>
          <a:off x="2999656" y="3573016"/>
          <a:ext cx="6096000" cy="1112520"/>
        </p:xfrm>
        <a:graphic>
          <a:graphicData uri="http://schemas.openxmlformats.org/drawingml/2006/table">
            <a:tbl>
              <a:tblPr firstRow="1" bandRow="1">
                <a:tableStyleId>{5C22544A-7EE6-4342-B048-85BDC9FD1C3A}</a:tableStyleId>
              </a:tblPr>
              <a:tblGrid>
                <a:gridCol w="2032000">
                  <a:extLst>
                    <a:ext uri="{9D8B030D-6E8A-4147-A177-3AD203B41FA5}">
                      <a16:colId xmlns:a16="http://schemas.microsoft.com/office/drawing/2014/main" val="20000"/>
                    </a:ext>
                  </a:extLst>
                </a:gridCol>
                <a:gridCol w="2032000">
                  <a:extLst>
                    <a:ext uri="{9D8B030D-6E8A-4147-A177-3AD203B41FA5}">
                      <a16:colId xmlns:a16="http://schemas.microsoft.com/office/drawing/2014/main" val="20001"/>
                    </a:ext>
                  </a:extLst>
                </a:gridCol>
                <a:gridCol w="2032000">
                  <a:extLst>
                    <a:ext uri="{9D8B030D-6E8A-4147-A177-3AD203B41FA5}">
                      <a16:colId xmlns:a16="http://schemas.microsoft.com/office/drawing/2014/main" val="20002"/>
                    </a:ext>
                  </a:extLst>
                </a:gridCol>
              </a:tblGrid>
              <a:tr h="370840">
                <a:tc>
                  <a:txBody>
                    <a:bodyPr/>
                    <a:lstStyle/>
                    <a:p>
                      <a:endParaRPr lang="es-ES" dirty="0"/>
                    </a:p>
                  </a:txBody>
                  <a:tcPr/>
                </a:tc>
                <a:tc>
                  <a:txBody>
                    <a:bodyPr/>
                    <a:lstStyle/>
                    <a:p>
                      <a:r>
                        <a:rPr lang="es-ES" dirty="0"/>
                        <a:t>No seguros</a:t>
                      </a:r>
                    </a:p>
                  </a:txBody>
                  <a:tcPr/>
                </a:tc>
                <a:tc>
                  <a:txBody>
                    <a:bodyPr/>
                    <a:lstStyle/>
                    <a:p>
                      <a:r>
                        <a:rPr lang="es-ES" dirty="0"/>
                        <a:t>Seguros</a:t>
                      </a:r>
                    </a:p>
                  </a:txBody>
                  <a:tcPr/>
                </a:tc>
                <a:extLst>
                  <a:ext uri="{0D108BD9-81ED-4DB2-BD59-A6C34878D82A}">
                    <a16:rowId xmlns:a16="http://schemas.microsoft.com/office/drawing/2014/main" val="10000"/>
                  </a:ext>
                </a:extLst>
              </a:tr>
              <a:tr h="370840">
                <a:tc>
                  <a:txBody>
                    <a:bodyPr/>
                    <a:lstStyle/>
                    <a:p>
                      <a:r>
                        <a:rPr lang="es-ES" dirty="0"/>
                        <a:t>Conocidos</a:t>
                      </a:r>
                    </a:p>
                  </a:txBody>
                  <a:tcPr/>
                </a:tc>
                <a:tc>
                  <a:txBody>
                    <a:bodyPr/>
                    <a:lstStyle/>
                    <a:p>
                      <a:r>
                        <a:rPr lang="es-ES" dirty="0">
                          <a:solidFill>
                            <a:srgbClr val="FF0000"/>
                          </a:solidFill>
                        </a:rPr>
                        <a:t>Área 2</a:t>
                      </a:r>
                    </a:p>
                  </a:txBody>
                  <a:tcPr/>
                </a:tc>
                <a:tc>
                  <a:txBody>
                    <a:bodyPr/>
                    <a:lstStyle/>
                    <a:p>
                      <a:r>
                        <a:rPr lang="es-ES" dirty="0"/>
                        <a:t>Área</a:t>
                      </a:r>
                      <a:r>
                        <a:rPr lang="es-ES" baseline="0" dirty="0"/>
                        <a:t> 1</a:t>
                      </a:r>
                      <a:endParaRPr lang="es-ES" dirty="0"/>
                    </a:p>
                  </a:txBody>
                  <a:tcPr/>
                </a:tc>
                <a:extLst>
                  <a:ext uri="{0D108BD9-81ED-4DB2-BD59-A6C34878D82A}">
                    <a16:rowId xmlns:a16="http://schemas.microsoft.com/office/drawing/2014/main" val="10001"/>
                  </a:ext>
                </a:extLst>
              </a:tr>
              <a:tr h="370840">
                <a:tc>
                  <a:txBody>
                    <a:bodyPr/>
                    <a:lstStyle/>
                    <a:p>
                      <a:r>
                        <a:rPr lang="es-ES" dirty="0"/>
                        <a:t>Desconocidos</a:t>
                      </a:r>
                    </a:p>
                  </a:txBody>
                  <a:tcPr/>
                </a:tc>
                <a:tc>
                  <a:txBody>
                    <a:bodyPr/>
                    <a:lstStyle/>
                    <a:p>
                      <a:r>
                        <a:rPr lang="es-ES" dirty="0">
                          <a:solidFill>
                            <a:srgbClr val="FF0000"/>
                          </a:solidFill>
                        </a:rPr>
                        <a:t>Área 3</a:t>
                      </a:r>
                    </a:p>
                  </a:txBody>
                  <a:tcPr/>
                </a:tc>
                <a:tc>
                  <a:txBody>
                    <a:bodyPr/>
                    <a:lstStyle/>
                    <a:p>
                      <a:r>
                        <a:rPr lang="es-ES" dirty="0"/>
                        <a:t>Área 4</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518660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dirty="0">
                <a:solidFill>
                  <a:srgbClr val="0070C0"/>
                </a:solidFill>
              </a:rPr>
              <a:t>Peligro, Riesgo, Mitigación y Riesgo Residual</a:t>
            </a:r>
          </a:p>
        </p:txBody>
      </p:sp>
      <p:sp>
        <p:nvSpPr>
          <p:cNvPr id="3" name="2 Marcador de contenido"/>
          <p:cNvSpPr>
            <a:spLocks noGrp="1"/>
          </p:cNvSpPr>
          <p:nvPr>
            <p:ph idx="1"/>
          </p:nvPr>
        </p:nvSpPr>
        <p:spPr/>
        <p:txBody>
          <a:bodyPr>
            <a:normAutofit/>
          </a:bodyPr>
          <a:lstStyle/>
          <a:p>
            <a:r>
              <a:rPr lang="es-ES" sz="2800" dirty="0"/>
              <a:t>El iceberg es el </a:t>
            </a:r>
            <a:r>
              <a:rPr lang="es-ES" sz="2800" dirty="0">
                <a:solidFill>
                  <a:srgbClr val="C00000"/>
                </a:solidFill>
              </a:rPr>
              <a:t>peligro</a:t>
            </a:r>
          </a:p>
          <a:p>
            <a:r>
              <a:rPr lang="es-ES" sz="2800" dirty="0"/>
              <a:t>El </a:t>
            </a:r>
            <a:r>
              <a:rPr lang="es-ES" sz="2800" dirty="0">
                <a:solidFill>
                  <a:srgbClr val="C00000"/>
                </a:solidFill>
              </a:rPr>
              <a:t>riesgo</a:t>
            </a:r>
            <a:r>
              <a:rPr lang="es-ES" sz="2800" dirty="0"/>
              <a:t> lo constituye el que barco pueda colisionar con él</a:t>
            </a:r>
          </a:p>
          <a:p>
            <a:r>
              <a:rPr lang="es-ES" sz="2800" dirty="0"/>
              <a:t>Una medida de </a:t>
            </a:r>
            <a:r>
              <a:rPr lang="es-ES" sz="2800" dirty="0">
                <a:solidFill>
                  <a:srgbClr val="C00000"/>
                </a:solidFill>
              </a:rPr>
              <a:t>mitigación</a:t>
            </a:r>
            <a:r>
              <a:rPr lang="es-ES" sz="2800" dirty="0"/>
              <a:t> puede ser pintarlo de amarillo fosforescente</a:t>
            </a:r>
          </a:p>
          <a:p>
            <a:r>
              <a:rPr lang="es-ES" sz="2800" dirty="0"/>
              <a:t>El </a:t>
            </a:r>
            <a:r>
              <a:rPr lang="es-ES" sz="2800" dirty="0">
                <a:solidFill>
                  <a:srgbClr val="C00000"/>
                </a:solidFill>
              </a:rPr>
              <a:t>riesgo residual</a:t>
            </a:r>
            <a:r>
              <a:rPr lang="es-ES" sz="2800" dirty="0"/>
              <a:t>, es que nos encontremos con el iceberg por la noche o con niebla</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23</a:t>
            </a:fld>
            <a:endParaRPr lang="es-E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dirty="0">
                <a:solidFill>
                  <a:srgbClr val="0070C0"/>
                </a:solidFill>
              </a:rPr>
              <a:t>Peligro, Riesgo, Mitigación y Riesgo Residual</a:t>
            </a:r>
          </a:p>
        </p:txBody>
      </p:sp>
      <p:sp>
        <p:nvSpPr>
          <p:cNvPr id="3" name="2 Marcador de contenido"/>
          <p:cNvSpPr>
            <a:spLocks noGrp="1"/>
          </p:cNvSpPr>
          <p:nvPr>
            <p:ph idx="1"/>
          </p:nvPr>
        </p:nvSpPr>
        <p:spPr/>
        <p:txBody>
          <a:bodyPr>
            <a:normAutofit/>
          </a:bodyPr>
          <a:lstStyle/>
          <a:p>
            <a:r>
              <a:rPr lang="es-ES" sz="2800" dirty="0"/>
              <a:t>Más formalmente:</a:t>
            </a:r>
          </a:p>
          <a:p>
            <a:pPr lvl="1"/>
            <a:r>
              <a:rPr lang="es-ES" sz="2400" dirty="0"/>
              <a:t>El </a:t>
            </a:r>
            <a:r>
              <a:rPr lang="es-ES" sz="2400" b="1" dirty="0">
                <a:solidFill>
                  <a:srgbClr val="C00000"/>
                </a:solidFill>
              </a:rPr>
              <a:t>peligro</a:t>
            </a:r>
            <a:r>
              <a:rPr lang="es-ES" sz="2400" dirty="0"/>
              <a:t> es algo pasivo que existe en el entorno y que puede ser la causa de un riesgo</a:t>
            </a:r>
          </a:p>
          <a:p>
            <a:pPr lvl="1"/>
            <a:r>
              <a:rPr lang="es-ES" sz="2400" dirty="0"/>
              <a:t>Los </a:t>
            </a:r>
            <a:r>
              <a:rPr lang="es-ES" sz="2400" b="1" dirty="0">
                <a:solidFill>
                  <a:srgbClr val="FFFF00"/>
                </a:solidFill>
              </a:rPr>
              <a:t>riesgos</a:t>
            </a:r>
            <a:r>
              <a:rPr lang="es-ES" sz="2400" dirty="0"/>
              <a:t> son activos y pueden dar lugar a condiciones peligrosas</a:t>
            </a:r>
          </a:p>
          <a:p>
            <a:pPr lvl="1"/>
            <a:r>
              <a:rPr lang="es-ES" sz="2400" dirty="0"/>
              <a:t>Cuando un riesgo es identificado y se considera suficientemente serio, necesita ser mitigado, es decir tomar una acción para reducirlo</a:t>
            </a:r>
          </a:p>
          <a:p>
            <a:pPr lvl="1"/>
            <a:r>
              <a:rPr lang="es-ES" sz="2400" dirty="0"/>
              <a:t>Si aún así existe riesgo, se trata de un </a:t>
            </a:r>
            <a:r>
              <a:rPr lang="es-ES" sz="2400" b="1" dirty="0">
                <a:solidFill>
                  <a:srgbClr val="00B050"/>
                </a:solidFill>
              </a:rPr>
              <a:t>riesgo residual</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24</a:t>
            </a:fld>
            <a:endParaRPr lang="es-E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dirty="0">
                <a:solidFill>
                  <a:srgbClr val="0070C0"/>
                </a:solidFill>
              </a:rPr>
              <a:t>Peligro, Riesgo, Mitigación y Riesgo Residual</a:t>
            </a:r>
          </a:p>
        </p:txBody>
      </p:sp>
      <p:sp>
        <p:nvSpPr>
          <p:cNvPr id="3" name="2 Marcador de contenido"/>
          <p:cNvSpPr>
            <a:spLocks noGrp="1"/>
          </p:cNvSpPr>
          <p:nvPr>
            <p:ph idx="1"/>
          </p:nvPr>
        </p:nvSpPr>
        <p:spPr/>
        <p:txBody>
          <a:bodyPr>
            <a:normAutofit/>
          </a:bodyPr>
          <a:lstStyle/>
          <a:p>
            <a:r>
              <a:rPr lang="es-ES" sz="2800" dirty="0"/>
              <a:t>Un ejemplo más informático:</a:t>
            </a:r>
          </a:p>
          <a:p>
            <a:pPr lvl="1"/>
            <a:r>
              <a:rPr lang="es-ES" sz="2400" dirty="0"/>
              <a:t>La memoria puede ser una fuente de peligros</a:t>
            </a:r>
          </a:p>
          <a:p>
            <a:pPr lvl="1"/>
            <a:r>
              <a:rPr lang="es-ES" sz="2400" dirty="0"/>
              <a:t>Algunos riesgos asociados a la memoria:</a:t>
            </a:r>
          </a:p>
          <a:p>
            <a:pPr lvl="2"/>
            <a:r>
              <a:rPr lang="es-ES" dirty="0"/>
              <a:t>Efectos de los rayos cósmicos: cambio de un bit en una palabra de memoria</a:t>
            </a:r>
          </a:p>
          <a:p>
            <a:pPr lvl="3"/>
            <a:r>
              <a:rPr lang="es-ES" dirty="0"/>
              <a:t>Cambio de modo de operación del sistema</a:t>
            </a:r>
          </a:p>
          <a:p>
            <a:pPr lvl="3"/>
            <a:r>
              <a:rPr lang="es-ES" dirty="0"/>
              <a:t>Los códigos correctores permiten detectarlos/corregirlos</a:t>
            </a:r>
          </a:p>
          <a:p>
            <a:pPr lvl="3"/>
            <a:r>
              <a:rPr lang="es-ES" dirty="0"/>
              <a:t>Errores residuales pueden ser:</a:t>
            </a:r>
          </a:p>
          <a:p>
            <a:pPr lvl="4"/>
            <a:r>
              <a:rPr lang="es-ES" dirty="0"/>
              <a:t>Varios errores simultáneos pueden  no ser detectados</a:t>
            </a:r>
          </a:p>
          <a:p>
            <a:pPr lvl="4"/>
            <a:r>
              <a:rPr lang="es-ES" dirty="0"/>
              <a:t>La aplicación puede no manejar correctamente la interrupción provocada por el sistema de protección de memoria</a:t>
            </a:r>
          </a:p>
          <a:p>
            <a:pPr lvl="4"/>
            <a:r>
              <a:rPr lang="es-ES" dirty="0"/>
              <a:t>Los códigos correctores no incluyen las caches</a:t>
            </a:r>
          </a:p>
          <a:p>
            <a:pPr lvl="3"/>
            <a:endParaRPr lang="en-U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25</a:t>
            </a:fld>
            <a:endParaRPr lang="es-E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dirty="0">
                <a:solidFill>
                  <a:srgbClr val="0070C0"/>
                </a:solidFill>
              </a:rPr>
              <a:t>Peligro, Riesgo, Mitigación y Riesgo Residual</a:t>
            </a:r>
          </a:p>
        </p:txBody>
      </p:sp>
      <p:sp>
        <p:nvSpPr>
          <p:cNvPr id="3" name="2 Marcador de contenido"/>
          <p:cNvSpPr>
            <a:spLocks noGrp="1"/>
          </p:cNvSpPr>
          <p:nvPr>
            <p:ph idx="1"/>
          </p:nvPr>
        </p:nvSpPr>
        <p:spPr/>
        <p:txBody>
          <a:bodyPr>
            <a:normAutofit/>
          </a:bodyPr>
          <a:lstStyle/>
          <a:p>
            <a:pPr lvl="1"/>
            <a:r>
              <a:rPr lang="en-US" dirty="0" err="1"/>
              <a:t>Memoria</a:t>
            </a:r>
            <a:r>
              <a:rPr lang="en-US" dirty="0"/>
              <a:t> </a:t>
            </a:r>
            <a:r>
              <a:rPr lang="en-US" dirty="0" err="1"/>
              <a:t>llena</a:t>
            </a:r>
            <a:endParaRPr lang="en-US" dirty="0"/>
          </a:p>
          <a:p>
            <a:pPr lvl="2"/>
            <a:r>
              <a:rPr lang="en-US" dirty="0" err="1"/>
              <a:t>Una</a:t>
            </a:r>
            <a:r>
              <a:rPr lang="en-US" dirty="0"/>
              <a:t> </a:t>
            </a:r>
            <a:r>
              <a:rPr lang="en-US" dirty="0" err="1"/>
              <a:t>aplicación</a:t>
            </a:r>
            <a:r>
              <a:rPr lang="en-US" dirty="0"/>
              <a:t> </a:t>
            </a:r>
            <a:r>
              <a:rPr lang="en-US" dirty="0" err="1"/>
              <a:t>puede</a:t>
            </a:r>
            <a:r>
              <a:rPr lang="en-US" dirty="0"/>
              <a:t> </a:t>
            </a:r>
            <a:r>
              <a:rPr lang="en-US" dirty="0" err="1"/>
              <a:t>tener</a:t>
            </a:r>
            <a:r>
              <a:rPr lang="en-US" dirty="0"/>
              <a:t> </a:t>
            </a:r>
            <a:r>
              <a:rPr lang="en-US" dirty="0" err="1"/>
              <a:t>fugas</a:t>
            </a:r>
            <a:r>
              <a:rPr lang="en-US" dirty="0"/>
              <a:t> de </a:t>
            </a:r>
            <a:r>
              <a:rPr lang="en-US" dirty="0" err="1"/>
              <a:t>memoria</a:t>
            </a:r>
            <a:r>
              <a:rPr lang="en-US" dirty="0"/>
              <a:t> </a:t>
            </a:r>
            <a:r>
              <a:rPr lang="en-US" dirty="0" err="1"/>
              <a:t>que</a:t>
            </a:r>
            <a:r>
              <a:rPr lang="en-US" dirty="0"/>
              <a:t> </a:t>
            </a:r>
            <a:r>
              <a:rPr lang="en-US" dirty="0" err="1"/>
              <a:t>provocan</a:t>
            </a:r>
            <a:r>
              <a:rPr lang="en-US" dirty="0"/>
              <a:t> </a:t>
            </a:r>
            <a:r>
              <a:rPr lang="en-US" dirty="0" err="1"/>
              <a:t>su</a:t>
            </a:r>
            <a:r>
              <a:rPr lang="en-US" dirty="0"/>
              <a:t> </a:t>
            </a:r>
            <a:r>
              <a:rPr lang="en-US" dirty="0" err="1"/>
              <a:t>llenado</a:t>
            </a:r>
            <a:endParaRPr lang="en-US" dirty="0"/>
          </a:p>
          <a:p>
            <a:pPr lvl="2"/>
            <a:r>
              <a:rPr lang="en-US" dirty="0" err="1"/>
              <a:t>Una</a:t>
            </a:r>
            <a:r>
              <a:rPr lang="en-US" dirty="0"/>
              <a:t> </a:t>
            </a:r>
            <a:r>
              <a:rPr lang="en-US" dirty="0" err="1"/>
              <a:t>medida</a:t>
            </a:r>
            <a:r>
              <a:rPr lang="en-US" dirty="0"/>
              <a:t> de </a:t>
            </a:r>
            <a:r>
              <a:rPr lang="en-US" dirty="0" err="1"/>
              <a:t>mitigación</a:t>
            </a:r>
            <a:r>
              <a:rPr lang="en-US" dirty="0"/>
              <a:t> </a:t>
            </a:r>
            <a:r>
              <a:rPr lang="en-US" dirty="0" err="1"/>
              <a:t>es</a:t>
            </a:r>
            <a:r>
              <a:rPr lang="en-US" dirty="0"/>
              <a:t> </a:t>
            </a:r>
            <a:r>
              <a:rPr lang="en-US" dirty="0" err="1"/>
              <a:t>utilizar</a:t>
            </a:r>
            <a:r>
              <a:rPr lang="en-US" dirty="0"/>
              <a:t> solo </a:t>
            </a:r>
            <a:r>
              <a:rPr lang="en-US" dirty="0" err="1"/>
              <a:t>memoria</a:t>
            </a:r>
            <a:r>
              <a:rPr lang="en-US" dirty="0"/>
              <a:t> </a:t>
            </a:r>
            <a:r>
              <a:rPr lang="en-US" dirty="0" err="1"/>
              <a:t>estática</a:t>
            </a:r>
            <a:r>
              <a:rPr lang="en-US" dirty="0"/>
              <a:t> y </a:t>
            </a:r>
            <a:r>
              <a:rPr lang="en-US" dirty="0" err="1"/>
              <a:t>reservarla</a:t>
            </a:r>
            <a:r>
              <a:rPr lang="en-US" dirty="0"/>
              <a:t> </a:t>
            </a:r>
            <a:r>
              <a:rPr lang="en-US" dirty="0" err="1"/>
              <a:t>toda</a:t>
            </a:r>
            <a:r>
              <a:rPr lang="en-US" dirty="0"/>
              <a:t> al </a:t>
            </a:r>
            <a:r>
              <a:rPr lang="en-US" dirty="0" err="1"/>
              <a:t>comienzo</a:t>
            </a:r>
            <a:r>
              <a:rPr lang="en-US" dirty="0"/>
              <a:t> de la </a:t>
            </a:r>
            <a:r>
              <a:rPr lang="en-US" dirty="0" err="1"/>
              <a:t>ejecución</a:t>
            </a:r>
            <a:endParaRPr lang="en-US" dirty="0"/>
          </a:p>
          <a:p>
            <a:pPr lvl="3"/>
            <a:r>
              <a:rPr lang="en-US" dirty="0" err="1"/>
              <a:t>Existe</a:t>
            </a:r>
            <a:r>
              <a:rPr lang="en-US" dirty="0"/>
              <a:t> el error residual de </a:t>
            </a:r>
            <a:r>
              <a:rPr lang="en-US" dirty="0" err="1"/>
              <a:t>haber</a:t>
            </a:r>
            <a:r>
              <a:rPr lang="en-US" dirty="0"/>
              <a:t> </a:t>
            </a:r>
            <a:r>
              <a:rPr lang="en-US" dirty="0" err="1"/>
              <a:t>calculado</a:t>
            </a:r>
            <a:r>
              <a:rPr lang="en-US" dirty="0"/>
              <a:t> mal el </a:t>
            </a:r>
            <a:r>
              <a:rPr lang="en-US" dirty="0" err="1"/>
              <a:t>tamaño</a:t>
            </a:r>
            <a:r>
              <a:rPr lang="en-US" dirty="0"/>
              <a:t> y </a:t>
            </a:r>
            <a:r>
              <a:rPr lang="en-US" dirty="0" err="1"/>
              <a:t>que</a:t>
            </a:r>
            <a:r>
              <a:rPr lang="en-US" dirty="0"/>
              <a:t> no </a:t>
            </a:r>
            <a:r>
              <a:rPr lang="en-US" dirty="0" err="1"/>
              <a:t>haya</a:t>
            </a:r>
            <a:r>
              <a:rPr lang="en-US" dirty="0"/>
              <a:t> </a:t>
            </a:r>
            <a:r>
              <a:rPr lang="en-US" dirty="0" err="1"/>
              <a:t>sido</a:t>
            </a:r>
            <a:r>
              <a:rPr lang="en-US" dirty="0"/>
              <a:t> </a:t>
            </a:r>
            <a:r>
              <a:rPr lang="en-US" dirty="0" err="1"/>
              <a:t>detectado</a:t>
            </a:r>
            <a:r>
              <a:rPr lang="en-US" dirty="0"/>
              <a:t> </a:t>
            </a:r>
            <a:r>
              <a:rPr lang="en-US" dirty="0" err="1"/>
              <a:t>durante</a:t>
            </a:r>
            <a:r>
              <a:rPr lang="en-US" dirty="0"/>
              <a:t> la </a:t>
            </a:r>
            <a:r>
              <a:rPr lang="en-US" dirty="0" err="1"/>
              <a:t>fase</a:t>
            </a:r>
            <a:r>
              <a:rPr lang="en-US" dirty="0"/>
              <a:t> de </a:t>
            </a:r>
            <a:r>
              <a:rPr lang="en-US" dirty="0" err="1"/>
              <a:t>diseño</a:t>
            </a:r>
            <a:r>
              <a:rPr lang="en-US" dirty="0"/>
              <a:t> y </a:t>
            </a:r>
            <a:r>
              <a:rPr lang="en-US" dirty="0" err="1"/>
              <a:t>pruebas</a:t>
            </a:r>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26</a:t>
            </a:fld>
            <a:endParaRPr lang="es-E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dirty="0">
                <a:solidFill>
                  <a:srgbClr val="0070C0"/>
                </a:solidFill>
              </a:rPr>
              <a:t>Disponibilidad, Fiabilidad y </a:t>
            </a:r>
            <a:r>
              <a:rPr lang="es-ES" sz="2800" dirty="0" err="1">
                <a:solidFill>
                  <a:srgbClr val="0070C0"/>
                </a:solidFill>
              </a:rPr>
              <a:t>Predecibilidad</a:t>
            </a:r>
            <a:endParaRPr lang="es-ES" sz="2800" dirty="0">
              <a:solidFill>
                <a:srgbClr val="0070C0"/>
              </a:solidFill>
            </a:endParaRPr>
          </a:p>
        </p:txBody>
      </p:sp>
      <p:sp>
        <p:nvSpPr>
          <p:cNvPr id="3" name="2 Marcador de contenido"/>
          <p:cNvSpPr>
            <a:spLocks noGrp="1"/>
          </p:cNvSpPr>
          <p:nvPr>
            <p:ph idx="1"/>
          </p:nvPr>
        </p:nvSpPr>
        <p:spPr>
          <a:xfrm>
            <a:off x="609600" y="1600201"/>
            <a:ext cx="10670976" cy="3412976"/>
          </a:xfrm>
        </p:spPr>
        <p:txBody>
          <a:bodyPr>
            <a:normAutofit/>
          </a:bodyPr>
          <a:lstStyle/>
          <a:p>
            <a:r>
              <a:rPr lang="en-US" sz="2600" dirty="0"/>
              <a:t>Un sub-</a:t>
            </a:r>
            <a:r>
              <a:rPr lang="en-US" sz="2600" dirty="0" err="1"/>
              <a:t>sistema</a:t>
            </a:r>
            <a:r>
              <a:rPr lang="en-US" sz="2600" dirty="0"/>
              <a:t> software </a:t>
            </a:r>
            <a:r>
              <a:rPr lang="en-US" sz="2600" dirty="0" err="1"/>
              <a:t>puede</a:t>
            </a:r>
            <a:r>
              <a:rPr lang="en-US" sz="2600" dirty="0"/>
              <a:t> </a:t>
            </a:r>
            <a:r>
              <a:rPr lang="en-US" sz="2600" dirty="0" err="1"/>
              <a:t>fallar</a:t>
            </a:r>
            <a:r>
              <a:rPr lang="en-US" sz="2600" dirty="0"/>
              <a:t> </a:t>
            </a:r>
            <a:r>
              <a:rPr lang="en-US" sz="2600" dirty="0" err="1"/>
              <a:t>básicamente</a:t>
            </a:r>
            <a:r>
              <a:rPr lang="en-US" sz="2600" dirty="0"/>
              <a:t> de dos </a:t>
            </a:r>
            <a:r>
              <a:rPr lang="en-US" sz="2600" dirty="0" err="1"/>
              <a:t>formas</a:t>
            </a:r>
            <a:r>
              <a:rPr lang="en-US" sz="2600" dirty="0"/>
              <a:t>:</a:t>
            </a:r>
          </a:p>
          <a:p>
            <a:pPr lvl="1"/>
            <a:r>
              <a:rPr lang="en-US" sz="2200" dirty="0" err="1"/>
              <a:t>Puede</a:t>
            </a:r>
            <a:r>
              <a:rPr lang="en-US" sz="2200" dirty="0"/>
              <a:t> no </a:t>
            </a:r>
            <a:r>
              <a:rPr lang="en-US" sz="2200" dirty="0" err="1"/>
              <a:t>dar</a:t>
            </a:r>
            <a:r>
              <a:rPr lang="en-US" sz="2200" dirty="0"/>
              <a:t> </a:t>
            </a:r>
            <a:r>
              <a:rPr lang="en-US" sz="2200" dirty="0" err="1"/>
              <a:t>una</a:t>
            </a:r>
            <a:r>
              <a:rPr lang="en-US" sz="2200" dirty="0"/>
              <a:t> </a:t>
            </a:r>
            <a:r>
              <a:rPr lang="en-US" sz="2200" dirty="0" err="1"/>
              <a:t>respuesta</a:t>
            </a:r>
            <a:r>
              <a:rPr lang="en-US" sz="2200" dirty="0"/>
              <a:t> a </a:t>
            </a:r>
            <a:r>
              <a:rPr lang="en-US" sz="2200" dirty="0" err="1"/>
              <a:t>tiempo</a:t>
            </a:r>
            <a:r>
              <a:rPr lang="en-US" sz="2200" dirty="0"/>
              <a:t> (</a:t>
            </a:r>
            <a:r>
              <a:rPr lang="en-US" sz="2200" dirty="0" err="1">
                <a:solidFill>
                  <a:srgbClr val="C00000"/>
                </a:solidFill>
              </a:rPr>
              <a:t>fallo</a:t>
            </a:r>
            <a:r>
              <a:rPr lang="en-US" sz="2200" dirty="0">
                <a:solidFill>
                  <a:srgbClr val="C00000"/>
                </a:solidFill>
              </a:rPr>
              <a:t> de </a:t>
            </a:r>
            <a:r>
              <a:rPr lang="en-US" sz="2200" dirty="0" err="1">
                <a:solidFill>
                  <a:srgbClr val="C00000"/>
                </a:solidFill>
              </a:rPr>
              <a:t>disponibilidad</a:t>
            </a:r>
            <a:r>
              <a:rPr lang="en-US" sz="2200" dirty="0"/>
              <a:t>)</a:t>
            </a:r>
          </a:p>
          <a:p>
            <a:pPr lvl="1"/>
            <a:r>
              <a:rPr lang="en-US" sz="2200" dirty="0" err="1"/>
              <a:t>Puede</a:t>
            </a:r>
            <a:r>
              <a:rPr lang="en-US" sz="2200" dirty="0"/>
              <a:t> </a:t>
            </a:r>
            <a:r>
              <a:rPr lang="en-US" sz="2200" dirty="0" err="1"/>
              <a:t>dar</a:t>
            </a:r>
            <a:r>
              <a:rPr lang="en-US" sz="2200" dirty="0"/>
              <a:t> </a:t>
            </a:r>
            <a:r>
              <a:rPr lang="en-US" sz="2200" dirty="0" err="1"/>
              <a:t>una</a:t>
            </a:r>
            <a:r>
              <a:rPr lang="en-US" sz="2200" dirty="0"/>
              <a:t> </a:t>
            </a:r>
            <a:r>
              <a:rPr lang="en-US" sz="2200" dirty="0" err="1"/>
              <a:t>respuesta</a:t>
            </a:r>
            <a:r>
              <a:rPr lang="en-US" sz="2200" dirty="0"/>
              <a:t> </a:t>
            </a:r>
            <a:r>
              <a:rPr lang="en-US" sz="2200" dirty="0" err="1"/>
              <a:t>incorrecta</a:t>
            </a:r>
            <a:r>
              <a:rPr lang="en-US" sz="2200" dirty="0"/>
              <a:t> (</a:t>
            </a:r>
            <a:r>
              <a:rPr lang="en-US" sz="2200" dirty="0" err="1">
                <a:solidFill>
                  <a:srgbClr val="C00000"/>
                </a:solidFill>
              </a:rPr>
              <a:t>fallo</a:t>
            </a:r>
            <a:r>
              <a:rPr lang="en-US" sz="2200" dirty="0">
                <a:solidFill>
                  <a:srgbClr val="C00000"/>
                </a:solidFill>
              </a:rPr>
              <a:t> de </a:t>
            </a:r>
            <a:r>
              <a:rPr lang="en-US" sz="2200" dirty="0" err="1">
                <a:solidFill>
                  <a:srgbClr val="C00000"/>
                </a:solidFill>
              </a:rPr>
              <a:t>fiabilidad</a:t>
            </a:r>
            <a:r>
              <a:rPr lang="en-US" sz="2200" dirty="0"/>
              <a:t>)</a:t>
            </a:r>
          </a:p>
          <a:p>
            <a:r>
              <a:rPr lang="en-US" sz="2600" dirty="0" err="1"/>
              <a:t>Incrementar</a:t>
            </a:r>
            <a:r>
              <a:rPr lang="en-US" sz="2600" dirty="0"/>
              <a:t> la </a:t>
            </a:r>
            <a:r>
              <a:rPr lang="en-US" sz="2600" dirty="0" err="1"/>
              <a:t>disponibilidad</a:t>
            </a:r>
            <a:r>
              <a:rPr lang="en-US" sz="2600" dirty="0"/>
              <a:t> reduce la </a:t>
            </a:r>
            <a:r>
              <a:rPr lang="en-US" sz="2600" dirty="0" err="1"/>
              <a:t>fiabilidad</a:t>
            </a:r>
            <a:r>
              <a:rPr lang="en-US" sz="2600" dirty="0"/>
              <a:t> y </a:t>
            </a:r>
            <a:r>
              <a:rPr lang="en-US" sz="2600" dirty="0" err="1"/>
              <a:t>viceversa</a:t>
            </a:r>
            <a:endParaRPr lang="en-US" sz="2600" dirty="0"/>
          </a:p>
          <a:p>
            <a:r>
              <a:rPr lang="en-US" sz="2600" dirty="0" err="1"/>
              <a:t>Ej</a:t>
            </a:r>
            <a:r>
              <a:rPr lang="en-US" sz="2600" dirty="0"/>
              <a:t>. </a:t>
            </a:r>
            <a:r>
              <a:rPr lang="en-US" sz="2600" dirty="0" err="1"/>
              <a:t>consideremos</a:t>
            </a:r>
            <a:r>
              <a:rPr lang="en-US" sz="2600" dirty="0"/>
              <a:t> un </a:t>
            </a:r>
            <a:r>
              <a:rPr lang="en-US" sz="2600" dirty="0" err="1"/>
              <a:t>servidor</a:t>
            </a:r>
            <a:r>
              <a:rPr lang="en-US" sz="2600" dirty="0"/>
              <a:t> que </a:t>
            </a:r>
            <a:r>
              <a:rPr lang="en-US" sz="2600" dirty="0" err="1"/>
              <a:t>realiza</a:t>
            </a:r>
            <a:r>
              <a:rPr lang="en-US" sz="2600" dirty="0"/>
              <a:t> </a:t>
            </a:r>
            <a:r>
              <a:rPr lang="en-US" sz="2600" dirty="0" err="1"/>
              <a:t>algún</a:t>
            </a:r>
            <a:r>
              <a:rPr lang="en-US" sz="2600" dirty="0"/>
              <a:t> </a:t>
            </a:r>
            <a:r>
              <a:rPr lang="en-US" sz="2600" dirty="0" err="1"/>
              <a:t>cálculo</a:t>
            </a:r>
            <a:endParaRPr lang="en-US" sz="2600" dirty="0"/>
          </a:p>
          <a:p>
            <a:pPr lvl="1"/>
            <a:r>
              <a:rPr lang="en-US" sz="2200" dirty="0" err="1"/>
              <a:t>Podemos</a:t>
            </a:r>
            <a:r>
              <a:rPr lang="en-US" sz="2200" dirty="0"/>
              <a:t> </a:t>
            </a:r>
            <a:r>
              <a:rPr lang="en-US" sz="2200" dirty="0" err="1"/>
              <a:t>incrementar</a:t>
            </a:r>
            <a:r>
              <a:rPr lang="en-US" sz="2200" dirty="0"/>
              <a:t> la </a:t>
            </a:r>
            <a:r>
              <a:rPr lang="en-US" sz="2200" dirty="0" err="1"/>
              <a:t>fiabilidad</a:t>
            </a:r>
            <a:r>
              <a:rPr lang="en-US" sz="2200" dirty="0"/>
              <a:t> </a:t>
            </a:r>
            <a:r>
              <a:rPr lang="en-US" sz="2200" dirty="0" err="1"/>
              <a:t>haciendo</a:t>
            </a:r>
            <a:r>
              <a:rPr lang="en-US" sz="2200" dirty="0"/>
              <a:t> </a:t>
            </a:r>
            <a:r>
              <a:rPr lang="en-US" sz="2200" dirty="0" err="1"/>
              <a:t>que</a:t>
            </a:r>
            <a:r>
              <a:rPr lang="en-US" sz="2200" dirty="0"/>
              <a:t> dos </a:t>
            </a:r>
            <a:r>
              <a:rPr lang="en-US" sz="2200" dirty="0" err="1"/>
              <a:t>servidores</a:t>
            </a:r>
            <a:r>
              <a:rPr lang="en-US" sz="2200" dirty="0"/>
              <a:t> </a:t>
            </a:r>
            <a:r>
              <a:rPr lang="en-US" sz="2200" dirty="0" err="1"/>
              <a:t>realizen</a:t>
            </a:r>
            <a:r>
              <a:rPr lang="en-US" sz="2200" dirty="0"/>
              <a:t> </a:t>
            </a:r>
            <a:r>
              <a:rPr lang="en-US" sz="2200" dirty="0" err="1"/>
              <a:t>dicho</a:t>
            </a:r>
            <a:r>
              <a:rPr lang="en-US" sz="2200" dirty="0"/>
              <a:t> </a:t>
            </a:r>
            <a:r>
              <a:rPr lang="en-US" sz="2200" dirty="0" err="1"/>
              <a:t>cálculo</a:t>
            </a:r>
            <a:r>
              <a:rPr lang="en-US" sz="2200" dirty="0"/>
              <a:t> y </a:t>
            </a:r>
            <a:r>
              <a:rPr lang="en-US" sz="2200" dirty="0" err="1"/>
              <a:t>comparar</a:t>
            </a:r>
            <a:r>
              <a:rPr lang="en-US" sz="2200" dirty="0"/>
              <a:t> </a:t>
            </a:r>
            <a:r>
              <a:rPr lang="en-US" sz="2200" dirty="0" err="1"/>
              <a:t>las</a:t>
            </a:r>
            <a:r>
              <a:rPr lang="en-US" sz="2200" dirty="0"/>
              <a:t> </a:t>
            </a:r>
            <a:r>
              <a:rPr lang="en-US" sz="2200" dirty="0" err="1"/>
              <a:t>respuestas</a:t>
            </a:r>
            <a:r>
              <a:rPr lang="en-US" sz="2200" dirty="0"/>
              <a:t>.</a:t>
            </a:r>
          </a:p>
          <a:p>
            <a:pPr lvl="1"/>
            <a:r>
              <a:rPr lang="en-US" sz="2200" dirty="0"/>
              <a:t>Es </a:t>
            </a:r>
            <a:r>
              <a:rPr lang="en-US" sz="2200" dirty="0" err="1"/>
              <a:t>una</a:t>
            </a:r>
            <a:r>
              <a:rPr lang="en-US" sz="2200" dirty="0"/>
              <a:t> </a:t>
            </a:r>
            <a:r>
              <a:rPr lang="en-US" sz="2200" dirty="0" err="1"/>
              <a:t>técnica</a:t>
            </a:r>
            <a:r>
              <a:rPr lang="en-US" sz="2200" dirty="0"/>
              <a:t> </a:t>
            </a:r>
            <a:r>
              <a:rPr lang="en-US" sz="2200" dirty="0" err="1"/>
              <a:t>muuuy</a:t>
            </a:r>
            <a:r>
              <a:rPr lang="en-US" sz="2200" dirty="0"/>
              <a:t> </a:t>
            </a:r>
            <a:r>
              <a:rPr lang="en-US" sz="2200" dirty="0" err="1"/>
              <a:t>antigua</a:t>
            </a:r>
            <a:r>
              <a:rPr lang="en-US" sz="2200" dirty="0"/>
              <a:t> y </a:t>
            </a:r>
            <a:r>
              <a:rPr lang="en-US" sz="2200" dirty="0" err="1"/>
              <a:t>utilizada</a:t>
            </a:r>
            <a:r>
              <a:rPr lang="en-US" sz="2200" dirty="0"/>
              <a:t>:</a:t>
            </a:r>
          </a:p>
          <a:p>
            <a:pPr lvl="1">
              <a:buNone/>
            </a:pPr>
            <a:endParaRPr lang="en-US" dirty="0"/>
          </a:p>
          <a:p>
            <a:pPr lvl="1"/>
            <a:endParaRPr lang="en-U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27</a:t>
            </a:fld>
            <a:endParaRPr lang="es-ES"/>
          </a:p>
        </p:txBody>
      </p:sp>
      <p:sp>
        <p:nvSpPr>
          <p:cNvPr id="5" name="4 CuadroTexto"/>
          <p:cNvSpPr txBox="1"/>
          <p:nvPr/>
        </p:nvSpPr>
        <p:spPr>
          <a:xfrm>
            <a:off x="1271464" y="5237693"/>
            <a:ext cx="9878888" cy="1477328"/>
          </a:xfrm>
          <a:prstGeom prst="rect">
            <a:avLst/>
          </a:pr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lin ang="2700000" scaled="1"/>
            <a:tileRect/>
          </a:gradFill>
        </p:spPr>
        <p:txBody>
          <a:bodyPr wrap="square" rtlCol="0">
            <a:spAutoFit/>
          </a:bodyPr>
          <a:lstStyle/>
          <a:p>
            <a:r>
              <a:rPr lang="en-US" dirty="0"/>
              <a:t>When the formula is very complicated, it may be algebraically arranged for computation in two or more distinct ways, and two or more sets of cards may be made. If the same constants are now employed with each set, and if under these circumstances the results agree, we may be quite secure in the accuracy of them.</a:t>
            </a:r>
          </a:p>
          <a:p>
            <a:r>
              <a:rPr lang="es-ES" b="1" dirty="0">
                <a:solidFill>
                  <a:srgbClr val="FF0000"/>
                </a:solidFill>
              </a:rPr>
              <a:t>Charles </a:t>
            </a:r>
            <a:r>
              <a:rPr lang="es-ES" b="1" dirty="0" err="1">
                <a:solidFill>
                  <a:srgbClr val="FF0000"/>
                </a:solidFill>
              </a:rPr>
              <a:t>Babbage</a:t>
            </a:r>
            <a:r>
              <a:rPr lang="es-ES" b="1" dirty="0">
                <a:solidFill>
                  <a:srgbClr val="FF0000"/>
                </a:solidFill>
              </a:rPr>
              <a:t>, 1837</a:t>
            </a:r>
            <a:endParaRPr lang="en-US" b="1" dirty="0">
              <a:solidFill>
                <a:srgbClr val="FF0000"/>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dirty="0">
                <a:solidFill>
                  <a:srgbClr val="0070C0"/>
                </a:solidFill>
              </a:rPr>
              <a:t>Disponibilidad, Fiabilidad y </a:t>
            </a:r>
            <a:r>
              <a:rPr lang="es-ES" sz="2800" dirty="0" err="1">
                <a:solidFill>
                  <a:srgbClr val="0070C0"/>
                </a:solidFill>
              </a:rPr>
              <a:t>Predecibilidad</a:t>
            </a:r>
            <a:endParaRPr lang="es-ES" sz="2800" dirty="0">
              <a:solidFill>
                <a:srgbClr val="0070C0"/>
              </a:solidFill>
            </a:endParaRPr>
          </a:p>
        </p:txBody>
      </p:sp>
      <p:sp>
        <p:nvSpPr>
          <p:cNvPr id="3" name="2 Marcador de contenido"/>
          <p:cNvSpPr>
            <a:spLocks noGrp="1"/>
          </p:cNvSpPr>
          <p:nvPr>
            <p:ph idx="1"/>
          </p:nvPr>
        </p:nvSpPr>
        <p:spPr>
          <a:xfrm>
            <a:off x="609600" y="1600200"/>
            <a:ext cx="10972800" cy="4565104"/>
          </a:xfrm>
        </p:spPr>
        <p:txBody>
          <a:bodyPr>
            <a:normAutofit fontScale="92500" lnSpcReduction="20000"/>
          </a:bodyPr>
          <a:lstStyle/>
          <a:p>
            <a:r>
              <a:rPr lang="es-ES" sz="2800" dirty="0">
                <a:solidFill>
                  <a:srgbClr val="C00000"/>
                </a:solidFill>
              </a:rPr>
              <a:t>Disponibilidad</a:t>
            </a:r>
            <a:r>
              <a:rPr lang="es-ES" sz="2800" dirty="0">
                <a:solidFill>
                  <a:srgbClr val="0070C0"/>
                </a:solidFill>
              </a:rPr>
              <a:t> </a:t>
            </a:r>
            <a:r>
              <a:rPr lang="es-ES" sz="2800" dirty="0"/>
              <a:t>y </a:t>
            </a:r>
            <a:r>
              <a:rPr lang="es-ES" sz="2800" dirty="0">
                <a:solidFill>
                  <a:srgbClr val="C00000"/>
                </a:solidFill>
              </a:rPr>
              <a:t>confianza/</a:t>
            </a:r>
            <a:r>
              <a:rPr lang="es-ES" sz="2800" dirty="0" err="1">
                <a:solidFill>
                  <a:srgbClr val="C00000"/>
                </a:solidFill>
              </a:rPr>
              <a:t>predecibilidad</a:t>
            </a:r>
            <a:r>
              <a:rPr lang="es-ES" sz="2800" dirty="0">
                <a:solidFill>
                  <a:srgbClr val="C00000"/>
                </a:solidFill>
              </a:rPr>
              <a:t> </a:t>
            </a:r>
            <a:r>
              <a:rPr lang="es-ES" sz="2800" dirty="0"/>
              <a:t>están normalmente contrapuestas:</a:t>
            </a:r>
          </a:p>
          <a:p>
            <a:pPr lvl="1"/>
            <a:r>
              <a:rPr lang="es-ES" sz="2400" dirty="0"/>
              <a:t>Un incremento en la fiabilidad normalmente reduce la disponibilidad (ej. en el caso anterior si uno de los servidores falla, la respuesta no </a:t>
            </a:r>
            <a:r>
              <a:rPr lang="es-ES" sz="2400" dirty="0" err="1"/>
              <a:t>estaria</a:t>
            </a:r>
            <a:r>
              <a:rPr lang="es-ES" sz="2400" dirty="0"/>
              <a:t> disponible)</a:t>
            </a:r>
          </a:p>
          <a:p>
            <a:pPr lvl="2"/>
            <a:r>
              <a:rPr lang="en-US" dirty="0"/>
              <a:t>Es </a:t>
            </a:r>
            <a:r>
              <a:rPr lang="en-US" dirty="0" err="1"/>
              <a:t>fácil</a:t>
            </a:r>
            <a:r>
              <a:rPr lang="en-US" dirty="0"/>
              <a:t> </a:t>
            </a:r>
            <a:r>
              <a:rPr lang="en-US" dirty="0" err="1"/>
              <a:t>encontar</a:t>
            </a:r>
            <a:r>
              <a:rPr lang="en-US" dirty="0"/>
              <a:t> </a:t>
            </a:r>
            <a:r>
              <a:rPr lang="en-US" dirty="0" err="1"/>
              <a:t>casos</a:t>
            </a:r>
            <a:r>
              <a:rPr lang="en-US" dirty="0"/>
              <a:t> en los </a:t>
            </a:r>
            <a:r>
              <a:rPr lang="en-US" dirty="0" err="1"/>
              <a:t>que</a:t>
            </a:r>
            <a:r>
              <a:rPr lang="en-US" dirty="0"/>
              <a:t> la </a:t>
            </a:r>
            <a:r>
              <a:rPr lang="en-US" dirty="0" err="1"/>
              <a:t>fiabilidad</a:t>
            </a:r>
            <a:r>
              <a:rPr lang="en-US" dirty="0"/>
              <a:t> </a:t>
            </a:r>
            <a:r>
              <a:rPr lang="en-US" dirty="0" err="1"/>
              <a:t>es</a:t>
            </a:r>
            <a:r>
              <a:rPr lang="en-US" dirty="0"/>
              <a:t> </a:t>
            </a:r>
            <a:r>
              <a:rPr lang="en-US" dirty="0" err="1"/>
              <a:t>más</a:t>
            </a:r>
            <a:r>
              <a:rPr lang="en-US" dirty="0"/>
              <a:t> </a:t>
            </a:r>
            <a:r>
              <a:rPr lang="en-US" dirty="0" err="1"/>
              <a:t>importante</a:t>
            </a:r>
            <a:r>
              <a:rPr lang="en-US" dirty="0"/>
              <a:t> </a:t>
            </a:r>
            <a:r>
              <a:rPr lang="en-US" dirty="0" err="1"/>
              <a:t>que</a:t>
            </a:r>
            <a:r>
              <a:rPr lang="en-US" dirty="0"/>
              <a:t> la </a:t>
            </a:r>
            <a:r>
              <a:rPr lang="en-US" dirty="0" err="1"/>
              <a:t>disponibilidad</a:t>
            </a:r>
            <a:r>
              <a:rPr lang="en-US" dirty="0"/>
              <a:t>, </a:t>
            </a:r>
            <a:r>
              <a:rPr lang="en-US" dirty="0" err="1"/>
              <a:t>pero</a:t>
            </a:r>
            <a:r>
              <a:rPr lang="en-US" dirty="0"/>
              <a:t> </a:t>
            </a:r>
            <a:r>
              <a:rPr lang="en-US" dirty="0" err="1"/>
              <a:t>también</a:t>
            </a:r>
            <a:r>
              <a:rPr lang="en-US" dirty="0"/>
              <a:t> </a:t>
            </a:r>
            <a:r>
              <a:rPr lang="en-US" dirty="0" err="1"/>
              <a:t>ocurre</a:t>
            </a:r>
            <a:r>
              <a:rPr lang="en-US" dirty="0"/>
              <a:t> al </a:t>
            </a:r>
            <a:r>
              <a:rPr lang="en-US" dirty="0" err="1"/>
              <a:t>contrario</a:t>
            </a:r>
            <a:r>
              <a:rPr lang="en-US" dirty="0"/>
              <a:t> (</a:t>
            </a:r>
            <a:r>
              <a:rPr lang="en-US" dirty="0" err="1"/>
              <a:t>ej</a:t>
            </a:r>
            <a:r>
              <a:rPr lang="en-US" dirty="0"/>
              <a:t>.</a:t>
            </a:r>
            <a:r>
              <a:rPr lang="en-US" dirty="0">
                <a:solidFill>
                  <a:srgbClr val="0070C0"/>
                </a:solidFill>
              </a:rPr>
              <a:t> un </a:t>
            </a:r>
            <a:r>
              <a:rPr lang="en-US" dirty="0" err="1">
                <a:solidFill>
                  <a:srgbClr val="0070C0"/>
                </a:solidFill>
              </a:rPr>
              <a:t>coche</a:t>
            </a:r>
            <a:r>
              <a:rPr lang="en-US" dirty="0">
                <a:solidFill>
                  <a:srgbClr val="0070C0"/>
                </a:solidFill>
              </a:rPr>
              <a:t> sin </a:t>
            </a:r>
            <a:r>
              <a:rPr lang="en-US" dirty="0" err="1">
                <a:solidFill>
                  <a:srgbClr val="0070C0"/>
                </a:solidFill>
              </a:rPr>
              <a:t>frenos</a:t>
            </a:r>
            <a:r>
              <a:rPr lang="en-US" dirty="0">
                <a:solidFill>
                  <a:srgbClr val="0070C0"/>
                </a:solidFill>
              </a:rPr>
              <a:t> y al </a:t>
            </a:r>
            <a:r>
              <a:rPr lang="en-US" dirty="0" err="1">
                <a:solidFill>
                  <a:srgbClr val="0070C0"/>
                </a:solidFill>
              </a:rPr>
              <a:t>que</a:t>
            </a:r>
            <a:r>
              <a:rPr lang="en-US" dirty="0">
                <a:solidFill>
                  <a:srgbClr val="0070C0"/>
                </a:solidFill>
              </a:rPr>
              <a:t> no le </a:t>
            </a:r>
            <a:r>
              <a:rPr lang="en-US" dirty="0" err="1">
                <a:solidFill>
                  <a:srgbClr val="0070C0"/>
                </a:solidFill>
              </a:rPr>
              <a:t>funciona</a:t>
            </a:r>
            <a:r>
              <a:rPr lang="en-US" dirty="0">
                <a:solidFill>
                  <a:srgbClr val="0070C0"/>
                </a:solidFill>
              </a:rPr>
              <a:t> el </a:t>
            </a:r>
            <a:r>
              <a:rPr lang="en-US" dirty="0" err="1">
                <a:solidFill>
                  <a:srgbClr val="0070C0"/>
                </a:solidFill>
              </a:rPr>
              <a:t>arranque</a:t>
            </a:r>
            <a:r>
              <a:rPr lang="en-US" dirty="0"/>
              <a:t> )</a:t>
            </a:r>
            <a:endParaRPr lang="en-US" dirty="0">
              <a:solidFill>
                <a:srgbClr val="0070C0"/>
              </a:solidFill>
            </a:endParaRPr>
          </a:p>
          <a:p>
            <a:pPr lvl="2"/>
            <a:r>
              <a:rPr lang="en-US" dirty="0" err="1"/>
              <a:t>Una</a:t>
            </a:r>
            <a:r>
              <a:rPr lang="en-US" dirty="0"/>
              <a:t> </a:t>
            </a:r>
            <a:r>
              <a:rPr lang="en-US" dirty="0" err="1"/>
              <a:t>alta</a:t>
            </a:r>
            <a:r>
              <a:rPr lang="en-US" dirty="0"/>
              <a:t> </a:t>
            </a:r>
            <a:r>
              <a:rPr lang="en-US" dirty="0" err="1"/>
              <a:t>fiabilidad</a:t>
            </a:r>
            <a:r>
              <a:rPr lang="en-US" dirty="0"/>
              <a:t> (</a:t>
            </a:r>
            <a:r>
              <a:rPr lang="en-US" dirty="0" err="1"/>
              <a:t>ej</a:t>
            </a:r>
            <a:r>
              <a:rPr lang="en-US" dirty="0"/>
              <a:t>. </a:t>
            </a:r>
            <a:r>
              <a:rPr lang="en-US" dirty="0" err="1"/>
              <a:t>probabilidad</a:t>
            </a:r>
            <a:r>
              <a:rPr lang="en-US" dirty="0"/>
              <a:t> de </a:t>
            </a:r>
            <a:r>
              <a:rPr lang="en-US" dirty="0" err="1"/>
              <a:t>fallo</a:t>
            </a:r>
            <a:r>
              <a:rPr lang="en-US" dirty="0"/>
              <a:t> 10</a:t>
            </a:r>
            <a:r>
              <a:rPr lang="en-US" baseline="30000" dirty="0"/>
              <a:t>-x</a:t>
            </a:r>
            <a:r>
              <a:rPr lang="en-US" dirty="0"/>
              <a:t>) no </a:t>
            </a:r>
            <a:r>
              <a:rPr lang="en-US" dirty="0" err="1"/>
              <a:t>garantiza</a:t>
            </a:r>
            <a:r>
              <a:rPr lang="en-US" dirty="0"/>
              <a:t> un </a:t>
            </a:r>
            <a:r>
              <a:rPr lang="en-US" dirty="0" err="1"/>
              <a:t>sistema</a:t>
            </a:r>
            <a:r>
              <a:rPr lang="en-US" dirty="0"/>
              <a:t> </a:t>
            </a:r>
            <a:r>
              <a:rPr lang="en-US" dirty="0" err="1"/>
              <a:t>seguro</a:t>
            </a:r>
            <a:endParaRPr lang="en-US" dirty="0"/>
          </a:p>
          <a:p>
            <a:pPr lvl="2"/>
            <a:r>
              <a:rPr lang="en-US" dirty="0"/>
              <a:t>El </a:t>
            </a:r>
            <a:r>
              <a:rPr lang="en-US" dirty="0" err="1"/>
              <a:t>enfoque</a:t>
            </a:r>
            <a:r>
              <a:rPr lang="en-US" dirty="0"/>
              <a:t> de </a:t>
            </a:r>
            <a:r>
              <a:rPr lang="en-US" dirty="0" err="1"/>
              <a:t>trabajar</a:t>
            </a:r>
            <a:r>
              <a:rPr lang="en-US" dirty="0"/>
              <a:t> solo en </a:t>
            </a:r>
            <a:r>
              <a:rPr lang="en-US" dirty="0" err="1"/>
              <a:t>incrementar</a:t>
            </a:r>
            <a:r>
              <a:rPr lang="en-US" dirty="0"/>
              <a:t> la </a:t>
            </a:r>
            <a:r>
              <a:rPr lang="en-US" dirty="0" err="1"/>
              <a:t>fiabilidad</a:t>
            </a:r>
            <a:r>
              <a:rPr lang="en-US" dirty="0"/>
              <a:t> de los </a:t>
            </a:r>
            <a:r>
              <a:rPr lang="en-US" dirty="0" err="1"/>
              <a:t>componentes</a:t>
            </a:r>
            <a:r>
              <a:rPr lang="en-US" dirty="0"/>
              <a:t> es un </a:t>
            </a:r>
            <a:r>
              <a:rPr lang="en-US" dirty="0" err="1"/>
              <a:t>enfoque</a:t>
            </a:r>
            <a:r>
              <a:rPr lang="en-US" dirty="0"/>
              <a:t> </a:t>
            </a:r>
            <a:r>
              <a:rPr lang="en-US" dirty="0" err="1"/>
              <a:t>inapropiado</a:t>
            </a:r>
            <a:r>
              <a:rPr lang="en-US" dirty="0"/>
              <a:t> en </a:t>
            </a:r>
            <a:r>
              <a:rPr lang="en-US" dirty="0" err="1"/>
              <a:t>estos</a:t>
            </a:r>
            <a:r>
              <a:rPr lang="en-US" dirty="0"/>
              <a:t> </a:t>
            </a:r>
            <a:r>
              <a:rPr lang="en-US" dirty="0" err="1"/>
              <a:t>sistemas</a:t>
            </a:r>
            <a:endParaRPr lang="en-US" sz="2000" dirty="0"/>
          </a:p>
          <a:p>
            <a:pPr lvl="1"/>
            <a:r>
              <a:rPr lang="en-US" sz="2400" dirty="0"/>
              <a:t>En </a:t>
            </a:r>
            <a:r>
              <a:rPr lang="en-US" sz="2400" dirty="0" err="1"/>
              <a:t>el</a:t>
            </a:r>
            <a:r>
              <a:rPr lang="en-US" sz="2400" dirty="0"/>
              <a:t> </a:t>
            </a:r>
            <a:r>
              <a:rPr lang="en-US" sz="2400" dirty="0" err="1"/>
              <a:t>caso</a:t>
            </a:r>
            <a:r>
              <a:rPr lang="en-US" sz="2400" dirty="0"/>
              <a:t> de las </a:t>
            </a:r>
            <a:r>
              <a:rPr lang="en-US" sz="2400" dirty="0" err="1"/>
              <a:t>pruebas</a:t>
            </a:r>
            <a:r>
              <a:rPr lang="en-US" sz="2400" dirty="0"/>
              <a:t> ¿es </a:t>
            </a:r>
            <a:r>
              <a:rPr lang="en-US" sz="2400" dirty="0" err="1"/>
              <a:t>más</a:t>
            </a:r>
            <a:r>
              <a:rPr lang="en-US" sz="2400" dirty="0"/>
              <a:t> </a:t>
            </a:r>
            <a:r>
              <a:rPr lang="en-US" sz="2400" dirty="0" err="1"/>
              <a:t>difícil</a:t>
            </a:r>
            <a:r>
              <a:rPr lang="en-US" sz="2400" dirty="0"/>
              <a:t> saber </a:t>
            </a:r>
            <a:r>
              <a:rPr lang="en-US" sz="2400" dirty="0" err="1"/>
              <a:t>si</a:t>
            </a:r>
            <a:r>
              <a:rPr lang="en-US" sz="2400" dirty="0"/>
              <a:t> un </a:t>
            </a:r>
            <a:r>
              <a:rPr lang="en-US" sz="2400" dirty="0" err="1"/>
              <a:t>servicio</a:t>
            </a:r>
            <a:r>
              <a:rPr lang="en-US" sz="2400" dirty="0"/>
              <a:t> es </a:t>
            </a:r>
            <a:r>
              <a:rPr lang="en-US" sz="2400" dirty="0" err="1"/>
              <a:t>accesible</a:t>
            </a:r>
            <a:r>
              <a:rPr lang="en-US" sz="2400" dirty="0"/>
              <a:t> o </a:t>
            </a:r>
            <a:r>
              <a:rPr lang="en-US" sz="2400" dirty="0" err="1"/>
              <a:t>fiable</a:t>
            </a:r>
            <a:r>
              <a:rPr lang="en-US" sz="2400" dirty="0"/>
              <a:t>?</a:t>
            </a:r>
          </a:p>
          <a:p>
            <a:pPr lvl="2"/>
            <a:r>
              <a:rPr lang="en-US" sz="2000" dirty="0"/>
              <a:t>Las </a:t>
            </a:r>
            <a:r>
              <a:rPr lang="en-US" sz="2000" dirty="0" err="1"/>
              <a:t>pruebas</a:t>
            </a:r>
            <a:r>
              <a:rPr lang="en-US" sz="2000" dirty="0"/>
              <a:t> se </a:t>
            </a:r>
            <a:r>
              <a:rPr lang="en-US" sz="2000" dirty="0" err="1"/>
              <a:t>centran</a:t>
            </a:r>
            <a:r>
              <a:rPr lang="en-US" sz="2000" dirty="0"/>
              <a:t> en la </a:t>
            </a:r>
            <a:r>
              <a:rPr lang="en-US" sz="2000" dirty="0" err="1"/>
              <a:t>fiabilidad</a:t>
            </a:r>
            <a:r>
              <a:rPr lang="en-US" sz="2000" dirty="0"/>
              <a:t>, ¿</a:t>
            </a:r>
            <a:r>
              <a:rPr lang="en-US" sz="2000" dirty="0" err="1"/>
              <a:t>por</a:t>
            </a:r>
            <a:r>
              <a:rPr lang="en-US" sz="2000" dirty="0"/>
              <a:t> </a:t>
            </a:r>
            <a:r>
              <a:rPr lang="en-US" sz="2000" dirty="0" err="1"/>
              <a:t>qué</a:t>
            </a:r>
            <a:r>
              <a:rPr lang="en-US" sz="2000" dirty="0"/>
              <a:t>?</a:t>
            </a:r>
          </a:p>
          <a:p>
            <a:r>
              <a:rPr lang="en-US" sz="2800" dirty="0"/>
              <a:t>El </a:t>
            </a:r>
            <a:r>
              <a:rPr lang="en-US" sz="2800" dirty="0" err="1"/>
              <a:t>concepto</a:t>
            </a:r>
            <a:r>
              <a:rPr lang="en-US" sz="2800" dirty="0"/>
              <a:t> de </a:t>
            </a:r>
            <a:r>
              <a:rPr lang="en-US" sz="2800" dirty="0" err="1">
                <a:solidFill>
                  <a:srgbClr val="C00000"/>
                </a:solidFill>
              </a:rPr>
              <a:t>confianza</a:t>
            </a:r>
            <a:r>
              <a:rPr lang="en-US" sz="2800" dirty="0"/>
              <a:t> (dependability) </a:t>
            </a:r>
            <a:r>
              <a:rPr lang="en-US" sz="2800" dirty="0" err="1"/>
              <a:t>combina</a:t>
            </a:r>
            <a:r>
              <a:rPr lang="en-US" sz="2800" dirty="0"/>
              <a:t> las dos  </a:t>
            </a:r>
            <a:r>
              <a:rPr lang="en-US" sz="2800" dirty="0" err="1"/>
              <a:t>propiedades</a:t>
            </a:r>
            <a:r>
              <a:rPr lang="en-US" sz="2800" dirty="0"/>
              <a:t>.</a:t>
            </a:r>
          </a:p>
          <a:p>
            <a:pPr lvl="1" algn="just"/>
            <a:r>
              <a:rPr lang="en-US" sz="2400" dirty="0"/>
              <a:t>Un </a:t>
            </a:r>
            <a:r>
              <a:rPr lang="en-US" sz="2400" dirty="0" err="1"/>
              <a:t>sistema</a:t>
            </a:r>
            <a:r>
              <a:rPr lang="en-US" sz="2400" dirty="0"/>
              <a:t> es </a:t>
            </a:r>
            <a:r>
              <a:rPr lang="en-US" sz="2400" dirty="0" err="1">
                <a:solidFill>
                  <a:srgbClr val="C00000"/>
                </a:solidFill>
              </a:rPr>
              <a:t>confiable</a:t>
            </a:r>
            <a:r>
              <a:rPr lang="en-US" sz="2400" dirty="0">
                <a:solidFill>
                  <a:srgbClr val="C00000"/>
                </a:solidFill>
              </a:rPr>
              <a:t>/</a:t>
            </a:r>
            <a:r>
              <a:rPr lang="en-US" sz="2400" dirty="0" err="1">
                <a:solidFill>
                  <a:srgbClr val="C00000"/>
                </a:solidFill>
              </a:rPr>
              <a:t>predecible</a:t>
            </a:r>
            <a:r>
              <a:rPr lang="en-US" sz="2400" dirty="0"/>
              <a:t> </a:t>
            </a:r>
            <a:r>
              <a:rPr lang="en-US" sz="2400" dirty="0" err="1"/>
              <a:t>si</a:t>
            </a:r>
            <a:r>
              <a:rPr lang="en-US" sz="2400" dirty="0"/>
              <a:t> </a:t>
            </a:r>
            <a:r>
              <a:rPr lang="en-US" sz="2400" dirty="0" err="1"/>
              <a:t>está</a:t>
            </a:r>
            <a:r>
              <a:rPr lang="en-US" sz="2400" dirty="0"/>
              <a:t> </a:t>
            </a:r>
            <a:r>
              <a:rPr lang="en-US" sz="2400" dirty="0">
                <a:solidFill>
                  <a:srgbClr val="C00000"/>
                </a:solidFill>
              </a:rPr>
              <a:t>disponible</a:t>
            </a:r>
            <a:r>
              <a:rPr lang="en-US" sz="2400" dirty="0"/>
              <a:t> y es </a:t>
            </a:r>
            <a:r>
              <a:rPr lang="en-US" sz="2400" dirty="0" err="1">
                <a:solidFill>
                  <a:srgbClr val="C00000"/>
                </a:solidFill>
              </a:rPr>
              <a:t>fiable</a:t>
            </a:r>
            <a:r>
              <a:rPr lang="en-US" sz="2400" dirty="0"/>
              <a:t> </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28</a:t>
            </a:fld>
            <a:endParaRPr lang="es-E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Disponibilidad</a:t>
            </a:r>
          </a:p>
        </p:txBody>
      </p:sp>
      <p:sp>
        <p:nvSpPr>
          <p:cNvPr id="3" name="2 Marcador de contenido"/>
          <p:cNvSpPr>
            <a:spLocks noGrp="1"/>
          </p:cNvSpPr>
          <p:nvPr>
            <p:ph idx="1"/>
          </p:nvPr>
        </p:nvSpPr>
        <p:spPr>
          <a:xfrm>
            <a:off x="1981200" y="1600200"/>
            <a:ext cx="8229600" cy="4756150"/>
          </a:xfrm>
        </p:spPr>
        <p:txBody>
          <a:bodyPr>
            <a:normAutofit/>
          </a:bodyPr>
          <a:lstStyle/>
          <a:p>
            <a:r>
              <a:rPr lang="es-ES" sz="2400" dirty="0"/>
              <a:t>La disponibilidad se suele medir en “nueves”, como porcentaje de tiempo en el que un determinado servicio o sistema está disponible</a:t>
            </a:r>
          </a:p>
          <a:p>
            <a:r>
              <a:rPr lang="es-ES" sz="2400" dirty="0"/>
              <a:t>Una disponibilidad de 3 9´s se considera aceptable en un sistema convencional y cualquier cosa por encima se considera como alta disponibilidad</a:t>
            </a:r>
          </a:p>
          <a:p>
            <a:pPr marL="0" indent="0">
              <a:buNone/>
            </a:pPr>
            <a:endParaRPr lang="en-US" sz="2400" dirty="0"/>
          </a:p>
          <a:p>
            <a:pPr lvl="1"/>
            <a:endParaRPr lang="en-U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29</a:t>
            </a:fld>
            <a:endParaRPr lang="es-ES"/>
          </a:p>
        </p:txBody>
      </p:sp>
      <p:graphicFrame>
        <p:nvGraphicFramePr>
          <p:cNvPr id="5" name="Table 5">
            <a:extLst>
              <a:ext uri="{FF2B5EF4-FFF2-40B4-BE49-F238E27FC236}">
                <a16:creationId xmlns:a16="http://schemas.microsoft.com/office/drawing/2014/main" id="{AF2C18BC-1D13-E396-0EB4-0D7CC65B6B50}"/>
              </a:ext>
            </a:extLst>
          </p:cNvPr>
          <p:cNvGraphicFramePr>
            <a:graphicFrameLocks noGrp="1"/>
          </p:cNvGraphicFramePr>
          <p:nvPr>
            <p:extLst>
              <p:ext uri="{D42A27DB-BD31-4B8C-83A1-F6EECF244321}">
                <p14:modId xmlns:p14="http://schemas.microsoft.com/office/powerpoint/2010/main" val="814769306"/>
              </p:ext>
            </p:extLst>
          </p:nvPr>
        </p:nvGraphicFramePr>
        <p:xfrm>
          <a:off x="2927648" y="3987243"/>
          <a:ext cx="6096000" cy="222504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424571290"/>
                    </a:ext>
                  </a:extLst>
                </a:gridCol>
                <a:gridCol w="3048000">
                  <a:extLst>
                    <a:ext uri="{9D8B030D-6E8A-4147-A177-3AD203B41FA5}">
                      <a16:colId xmlns:a16="http://schemas.microsoft.com/office/drawing/2014/main" val="325683954"/>
                    </a:ext>
                  </a:extLst>
                </a:gridCol>
              </a:tblGrid>
              <a:tr h="370840">
                <a:tc>
                  <a:txBody>
                    <a:bodyPr/>
                    <a:lstStyle/>
                    <a:p>
                      <a:r>
                        <a:rPr lang="en-ES" dirty="0"/>
                        <a:t>Disponibilidad %</a:t>
                      </a:r>
                    </a:p>
                  </a:txBody>
                  <a:tcPr/>
                </a:tc>
                <a:tc>
                  <a:txBody>
                    <a:bodyPr/>
                    <a:lstStyle/>
                    <a:p>
                      <a:r>
                        <a:rPr lang="en-ES" dirty="0"/>
                        <a:t>Tiempo de fallo por día</a:t>
                      </a:r>
                    </a:p>
                  </a:txBody>
                  <a:tcPr/>
                </a:tc>
                <a:extLst>
                  <a:ext uri="{0D108BD9-81ED-4DB2-BD59-A6C34878D82A}">
                    <a16:rowId xmlns:a16="http://schemas.microsoft.com/office/drawing/2014/main" val="1249988659"/>
                  </a:ext>
                </a:extLst>
              </a:tr>
              <a:tr h="370840">
                <a:tc>
                  <a:txBody>
                    <a:bodyPr/>
                    <a:lstStyle/>
                    <a:p>
                      <a:r>
                        <a:rPr lang="en-ES" dirty="0"/>
                        <a:t>90% (un nueve)</a:t>
                      </a:r>
                    </a:p>
                  </a:txBody>
                  <a:tcPr/>
                </a:tc>
                <a:tc>
                  <a:txBody>
                    <a:bodyPr/>
                    <a:lstStyle/>
                    <a:p>
                      <a:r>
                        <a:rPr lang="en-ES" dirty="0"/>
                        <a:t>2.40 horas</a:t>
                      </a:r>
                    </a:p>
                  </a:txBody>
                  <a:tcPr/>
                </a:tc>
                <a:extLst>
                  <a:ext uri="{0D108BD9-81ED-4DB2-BD59-A6C34878D82A}">
                    <a16:rowId xmlns:a16="http://schemas.microsoft.com/office/drawing/2014/main" val="4129416198"/>
                  </a:ext>
                </a:extLst>
              </a:tr>
              <a:tr h="370840">
                <a:tc>
                  <a:txBody>
                    <a:bodyPr/>
                    <a:lstStyle/>
                    <a:p>
                      <a:r>
                        <a:rPr lang="en-ES" dirty="0"/>
                        <a:t>99% (dos nueves)</a:t>
                      </a:r>
                    </a:p>
                  </a:txBody>
                  <a:tcPr/>
                </a:tc>
                <a:tc>
                  <a:txBody>
                    <a:bodyPr/>
                    <a:lstStyle/>
                    <a:p>
                      <a:r>
                        <a:rPr lang="en-ES" dirty="0"/>
                        <a:t>14.40 minutos</a:t>
                      </a:r>
                    </a:p>
                  </a:txBody>
                  <a:tcPr/>
                </a:tc>
                <a:extLst>
                  <a:ext uri="{0D108BD9-81ED-4DB2-BD59-A6C34878D82A}">
                    <a16:rowId xmlns:a16="http://schemas.microsoft.com/office/drawing/2014/main" val="175805469"/>
                  </a:ext>
                </a:extLst>
              </a:tr>
              <a:tr h="370840">
                <a:tc>
                  <a:txBody>
                    <a:bodyPr/>
                    <a:lstStyle/>
                    <a:p>
                      <a:r>
                        <a:rPr lang="en-ES" dirty="0"/>
                        <a:t>99.9%</a:t>
                      </a:r>
                    </a:p>
                  </a:txBody>
                  <a:tcPr/>
                </a:tc>
                <a:tc>
                  <a:txBody>
                    <a:bodyPr/>
                    <a:lstStyle/>
                    <a:p>
                      <a:r>
                        <a:rPr lang="en-ES" dirty="0"/>
                        <a:t>1.44 minutos</a:t>
                      </a:r>
                    </a:p>
                  </a:txBody>
                  <a:tcPr/>
                </a:tc>
                <a:extLst>
                  <a:ext uri="{0D108BD9-81ED-4DB2-BD59-A6C34878D82A}">
                    <a16:rowId xmlns:a16="http://schemas.microsoft.com/office/drawing/2014/main" val="990259657"/>
                  </a:ext>
                </a:extLst>
              </a:tr>
              <a:tr h="370840">
                <a:tc>
                  <a:txBody>
                    <a:bodyPr/>
                    <a:lstStyle/>
                    <a:p>
                      <a:r>
                        <a:rPr lang="en-ES" dirty="0"/>
                        <a:t>99.99%</a:t>
                      </a:r>
                    </a:p>
                  </a:txBody>
                  <a:tcPr/>
                </a:tc>
                <a:tc>
                  <a:txBody>
                    <a:bodyPr/>
                    <a:lstStyle/>
                    <a:p>
                      <a:r>
                        <a:rPr lang="en-ES" dirty="0"/>
                        <a:t>8.69 segundos</a:t>
                      </a:r>
                    </a:p>
                  </a:txBody>
                  <a:tcPr/>
                </a:tc>
                <a:extLst>
                  <a:ext uri="{0D108BD9-81ED-4DB2-BD59-A6C34878D82A}">
                    <a16:rowId xmlns:a16="http://schemas.microsoft.com/office/drawing/2014/main" val="3102824696"/>
                  </a:ext>
                </a:extLst>
              </a:tr>
              <a:tr h="370840">
                <a:tc>
                  <a:txBody>
                    <a:bodyPr/>
                    <a:lstStyle/>
                    <a:p>
                      <a:r>
                        <a:rPr lang="en-ES" dirty="0"/>
                        <a:t>99.999%</a:t>
                      </a:r>
                    </a:p>
                  </a:txBody>
                  <a:tcPr/>
                </a:tc>
                <a:tc>
                  <a:txBody>
                    <a:bodyPr/>
                    <a:lstStyle/>
                    <a:p>
                      <a:r>
                        <a:rPr lang="en-ES" dirty="0"/>
                        <a:t>864 milisegundos</a:t>
                      </a:r>
                    </a:p>
                  </a:txBody>
                  <a:tcPr/>
                </a:tc>
                <a:extLst>
                  <a:ext uri="{0D108BD9-81ED-4DB2-BD59-A6C34878D82A}">
                    <a16:rowId xmlns:a16="http://schemas.microsoft.com/office/drawing/2014/main" val="1606216677"/>
                  </a:ext>
                </a:extLst>
              </a:tr>
            </a:tbl>
          </a:graphicData>
        </a:graphic>
      </p:graphicFrame>
    </p:spTree>
    <p:extLst>
      <p:ext uri="{BB962C8B-B14F-4D97-AF65-F5344CB8AC3E}">
        <p14:creationId xmlns:p14="http://schemas.microsoft.com/office/powerpoint/2010/main" val="29356584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Seguridad funcional</a:t>
            </a:r>
          </a:p>
        </p:txBody>
      </p:sp>
      <p:sp>
        <p:nvSpPr>
          <p:cNvPr id="3" name="2 Marcador de contenido"/>
          <p:cNvSpPr>
            <a:spLocks noGrp="1"/>
          </p:cNvSpPr>
          <p:nvPr>
            <p:ph idx="1"/>
          </p:nvPr>
        </p:nvSpPr>
        <p:spPr/>
        <p:txBody>
          <a:bodyPr>
            <a:normAutofit/>
          </a:bodyPr>
          <a:lstStyle/>
          <a:p>
            <a:r>
              <a:rPr lang="en-US" sz="2600" dirty="0"/>
              <a:t>Un </a:t>
            </a:r>
            <a:r>
              <a:rPr lang="en-US" sz="2600" dirty="0" err="1"/>
              <a:t>sistema</a:t>
            </a:r>
            <a:r>
              <a:rPr lang="en-US" sz="2600" dirty="0"/>
              <a:t> </a:t>
            </a:r>
            <a:r>
              <a:rPr lang="en-US" sz="2600" dirty="0" err="1"/>
              <a:t>puede</a:t>
            </a:r>
            <a:r>
              <a:rPr lang="en-US" sz="2600" dirty="0"/>
              <a:t> </a:t>
            </a:r>
            <a:r>
              <a:rPr lang="en-US" sz="2600" dirty="0" err="1"/>
              <a:t>mejorar</a:t>
            </a:r>
            <a:r>
              <a:rPr lang="en-US" sz="2600" dirty="0"/>
              <a:t> </a:t>
            </a:r>
            <a:r>
              <a:rPr lang="en-US" sz="2600" dirty="0" err="1"/>
              <a:t>su</a:t>
            </a:r>
            <a:r>
              <a:rPr lang="en-US" sz="2600" dirty="0"/>
              <a:t> </a:t>
            </a:r>
            <a:r>
              <a:rPr lang="en-US" sz="2600" dirty="0" err="1"/>
              <a:t>seguridad</a:t>
            </a:r>
            <a:r>
              <a:rPr lang="en-US" sz="2600" dirty="0"/>
              <a:t> de dos </a:t>
            </a:r>
            <a:r>
              <a:rPr lang="en-US" sz="2600" dirty="0" err="1"/>
              <a:t>formas</a:t>
            </a:r>
            <a:r>
              <a:rPr lang="en-US" sz="2600" dirty="0"/>
              <a:t>:</a:t>
            </a:r>
          </a:p>
          <a:p>
            <a:pPr lvl="1"/>
            <a:r>
              <a:rPr lang="en-US" sz="2200" dirty="0" err="1"/>
              <a:t>porque</a:t>
            </a:r>
            <a:r>
              <a:rPr lang="en-US" sz="2200" dirty="0"/>
              <a:t> </a:t>
            </a:r>
            <a:r>
              <a:rPr lang="en-US" sz="2200" dirty="0" err="1"/>
              <a:t>incorpora</a:t>
            </a:r>
            <a:r>
              <a:rPr lang="en-US" sz="2200" dirty="0"/>
              <a:t> </a:t>
            </a:r>
            <a:r>
              <a:rPr lang="en-US" sz="2200" dirty="0" err="1"/>
              <a:t>sistemas</a:t>
            </a:r>
            <a:r>
              <a:rPr lang="en-US" sz="2200" dirty="0"/>
              <a:t> </a:t>
            </a:r>
            <a:r>
              <a:rPr lang="en-US" sz="2200" dirty="0" err="1"/>
              <a:t>pasivos</a:t>
            </a:r>
            <a:r>
              <a:rPr lang="en-US" sz="2200" dirty="0"/>
              <a:t> de </a:t>
            </a:r>
            <a:r>
              <a:rPr lang="en-US" sz="2200" dirty="0" err="1"/>
              <a:t>seguridad</a:t>
            </a:r>
            <a:r>
              <a:rPr lang="en-US" sz="2200" dirty="0"/>
              <a:t> que </a:t>
            </a:r>
            <a:r>
              <a:rPr lang="en-US" sz="2200" dirty="0" err="1"/>
              <a:t>evitan</a:t>
            </a:r>
            <a:r>
              <a:rPr lang="en-US" sz="2200" dirty="0"/>
              <a:t> que el </a:t>
            </a:r>
            <a:r>
              <a:rPr lang="en-US" sz="2200" dirty="0" err="1"/>
              <a:t>sistema</a:t>
            </a:r>
            <a:r>
              <a:rPr lang="en-US" sz="2200" dirty="0"/>
              <a:t> </a:t>
            </a:r>
            <a:r>
              <a:rPr lang="en-US" sz="2200" dirty="0" err="1"/>
              <a:t>pueda</a:t>
            </a:r>
            <a:r>
              <a:rPr lang="en-US" sz="2200" dirty="0"/>
              <a:t> </a:t>
            </a:r>
            <a:r>
              <a:rPr lang="en-US" sz="2200" dirty="0" err="1"/>
              <a:t>producir</a:t>
            </a:r>
            <a:r>
              <a:rPr lang="en-US" sz="2200" dirty="0"/>
              <a:t> un </a:t>
            </a:r>
            <a:r>
              <a:rPr lang="en-US" sz="2200" dirty="0" err="1"/>
              <a:t>daño</a:t>
            </a:r>
            <a:r>
              <a:rPr lang="en-US" sz="2200" dirty="0"/>
              <a:t> por </a:t>
            </a:r>
            <a:r>
              <a:rPr lang="en-US" sz="2200" dirty="0" err="1"/>
              <a:t>su</a:t>
            </a:r>
            <a:r>
              <a:rPr lang="en-US" sz="2200" dirty="0"/>
              <a:t> </a:t>
            </a:r>
            <a:r>
              <a:rPr lang="en-US" sz="2200" dirty="0" err="1"/>
              <a:t>diseño</a:t>
            </a:r>
            <a:r>
              <a:rPr lang="en-US" sz="2200" dirty="0"/>
              <a:t>, </a:t>
            </a:r>
            <a:r>
              <a:rPr lang="en-US" sz="2200" dirty="0" err="1"/>
              <a:t>incluso</a:t>
            </a:r>
            <a:r>
              <a:rPr lang="en-US" sz="2200" dirty="0"/>
              <a:t> sin que </a:t>
            </a:r>
            <a:r>
              <a:rPr lang="en-US" sz="2200" dirty="0" err="1"/>
              <a:t>ningún</a:t>
            </a:r>
            <a:r>
              <a:rPr lang="en-US" sz="2200" dirty="0"/>
              <a:t> </a:t>
            </a:r>
            <a:r>
              <a:rPr lang="en-US" sz="2200" dirty="0" err="1"/>
              <a:t>componente</a:t>
            </a:r>
            <a:r>
              <a:rPr lang="en-US" sz="2200" dirty="0"/>
              <a:t> </a:t>
            </a:r>
            <a:r>
              <a:rPr lang="en-US" sz="2200" dirty="0" err="1"/>
              <a:t>tenga</a:t>
            </a:r>
            <a:r>
              <a:rPr lang="en-US" sz="2200" dirty="0"/>
              <a:t> un </a:t>
            </a:r>
            <a:r>
              <a:rPr lang="en-US" sz="2200" dirty="0" err="1"/>
              <a:t>funcionamiento</a:t>
            </a:r>
            <a:r>
              <a:rPr lang="en-US" sz="2200" dirty="0"/>
              <a:t> </a:t>
            </a:r>
            <a:r>
              <a:rPr lang="en-US" sz="2200" dirty="0" err="1"/>
              <a:t>activo</a:t>
            </a:r>
            <a:r>
              <a:rPr lang="en-US" sz="2200" dirty="0"/>
              <a:t> (</a:t>
            </a:r>
            <a:r>
              <a:rPr lang="en-US" sz="2200" dirty="0" err="1">
                <a:solidFill>
                  <a:srgbClr val="FF0000"/>
                </a:solidFill>
              </a:rPr>
              <a:t>seguridad</a:t>
            </a:r>
            <a:r>
              <a:rPr lang="en-US" sz="2200" dirty="0">
                <a:solidFill>
                  <a:srgbClr val="FF0000"/>
                </a:solidFill>
              </a:rPr>
              <a:t> </a:t>
            </a:r>
            <a:r>
              <a:rPr lang="en-US" sz="2200" dirty="0" err="1">
                <a:solidFill>
                  <a:srgbClr val="FF0000"/>
                </a:solidFill>
              </a:rPr>
              <a:t>pasiva</a:t>
            </a:r>
            <a:r>
              <a:rPr lang="en-US" sz="2200" dirty="0"/>
              <a:t>)</a:t>
            </a:r>
          </a:p>
          <a:p>
            <a:pPr lvl="1"/>
            <a:r>
              <a:rPr lang="en-US" sz="2200" dirty="0"/>
              <a:t>Si </a:t>
            </a:r>
            <a:r>
              <a:rPr lang="en-US" sz="2200" dirty="0" err="1"/>
              <a:t>para</a:t>
            </a:r>
            <a:r>
              <a:rPr lang="en-US" sz="2200" dirty="0"/>
              <a:t> </a:t>
            </a:r>
            <a:r>
              <a:rPr lang="en-US" sz="2200" dirty="0" err="1"/>
              <a:t>que</a:t>
            </a:r>
            <a:r>
              <a:rPr lang="en-US" sz="2200" dirty="0"/>
              <a:t> el </a:t>
            </a:r>
            <a:r>
              <a:rPr lang="en-US" sz="2200" dirty="0" err="1"/>
              <a:t>sistema</a:t>
            </a:r>
            <a:r>
              <a:rPr lang="en-US" sz="2200" dirty="0"/>
              <a:t> sea </a:t>
            </a:r>
            <a:r>
              <a:rPr lang="en-US" sz="2200" dirty="0" err="1"/>
              <a:t>seguro</a:t>
            </a:r>
            <a:r>
              <a:rPr lang="en-US" sz="2200" dirty="0"/>
              <a:t> </a:t>
            </a:r>
            <a:r>
              <a:rPr lang="en-US" sz="2200" dirty="0" err="1"/>
              <a:t>es</a:t>
            </a:r>
            <a:r>
              <a:rPr lang="en-US" sz="2200" dirty="0"/>
              <a:t> </a:t>
            </a:r>
            <a:r>
              <a:rPr lang="en-US" sz="2200" dirty="0" err="1"/>
              <a:t>necesario</a:t>
            </a:r>
            <a:r>
              <a:rPr lang="en-US" sz="2200" dirty="0"/>
              <a:t> </a:t>
            </a:r>
            <a:r>
              <a:rPr lang="en-US" sz="2200" dirty="0" err="1"/>
              <a:t>que</a:t>
            </a:r>
            <a:r>
              <a:rPr lang="en-US" sz="2200" dirty="0"/>
              <a:t> </a:t>
            </a:r>
            <a:r>
              <a:rPr lang="en-US" sz="2200" dirty="0" err="1"/>
              <a:t>uno</a:t>
            </a:r>
            <a:r>
              <a:rPr lang="en-US" sz="2200" dirty="0"/>
              <a:t> o </a:t>
            </a:r>
            <a:r>
              <a:rPr lang="en-US" sz="2200" dirty="0" err="1"/>
              <a:t>varios</a:t>
            </a:r>
            <a:r>
              <a:rPr lang="en-US" sz="2200" dirty="0"/>
              <a:t> </a:t>
            </a:r>
            <a:r>
              <a:rPr lang="en-US" sz="2200" dirty="0" err="1"/>
              <a:t>componentes</a:t>
            </a:r>
            <a:r>
              <a:rPr lang="en-US" sz="2200" dirty="0"/>
              <a:t> </a:t>
            </a:r>
            <a:r>
              <a:rPr lang="en-US" sz="2200" dirty="0" err="1"/>
              <a:t>activos</a:t>
            </a:r>
            <a:r>
              <a:rPr lang="en-US" sz="2200" dirty="0"/>
              <a:t> </a:t>
            </a:r>
            <a:r>
              <a:rPr lang="en-US" sz="2200" dirty="0" err="1"/>
              <a:t>funcionen</a:t>
            </a:r>
            <a:r>
              <a:rPr lang="en-US" sz="2200" dirty="0"/>
              <a:t>, se </a:t>
            </a:r>
            <a:r>
              <a:rPr lang="en-US" sz="2200" dirty="0" err="1"/>
              <a:t>tratará</a:t>
            </a:r>
            <a:r>
              <a:rPr lang="en-US" sz="2200" dirty="0"/>
              <a:t> de </a:t>
            </a:r>
            <a:r>
              <a:rPr lang="en-US" sz="2200" i="1" dirty="0" err="1">
                <a:solidFill>
                  <a:srgbClr val="C00000"/>
                </a:solidFill>
              </a:rPr>
              <a:t>elementos</a:t>
            </a:r>
            <a:r>
              <a:rPr lang="en-US" sz="2200" i="1" dirty="0">
                <a:solidFill>
                  <a:srgbClr val="C00000"/>
                </a:solidFill>
              </a:rPr>
              <a:t> de </a:t>
            </a:r>
            <a:r>
              <a:rPr lang="en-US" sz="2200" i="1" dirty="0" err="1">
                <a:solidFill>
                  <a:srgbClr val="C00000"/>
                </a:solidFill>
              </a:rPr>
              <a:t>seguridad</a:t>
            </a:r>
            <a:r>
              <a:rPr lang="en-US" sz="2200" i="1" dirty="0">
                <a:solidFill>
                  <a:srgbClr val="C00000"/>
                </a:solidFill>
              </a:rPr>
              <a:t> </a:t>
            </a:r>
            <a:r>
              <a:rPr lang="en-US" sz="2200" i="1" dirty="0" err="1">
                <a:solidFill>
                  <a:srgbClr val="C00000"/>
                </a:solidFill>
              </a:rPr>
              <a:t>funcional</a:t>
            </a:r>
            <a:r>
              <a:rPr lang="en-US" sz="2200" i="1" dirty="0">
                <a:solidFill>
                  <a:srgbClr val="C00000"/>
                </a:solidFill>
              </a:rPr>
              <a:t> </a:t>
            </a:r>
            <a:r>
              <a:rPr lang="en-US" sz="2200" dirty="0"/>
              <a:t>(functional safety)</a:t>
            </a:r>
          </a:p>
          <a:p>
            <a:r>
              <a:rPr lang="en-US" sz="2600" dirty="0" err="1"/>
              <a:t>Ej</a:t>
            </a:r>
            <a:r>
              <a:rPr lang="en-US" sz="2600" dirty="0"/>
              <a:t>. Un </a:t>
            </a:r>
            <a:r>
              <a:rPr lang="en-US" sz="2600" dirty="0" err="1"/>
              <a:t>sistema</a:t>
            </a:r>
            <a:r>
              <a:rPr lang="en-US" sz="2600" dirty="0"/>
              <a:t> de </a:t>
            </a:r>
            <a:r>
              <a:rPr lang="en-US" sz="2600" dirty="0" err="1"/>
              <a:t>protección</a:t>
            </a:r>
            <a:r>
              <a:rPr lang="en-US" sz="2600" dirty="0"/>
              <a:t> de un laser:</a:t>
            </a:r>
          </a:p>
          <a:p>
            <a:pPr lvl="1"/>
            <a:r>
              <a:rPr lang="en-US" sz="2200" i="1" dirty="0" err="1"/>
              <a:t>Pasivo</a:t>
            </a:r>
            <a:r>
              <a:rPr lang="en-US" sz="2200" dirty="0"/>
              <a:t>: </a:t>
            </a:r>
            <a:r>
              <a:rPr lang="en-US" sz="2200" dirty="0" err="1"/>
              <a:t>Evita</a:t>
            </a:r>
            <a:r>
              <a:rPr lang="en-US" sz="2200" dirty="0"/>
              <a:t> </a:t>
            </a:r>
            <a:r>
              <a:rPr lang="en-US" sz="2200" dirty="0" err="1"/>
              <a:t>que</a:t>
            </a:r>
            <a:r>
              <a:rPr lang="en-US" sz="2200" dirty="0"/>
              <a:t> un </a:t>
            </a:r>
            <a:r>
              <a:rPr lang="en-US" sz="2200" dirty="0" err="1"/>
              <a:t>usuario</a:t>
            </a:r>
            <a:r>
              <a:rPr lang="en-US" sz="2200" dirty="0"/>
              <a:t> </a:t>
            </a:r>
            <a:r>
              <a:rPr lang="en-US" sz="2200" dirty="0" err="1"/>
              <a:t>pueda</a:t>
            </a:r>
            <a:r>
              <a:rPr lang="en-US" sz="2200" dirty="0"/>
              <a:t> </a:t>
            </a:r>
            <a:r>
              <a:rPr lang="en-US" sz="2200" dirty="0" err="1"/>
              <a:t>mirarlo</a:t>
            </a:r>
            <a:r>
              <a:rPr lang="en-US" sz="2200" dirty="0"/>
              <a:t> </a:t>
            </a:r>
            <a:r>
              <a:rPr lang="en-US" sz="2200" dirty="0" err="1"/>
              <a:t>directamente</a:t>
            </a:r>
            <a:r>
              <a:rPr lang="en-US" sz="2200" dirty="0"/>
              <a:t> </a:t>
            </a:r>
            <a:r>
              <a:rPr lang="en-US" sz="2200" dirty="0" err="1"/>
              <a:t>por</a:t>
            </a:r>
            <a:r>
              <a:rPr lang="en-US" sz="2200" dirty="0"/>
              <a:t> </a:t>
            </a:r>
            <a:r>
              <a:rPr lang="en-US" sz="2200" dirty="0" err="1"/>
              <a:t>diseño</a:t>
            </a:r>
            <a:r>
              <a:rPr lang="en-US" sz="2200" dirty="0"/>
              <a:t> </a:t>
            </a:r>
            <a:r>
              <a:rPr lang="en-US" sz="2200" dirty="0" err="1"/>
              <a:t>físico</a:t>
            </a:r>
            <a:endParaRPr lang="en-US" sz="2200" dirty="0"/>
          </a:p>
          <a:p>
            <a:pPr lvl="1"/>
            <a:r>
              <a:rPr lang="en-US" sz="2200" i="1" dirty="0" err="1"/>
              <a:t>Elementos</a:t>
            </a:r>
            <a:r>
              <a:rPr lang="en-US" sz="2200" i="1" dirty="0"/>
              <a:t> de </a:t>
            </a:r>
            <a:r>
              <a:rPr lang="en-US" sz="2200" i="1" dirty="0" err="1"/>
              <a:t>seguridad</a:t>
            </a:r>
            <a:r>
              <a:rPr lang="en-US" sz="2200" i="1" dirty="0"/>
              <a:t> </a:t>
            </a:r>
            <a:r>
              <a:rPr lang="en-US" sz="2200" i="1" dirty="0" err="1"/>
              <a:t>funcional</a:t>
            </a:r>
            <a:r>
              <a:rPr lang="en-US" sz="2200" dirty="0"/>
              <a:t>: software de </a:t>
            </a:r>
            <a:r>
              <a:rPr lang="en-US" sz="2200" dirty="0" err="1"/>
              <a:t>monitorización</a:t>
            </a:r>
            <a:r>
              <a:rPr lang="en-US" sz="2200" dirty="0"/>
              <a:t> </a:t>
            </a:r>
            <a:r>
              <a:rPr lang="en-US" sz="2200" dirty="0" err="1"/>
              <a:t>que</a:t>
            </a:r>
            <a:r>
              <a:rPr lang="en-US" sz="2200" dirty="0"/>
              <a:t> </a:t>
            </a:r>
            <a:r>
              <a:rPr lang="en-US" sz="2200" dirty="0" err="1"/>
              <a:t>desconecta</a:t>
            </a:r>
            <a:r>
              <a:rPr lang="en-US" sz="2200" dirty="0"/>
              <a:t> el laser </a:t>
            </a:r>
            <a:r>
              <a:rPr lang="en-US" sz="2200" dirty="0" err="1"/>
              <a:t>si</a:t>
            </a:r>
            <a:r>
              <a:rPr lang="en-US" sz="2200" dirty="0"/>
              <a:t> se </a:t>
            </a:r>
            <a:r>
              <a:rPr lang="en-US" sz="2200" dirty="0" err="1"/>
              <a:t>desconecta</a:t>
            </a:r>
            <a:r>
              <a:rPr lang="en-US" sz="2200" dirty="0"/>
              <a:t> la </a:t>
            </a:r>
            <a:r>
              <a:rPr lang="en-US" sz="2200" dirty="0" err="1"/>
              <a:t>fibra</a:t>
            </a:r>
            <a:endParaRPr lang="en-US" sz="2200" dirty="0"/>
          </a:p>
          <a:p>
            <a:endParaRPr lang="en-US" sz="28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30</a:t>
            </a:fld>
            <a:endParaRPr lang="es-E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Defectos, Errores y Fallos</a:t>
            </a:r>
            <a:br>
              <a:rPr lang="es-ES" sz="2800" dirty="0">
                <a:solidFill>
                  <a:srgbClr val="0070C0"/>
                </a:solidFill>
              </a:rPr>
            </a:br>
            <a:r>
              <a:rPr lang="es-ES" sz="2800" dirty="0" err="1">
                <a:solidFill>
                  <a:srgbClr val="0070C0"/>
                </a:solidFill>
              </a:rPr>
              <a:t>Fault</a:t>
            </a:r>
            <a:r>
              <a:rPr lang="es-ES" sz="2800" dirty="0">
                <a:solidFill>
                  <a:srgbClr val="0070C0"/>
                </a:solidFill>
              </a:rPr>
              <a:t>, Error, </a:t>
            </a:r>
            <a:r>
              <a:rPr lang="es-ES" sz="2800" dirty="0" err="1">
                <a:solidFill>
                  <a:srgbClr val="0070C0"/>
                </a:solidFill>
              </a:rPr>
              <a:t>Failure</a:t>
            </a:r>
            <a:endParaRPr lang="es-ES" sz="2800"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31</a:t>
            </a:fld>
            <a:endParaRPr lang="es-ES"/>
          </a:p>
        </p:txBody>
      </p:sp>
      <p:sp>
        <p:nvSpPr>
          <p:cNvPr id="5" name="4 Marcador de contenido"/>
          <p:cNvSpPr>
            <a:spLocks noGrp="1"/>
          </p:cNvSpPr>
          <p:nvPr>
            <p:ph idx="1"/>
          </p:nvPr>
        </p:nvSpPr>
        <p:spPr>
          <a:xfrm>
            <a:off x="1919536" y="1844825"/>
            <a:ext cx="8229600" cy="3052935"/>
          </a:xfrm>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0" scaled="1"/>
            <a:tileRect/>
          </a:gradFill>
        </p:spPr>
        <p:txBody>
          <a:bodyPr/>
          <a:lstStyle/>
          <a:p>
            <a:pPr>
              <a:buNone/>
            </a:pPr>
            <a:r>
              <a:rPr lang="en-US" dirty="0"/>
              <a:t>“  </a:t>
            </a:r>
            <a:r>
              <a:rPr lang="en-US" sz="2800" dirty="0"/>
              <a:t>We want to reduce the number of faults inserted into the system, to detect and remove faults before they become errors, to detect errors and prevent them from becoming failures and, if a failure does occur, to handle it in the safest way possible”</a:t>
            </a:r>
          </a:p>
          <a:p>
            <a:pPr>
              <a:buNone/>
            </a:pPr>
            <a:r>
              <a:rPr lang="en-US" sz="2400" dirty="0"/>
              <a:t>							C. Hobbs 2016</a:t>
            </a:r>
            <a:endParaRPr lang="en-US" sz="2800" dirty="0"/>
          </a:p>
          <a:p>
            <a:pPr>
              <a:buNone/>
            </a:pPr>
            <a:endParaRPr lang="en-US" dirty="0"/>
          </a:p>
          <a:p>
            <a:pPr>
              <a:buNone/>
            </a:pPr>
            <a:endParaRPr lang="es-E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Fallos y Errores</a:t>
            </a:r>
            <a:br>
              <a:rPr lang="es-ES" sz="2800" dirty="0">
                <a:solidFill>
                  <a:srgbClr val="0070C0"/>
                </a:solidFill>
              </a:rPr>
            </a:br>
            <a:r>
              <a:rPr lang="es-ES" sz="2800" dirty="0" err="1">
                <a:solidFill>
                  <a:srgbClr val="0070C0"/>
                </a:solidFill>
              </a:rPr>
              <a:t>Fault</a:t>
            </a:r>
            <a:r>
              <a:rPr lang="es-ES" sz="2800" dirty="0">
                <a:solidFill>
                  <a:srgbClr val="0070C0"/>
                </a:solidFill>
              </a:rPr>
              <a:t>, </a:t>
            </a:r>
            <a:r>
              <a:rPr lang="es-ES" sz="2800" dirty="0" err="1">
                <a:solidFill>
                  <a:srgbClr val="0070C0"/>
                </a:solidFill>
              </a:rPr>
              <a:t>Failure</a:t>
            </a:r>
            <a:r>
              <a:rPr lang="es-ES" sz="2800" dirty="0">
                <a:solidFill>
                  <a:srgbClr val="0070C0"/>
                </a:solidFill>
              </a:rPr>
              <a:t>, Error</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32</a:t>
            </a:fld>
            <a:endParaRPr lang="es-ES"/>
          </a:p>
        </p:txBody>
      </p:sp>
      <p:pic>
        <p:nvPicPr>
          <p:cNvPr id="36139" name="Picture 299"/>
          <p:cNvPicPr>
            <a:picLocks noChangeAspect="1" noChangeArrowheads="1"/>
          </p:cNvPicPr>
          <p:nvPr/>
        </p:nvPicPr>
        <p:blipFill>
          <a:blip r:embed="rId2" cstate="print"/>
          <a:srcRect/>
          <a:stretch>
            <a:fillRect/>
          </a:stretch>
        </p:blipFill>
        <p:spPr bwMode="auto">
          <a:xfrm>
            <a:off x="2063552" y="1628800"/>
            <a:ext cx="8017658" cy="4705198"/>
          </a:xfrm>
          <a:prstGeom prst="rect">
            <a:avLst/>
          </a:prstGeom>
          <a:noFill/>
          <a:ln w="9525">
            <a:noFill/>
            <a:miter lim="800000"/>
            <a:headEnd/>
            <a:tailEnd/>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Recuperación de errores </a:t>
            </a:r>
            <a:br>
              <a:rPr lang="es-ES" sz="2800" dirty="0">
                <a:solidFill>
                  <a:srgbClr val="0070C0"/>
                </a:solidFill>
              </a:rPr>
            </a:br>
            <a:r>
              <a:rPr lang="es-ES" sz="2800" dirty="0">
                <a:solidFill>
                  <a:srgbClr val="0070C0"/>
                </a:solidFill>
              </a:rPr>
              <a:t>hacia atrás y hacia adelante</a:t>
            </a:r>
          </a:p>
        </p:txBody>
      </p:sp>
      <p:sp>
        <p:nvSpPr>
          <p:cNvPr id="3" name="2 Marcador de contenido"/>
          <p:cNvSpPr>
            <a:spLocks noGrp="1"/>
          </p:cNvSpPr>
          <p:nvPr>
            <p:ph idx="1"/>
          </p:nvPr>
        </p:nvSpPr>
        <p:spPr/>
        <p:txBody>
          <a:bodyPr>
            <a:normAutofit/>
          </a:bodyPr>
          <a:lstStyle/>
          <a:p>
            <a:r>
              <a:rPr lang="en-US" sz="2800" dirty="0" err="1"/>
              <a:t>Recuperación</a:t>
            </a:r>
            <a:r>
              <a:rPr lang="en-US" sz="2800" dirty="0"/>
              <a:t> </a:t>
            </a:r>
            <a:r>
              <a:rPr lang="en-US" sz="2800" dirty="0" err="1"/>
              <a:t>hacia</a:t>
            </a:r>
            <a:r>
              <a:rPr lang="en-US" sz="2800" dirty="0"/>
              <a:t> </a:t>
            </a:r>
            <a:r>
              <a:rPr lang="en-US" sz="2800" dirty="0" err="1"/>
              <a:t>atrás</a:t>
            </a:r>
            <a:r>
              <a:rPr lang="en-US" sz="2800" dirty="0"/>
              <a:t>:</a:t>
            </a:r>
          </a:p>
          <a:p>
            <a:pPr lvl="1"/>
            <a:r>
              <a:rPr lang="en-US" sz="2400" dirty="0"/>
              <a:t>Se </a:t>
            </a:r>
            <a:r>
              <a:rPr lang="en-US" sz="2400" dirty="0" err="1"/>
              <a:t>devuelve</a:t>
            </a:r>
            <a:r>
              <a:rPr lang="en-US" sz="2400" dirty="0"/>
              <a:t> el </a:t>
            </a:r>
            <a:r>
              <a:rPr lang="en-US" sz="2400" dirty="0" err="1"/>
              <a:t>sistema</a:t>
            </a:r>
            <a:r>
              <a:rPr lang="en-US" sz="2400" dirty="0"/>
              <a:t> a un </a:t>
            </a:r>
            <a:r>
              <a:rPr lang="en-US" sz="2400" dirty="0" err="1"/>
              <a:t>estado</a:t>
            </a:r>
            <a:r>
              <a:rPr lang="en-US" sz="2400" dirty="0"/>
              <a:t> </a:t>
            </a:r>
            <a:r>
              <a:rPr lang="en-US" sz="2400" dirty="0" err="1"/>
              <a:t>que</a:t>
            </a:r>
            <a:r>
              <a:rPr lang="en-US" sz="2400" dirty="0"/>
              <a:t> se </a:t>
            </a:r>
            <a:r>
              <a:rPr lang="en-US" sz="2400" dirty="0" err="1"/>
              <a:t>sabe</a:t>
            </a:r>
            <a:r>
              <a:rPr lang="en-US" sz="2400" dirty="0"/>
              <a:t> (o se </a:t>
            </a:r>
            <a:r>
              <a:rPr lang="en-US" sz="2400" dirty="0" err="1"/>
              <a:t>cree</a:t>
            </a:r>
            <a:r>
              <a:rPr lang="en-US" sz="2400" dirty="0"/>
              <a:t>) </a:t>
            </a:r>
            <a:r>
              <a:rPr lang="en-US" sz="2400" dirty="0" err="1"/>
              <a:t>que</a:t>
            </a:r>
            <a:r>
              <a:rPr lang="en-US" sz="2400" dirty="0"/>
              <a:t> </a:t>
            </a:r>
            <a:r>
              <a:rPr lang="en-US" sz="2400" dirty="0" err="1"/>
              <a:t>es</a:t>
            </a:r>
            <a:r>
              <a:rPr lang="en-US" sz="2400" dirty="0"/>
              <a:t> </a:t>
            </a:r>
            <a:r>
              <a:rPr lang="en-US" sz="2400" dirty="0" err="1"/>
              <a:t>estable</a:t>
            </a:r>
            <a:r>
              <a:rPr lang="en-US" sz="2400" dirty="0"/>
              <a:t> y </a:t>
            </a:r>
            <a:r>
              <a:rPr lang="en-US" sz="2400" dirty="0" err="1"/>
              <a:t>correcto</a:t>
            </a:r>
            <a:r>
              <a:rPr lang="en-US" sz="2400" dirty="0"/>
              <a:t>.</a:t>
            </a:r>
          </a:p>
          <a:p>
            <a:pPr lvl="1"/>
            <a:r>
              <a:rPr lang="en-US" sz="2400" dirty="0" err="1"/>
              <a:t>Cómo</a:t>
            </a:r>
            <a:r>
              <a:rPr lang="en-US" sz="2400" dirty="0"/>
              <a:t> se </a:t>
            </a:r>
            <a:r>
              <a:rPr lang="en-US" sz="2400" dirty="0" err="1"/>
              <a:t>trata</a:t>
            </a:r>
            <a:r>
              <a:rPr lang="en-US" sz="2400" dirty="0"/>
              <a:t> el error </a:t>
            </a:r>
            <a:r>
              <a:rPr lang="en-US" sz="2400" dirty="0" err="1"/>
              <a:t>que</a:t>
            </a:r>
            <a:r>
              <a:rPr lang="en-US" sz="2400" dirty="0"/>
              <a:t> </a:t>
            </a:r>
            <a:r>
              <a:rPr lang="en-US" sz="2400" dirty="0" err="1"/>
              <a:t>pudiera</a:t>
            </a:r>
            <a:r>
              <a:rPr lang="en-US" sz="2400" dirty="0"/>
              <a:t> </a:t>
            </a:r>
            <a:r>
              <a:rPr lang="en-US" sz="2400" dirty="0" err="1"/>
              <a:t>provocar</a:t>
            </a:r>
            <a:r>
              <a:rPr lang="en-US" sz="2400" dirty="0"/>
              <a:t> el </a:t>
            </a:r>
            <a:r>
              <a:rPr lang="en-US" sz="2400" dirty="0" err="1"/>
              <a:t>fallo</a:t>
            </a:r>
            <a:r>
              <a:rPr lang="en-US" sz="2400" dirty="0"/>
              <a:t> (</a:t>
            </a:r>
            <a:r>
              <a:rPr lang="en-US" sz="2400" dirty="0" err="1"/>
              <a:t>descartar</a:t>
            </a:r>
            <a:r>
              <a:rPr lang="en-US" sz="2400" dirty="0"/>
              <a:t> la </a:t>
            </a:r>
            <a:r>
              <a:rPr lang="en-US" sz="2400" dirty="0" err="1"/>
              <a:t>entrada</a:t>
            </a:r>
            <a:r>
              <a:rPr lang="en-US" sz="2400" dirty="0"/>
              <a:t>, </a:t>
            </a:r>
            <a:r>
              <a:rPr lang="en-US" sz="2400" dirty="0" err="1"/>
              <a:t>volverla</a:t>
            </a:r>
            <a:r>
              <a:rPr lang="en-US" sz="2400" dirty="0"/>
              <a:t> a </a:t>
            </a:r>
            <a:r>
              <a:rPr lang="en-US" sz="2400" dirty="0" err="1"/>
              <a:t>considerar</a:t>
            </a:r>
            <a:r>
              <a:rPr lang="en-US" sz="2400" dirty="0"/>
              <a:t>,…) </a:t>
            </a:r>
            <a:r>
              <a:rPr lang="en-US" sz="2400" dirty="0" err="1"/>
              <a:t>dependerá</a:t>
            </a:r>
            <a:r>
              <a:rPr lang="en-US" sz="2400" dirty="0"/>
              <a:t> de la </a:t>
            </a:r>
            <a:r>
              <a:rPr lang="en-US" sz="2400" dirty="0" err="1"/>
              <a:t>implementación</a:t>
            </a:r>
            <a:endParaRPr lang="en-US" sz="2400" dirty="0"/>
          </a:p>
          <a:p>
            <a:pPr lvl="1"/>
            <a:r>
              <a:rPr lang="en-US" sz="2400" dirty="0"/>
              <a:t>La mayor </a:t>
            </a:r>
            <a:r>
              <a:rPr lang="en-US" sz="2400" dirty="0" err="1"/>
              <a:t>desventaja</a:t>
            </a:r>
            <a:r>
              <a:rPr lang="en-US" sz="2400" dirty="0"/>
              <a:t>: hay </a:t>
            </a:r>
            <a:r>
              <a:rPr lang="en-US" sz="2400" dirty="0" err="1"/>
              <a:t>que</a:t>
            </a:r>
            <a:r>
              <a:rPr lang="en-US" sz="2400" dirty="0"/>
              <a:t> </a:t>
            </a:r>
            <a:r>
              <a:rPr lang="en-US" sz="2400" dirty="0" err="1"/>
              <a:t>almacenar</a:t>
            </a:r>
            <a:r>
              <a:rPr lang="en-US" sz="2400" dirty="0"/>
              <a:t> los </a:t>
            </a:r>
            <a:r>
              <a:rPr lang="en-US" sz="2400" dirty="0" err="1"/>
              <a:t>estados</a:t>
            </a:r>
            <a:r>
              <a:rPr lang="en-US" sz="2400" dirty="0"/>
              <a:t> de </a:t>
            </a:r>
            <a:r>
              <a:rPr lang="en-US" sz="2400" dirty="0" err="1"/>
              <a:t>vuelta</a:t>
            </a:r>
            <a:r>
              <a:rPr lang="en-US" sz="2400" dirty="0"/>
              <a:t> </a:t>
            </a:r>
            <a:r>
              <a:rPr lang="en-US" sz="2400" dirty="0" err="1"/>
              <a:t>atrás</a:t>
            </a:r>
            <a:endParaRPr lang="en-US" sz="2400" dirty="0"/>
          </a:p>
          <a:p>
            <a:r>
              <a:rPr lang="en-US" sz="2400" dirty="0" err="1"/>
              <a:t>Recuperación</a:t>
            </a:r>
            <a:r>
              <a:rPr lang="en-US" sz="2400" dirty="0"/>
              <a:t> </a:t>
            </a:r>
            <a:r>
              <a:rPr lang="en-US" sz="2400" dirty="0" err="1"/>
              <a:t>hacia</a:t>
            </a:r>
            <a:r>
              <a:rPr lang="en-US" sz="2400" dirty="0"/>
              <a:t> </a:t>
            </a:r>
            <a:r>
              <a:rPr lang="en-US" sz="2400" dirty="0" err="1"/>
              <a:t>adelante</a:t>
            </a:r>
            <a:r>
              <a:rPr lang="en-US" sz="2400" dirty="0"/>
              <a:t>:</a:t>
            </a:r>
          </a:p>
          <a:p>
            <a:pPr lvl="1"/>
            <a:r>
              <a:rPr lang="en-US" sz="2200" dirty="0"/>
              <a:t>El </a:t>
            </a:r>
            <a:r>
              <a:rPr lang="en-US" sz="2200" dirty="0" err="1"/>
              <a:t>sistema</a:t>
            </a:r>
            <a:r>
              <a:rPr lang="en-US" sz="2200" dirty="0"/>
              <a:t> se conduce a un </a:t>
            </a:r>
            <a:r>
              <a:rPr lang="en-US" sz="2200" dirty="0" err="1">
                <a:solidFill>
                  <a:srgbClr val="FF0000"/>
                </a:solidFill>
              </a:rPr>
              <a:t>estado</a:t>
            </a:r>
            <a:r>
              <a:rPr lang="en-US" sz="2200" dirty="0">
                <a:solidFill>
                  <a:srgbClr val="FF0000"/>
                </a:solidFill>
              </a:rPr>
              <a:t> </a:t>
            </a:r>
            <a:r>
              <a:rPr lang="en-US" sz="2200" dirty="0" err="1">
                <a:solidFill>
                  <a:srgbClr val="FF0000"/>
                </a:solidFill>
              </a:rPr>
              <a:t>seguro</a:t>
            </a:r>
            <a:r>
              <a:rPr lang="en-US" sz="2200" dirty="0">
                <a:solidFill>
                  <a:srgbClr val="FF0000"/>
                </a:solidFill>
              </a:rPr>
              <a:t> </a:t>
            </a:r>
            <a:r>
              <a:rPr lang="en-US" sz="2200" dirty="0" err="1"/>
              <a:t>independiente</a:t>
            </a:r>
            <a:r>
              <a:rPr lang="en-US" sz="2200" dirty="0"/>
              <a:t> del </a:t>
            </a:r>
            <a:r>
              <a:rPr lang="en-US" sz="2200" dirty="0" err="1"/>
              <a:t>estado</a:t>
            </a:r>
            <a:r>
              <a:rPr lang="en-US" sz="2200" dirty="0"/>
              <a:t> anterior y de la </a:t>
            </a:r>
            <a:r>
              <a:rPr lang="en-US" sz="2200" dirty="0" err="1"/>
              <a:t>entrada</a:t>
            </a:r>
            <a:endParaRPr lang="en-US" sz="2200" dirty="0"/>
          </a:p>
          <a:p>
            <a:pPr lvl="1"/>
            <a:r>
              <a:rPr lang="en-US" sz="2200" dirty="0"/>
              <a:t>No </a:t>
            </a:r>
            <a:r>
              <a:rPr lang="en-US" sz="2200" dirty="0" err="1"/>
              <a:t>es</a:t>
            </a:r>
            <a:r>
              <a:rPr lang="en-US" sz="2200" dirty="0"/>
              <a:t> </a:t>
            </a:r>
            <a:r>
              <a:rPr lang="en-US" sz="2200" dirty="0" err="1"/>
              <a:t>necesario</a:t>
            </a:r>
            <a:r>
              <a:rPr lang="en-US" sz="2200" dirty="0"/>
              <a:t> </a:t>
            </a:r>
            <a:r>
              <a:rPr lang="en-US" sz="2200" dirty="0" err="1"/>
              <a:t>guardar</a:t>
            </a:r>
            <a:r>
              <a:rPr lang="en-US" sz="2200" dirty="0"/>
              <a:t> </a:t>
            </a:r>
            <a:r>
              <a:rPr lang="en-US" sz="2200" dirty="0" err="1"/>
              <a:t>información</a:t>
            </a:r>
            <a:r>
              <a:rPr lang="en-US" sz="2200" dirty="0"/>
              <a:t> </a:t>
            </a:r>
            <a:r>
              <a:rPr lang="en-US" sz="2200" dirty="0" err="1"/>
              <a:t>sobre</a:t>
            </a:r>
            <a:r>
              <a:rPr lang="en-US" sz="2200" dirty="0"/>
              <a:t> </a:t>
            </a:r>
            <a:r>
              <a:rPr lang="en-US" sz="2200" dirty="0" err="1"/>
              <a:t>punto</a:t>
            </a:r>
            <a:r>
              <a:rPr lang="en-US" sz="2200" dirty="0"/>
              <a:t> de </a:t>
            </a:r>
            <a:r>
              <a:rPr lang="en-US" sz="2200" dirty="0" err="1"/>
              <a:t>recuperación</a:t>
            </a:r>
            <a:endParaRPr lang="en-US" sz="2200" dirty="0"/>
          </a:p>
          <a:p>
            <a:pPr lvl="1"/>
            <a:endParaRPr lang="en-US" sz="24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33</a:t>
            </a:fld>
            <a:endParaRPr lang="es-E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dirty="0">
                <a:solidFill>
                  <a:srgbClr val="0070C0"/>
                </a:solidFill>
              </a:rPr>
              <a:t>Sistemas Accidentales</a:t>
            </a:r>
          </a:p>
        </p:txBody>
      </p:sp>
      <p:sp>
        <p:nvSpPr>
          <p:cNvPr id="3" name="2 Marcador de contenido"/>
          <p:cNvSpPr>
            <a:spLocks noGrp="1"/>
          </p:cNvSpPr>
          <p:nvPr>
            <p:ph idx="1"/>
          </p:nvPr>
        </p:nvSpPr>
        <p:spPr/>
        <p:txBody>
          <a:bodyPr>
            <a:normAutofit/>
          </a:bodyPr>
          <a:lstStyle/>
          <a:p>
            <a:r>
              <a:rPr lang="en-US" sz="2400" dirty="0"/>
              <a:t>Un </a:t>
            </a:r>
            <a:r>
              <a:rPr lang="en-US" sz="2400" dirty="0" err="1"/>
              <a:t>sistema</a:t>
            </a:r>
            <a:r>
              <a:rPr lang="en-US" sz="2400" dirty="0"/>
              <a:t> accidental </a:t>
            </a:r>
            <a:r>
              <a:rPr lang="en-US" sz="2400" dirty="0" err="1"/>
              <a:t>es</a:t>
            </a:r>
            <a:r>
              <a:rPr lang="en-US" sz="2400" dirty="0"/>
              <a:t> </a:t>
            </a:r>
            <a:r>
              <a:rPr lang="en-US" sz="2400" dirty="0" err="1"/>
              <a:t>aquel</a:t>
            </a:r>
            <a:r>
              <a:rPr lang="en-US" sz="2400" dirty="0"/>
              <a:t> </a:t>
            </a:r>
            <a:r>
              <a:rPr lang="en-US" sz="2400" dirty="0" err="1"/>
              <a:t>que</a:t>
            </a:r>
            <a:r>
              <a:rPr lang="en-US" sz="2400" dirty="0"/>
              <a:t> no ha </a:t>
            </a:r>
            <a:r>
              <a:rPr lang="en-US" sz="2400" dirty="0" err="1"/>
              <a:t>sido</a:t>
            </a:r>
            <a:r>
              <a:rPr lang="en-US" sz="2400" dirty="0"/>
              <a:t> </a:t>
            </a:r>
            <a:r>
              <a:rPr lang="en-US" sz="2400" dirty="0" err="1"/>
              <a:t>especificamente</a:t>
            </a:r>
            <a:r>
              <a:rPr lang="en-US" sz="2400" dirty="0"/>
              <a:t> </a:t>
            </a:r>
            <a:r>
              <a:rPr lang="en-US" sz="2400" dirty="0" err="1"/>
              <a:t>diseñado</a:t>
            </a:r>
            <a:r>
              <a:rPr lang="en-US" sz="2400" dirty="0"/>
              <a:t> y </a:t>
            </a:r>
            <a:r>
              <a:rPr lang="en-US" sz="2400" dirty="0" err="1"/>
              <a:t>probado</a:t>
            </a:r>
            <a:r>
              <a:rPr lang="en-US" sz="2400" dirty="0"/>
              <a:t> </a:t>
            </a:r>
            <a:r>
              <a:rPr lang="en-US" sz="2400" dirty="0" err="1"/>
              <a:t>para</a:t>
            </a:r>
            <a:r>
              <a:rPr lang="en-US" sz="2400" dirty="0"/>
              <a:t> ser </a:t>
            </a:r>
            <a:r>
              <a:rPr lang="en-US" sz="2400" dirty="0" err="1"/>
              <a:t>incorporado</a:t>
            </a:r>
            <a:r>
              <a:rPr lang="en-US" sz="2400" dirty="0"/>
              <a:t> en </a:t>
            </a:r>
            <a:r>
              <a:rPr lang="en-US" sz="2400" dirty="0" err="1"/>
              <a:t>otro</a:t>
            </a:r>
            <a:r>
              <a:rPr lang="en-US" sz="2400" dirty="0"/>
              <a:t> </a:t>
            </a:r>
            <a:r>
              <a:rPr lang="en-US" sz="2400" dirty="0" err="1"/>
              <a:t>sistema</a:t>
            </a:r>
            <a:r>
              <a:rPr lang="en-US" sz="2400" dirty="0"/>
              <a:t> </a:t>
            </a:r>
            <a:r>
              <a:rPr lang="en-US" sz="2400" dirty="0" err="1"/>
              <a:t>que</a:t>
            </a:r>
            <a:r>
              <a:rPr lang="en-US" sz="2400" dirty="0"/>
              <a:t> </a:t>
            </a:r>
            <a:r>
              <a:rPr lang="en-US" sz="2400" dirty="0" err="1"/>
              <a:t>puede</a:t>
            </a:r>
            <a:r>
              <a:rPr lang="en-US" sz="2400" dirty="0"/>
              <a:t> </a:t>
            </a:r>
            <a:r>
              <a:rPr lang="en-US" sz="2400" dirty="0" err="1"/>
              <a:t>tener</a:t>
            </a:r>
            <a:r>
              <a:rPr lang="en-US" sz="2400" dirty="0"/>
              <a:t> </a:t>
            </a:r>
            <a:r>
              <a:rPr lang="en-US" sz="2400" dirty="0" err="1"/>
              <a:t>requisitos</a:t>
            </a:r>
            <a:r>
              <a:rPr lang="en-US" sz="2400" dirty="0"/>
              <a:t> </a:t>
            </a:r>
            <a:r>
              <a:rPr lang="en-US" sz="2400" dirty="0" err="1"/>
              <a:t>críticos</a:t>
            </a:r>
            <a:r>
              <a:rPr lang="en-US" sz="2400" dirty="0"/>
              <a:t> de </a:t>
            </a:r>
            <a:r>
              <a:rPr lang="en-US" sz="2400" dirty="0" err="1"/>
              <a:t>seguridad</a:t>
            </a:r>
            <a:endParaRPr lang="en-US" sz="2400" dirty="0"/>
          </a:p>
          <a:p>
            <a:r>
              <a:rPr lang="en-US" sz="2400" dirty="0"/>
              <a:t>El software </a:t>
            </a:r>
            <a:r>
              <a:rPr lang="en-US" sz="2400" dirty="0" err="1"/>
              <a:t>empotrado</a:t>
            </a:r>
            <a:r>
              <a:rPr lang="en-US" sz="2400" dirty="0"/>
              <a:t> </a:t>
            </a:r>
            <a:r>
              <a:rPr lang="en-US" sz="2400" dirty="0" err="1"/>
              <a:t>suele</a:t>
            </a:r>
            <a:r>
              <a:rPr lang="en-US" sz="2400" dirty="0"/>
              <a:t> </a:t>
            </a:r>
            <a:r>
              <a:rPr lang="en-US" sz="2400" dirty="0" err="1"/>
              <a:t>formar</a:t>
            </a:r>
            <a:r>
              <a:rPr lang="en-US" sz="2400" dirty="0"/>
              <a:t> parte de </a:t>
            </a:r>
            <a:r>
              <a:rPr lang="en-US" sz="2400" dirty="0" err="1"/>
              <a:t>sistemas</a:t>
            </a:r>
            <a:r>
              <a:rPr lang="en-US" sz="2400" dirty="0"/>
              <a:t> </a:t>
            </a:r>
            <a:r>
              <a:rPr lang="en-US" sz="2400" dirty="0" err="1"/>
              <a:t>accidentales</a:t>
            </a:r>
            <a:r>
              <a:rPr lang="en-US" sz="2400" dirty="0"/>
              <a:t> y </a:t>
            </a:r>
            <a:r>
              <a:rPr lang="en-US" sz="2400" dirty="0" err="1"/>
              <a:t>podemos</a:t>
            </a:r>
            <a:r>
              <a:rPr lang="en-US" sz="2400" dirty="0"/>
              <a:t> </a:t>
            </a:r>
            <a:r>
              <a:rPr lang="en-US" sz="2400" dirty="0" err="1"/>
              <a:t>encontrar</a:t>
            </a:r>
            <a:r>
              <a:rPr lang="en-US" sz="2400" dirty="0"/>
              <a:t> </a:t>
            </a:r>
            <a:r>
              <a:rPr lang="en-US" sz="2400" dirty="0" err="1"/>
              <a:t>componentes</a:t>
            </a:r>
            <a:r>
              <a:rPr lang="en-US" sz="2400" dirty="0"/>
              <a:t> </a:t>
            </a:r>
            <a:r>
              <a:rPr lang="en-US" sz="2400" dirty="0" err="1"/>
              <a:t>que</a:t>
            </a:r>
            <a:r>
              <a:rPr lang="en-US" sz="2400" dirty="0"/>
              <a:t> no </a:t>
            </a:r>
            <a:r>
              <a:rPr lang="en-US" sz="2400" dirty="0" err="1"/>
              <a:t>han</a:t>
            </a:r>
            <a:r>
              <a:rPr lang="en-US" sz="2400" dirty="0"/>
              <a:t> </a:t>
            </a:r>
            <a:r>
              <a:rPr lang="en-US" sz="2400" dirty="0" err="1"/>
              <a:t>cosiderado</a:t>
            </a:r>
            <a:r>
              <a:rPr lang="en-US" sz="2400" dirty="0"/>
              <a:t> </a:t>
            </a:r>
            <a:r>
              <a:rPr lang="en-US" sz="2400" dirty="0" err="1"/>
              <a:t>que</a:t>
            </a:r>
            <a:r>
              <a:rPr lang="en-US" sz="2400" dirty="0"/>
              <a:t> </a:t>
            </a:r>
            <a:r>
              <a:rPr lang="en-US" sz="2400" dirty="0" err="1"/>
              <a:t>podían</a:t>
            </a:r>
            <a:r>
              <a:rPr lang="en-US" sz="2400" dirty="0"/>
              <a:t> ser </a:t>
            </a:r>
            <a:r>
              <a:rPr lang="en-US" sz="2400" dirty="0" err="1"/>
              <a:t>utilizados</a:t>
            </a:r>
            <a:r>
              <a:rPr lang="en-US" sz="2400" dirty="0"/>
              <a:t> </a:t>
            </a:r>
            <a:r>
              <a:rPr lang="en-US" sz="2400" dirty="0" err="1"/>
              <a:t>por</a:t>
            </a:r>
            <a:r>
              <a:rPr lang="en-US" sz="2400" dirty="0"/>
              <a:t> </a:t>
            </a:r>
            <a:r>
              <a:rPr lang="en-US" sz="2400" dirty="0" err="1"/>
              <a:t>varías</a:t>
            </a:r>
            <a:r>
              <a:rPr lang="en-US" sz="2400" dirty="0"/>
              <a:t> </a:t>
            </a:r>
            <a:r>
              <a:rPr lang="en-US" sz="2400" dirty="0" err="1"/>
              <a:t>hebras</a:t>
            </a:r>
            <a:r>
              <a:rPr lang="en-US" sz="2400" dirty="0"/>
              <a:t> o </a:t>
            </a:r>
            <a:r>
              <a:rPr lang="en-US" sz="2400" dirty="0" err="1"/>
              <a:t>que</a:t>
            </a:r>
            <a:r>
              <a:rPr lang="en-US" sz="2400" dirty="0"/>
              <a:t> </a:t>
            </a:r>
            <a:r>
              <a:rPr lang="en-US" sz="2400" dirty="0" err="1"/>
              <a:t>usan</a:t>
            </a:r>
            <a:r>
              <a:rPr lang="en-US" sz="2400" dirty="0"/>
              <a:t> </a:t>
            </a:r>
            <a:r>
              <a:rPr lang="en-US" sz="2400" dirty="0" err="1"/>
              <a:t>recursión</a:t>
            </a:r>
            <a:r>
              <a:rPr lang="en-US" sz="2400" dirty="0"/>
              <a:t> y </a:t>
            </a:r>
            <a:r>
              <a:rPr lang="en-US" sz="2400" dirty="0" err="1"/>
              <a:t>necesitan</a:t>
            </a:r>
            <a:r>
              <a:rPr lang="en-US" sz="2400" dirty="0"/>
              <a:t> </a:t>
            </a:r>
            <a:r>
              <a:rPr lang="en-US" sz="2400" dirty="0" err="1"/>
              <a:t>más</a:t>
            </a:r>
            <a:r>
              <a:rPr lang="en-US" sz="2400" dirty="0"/>
              <a:t> </a:t>
            </a:r>
            <a:r>
              <a:rPr lang="en-US" sz="2400" dirty="0" err="1"/>
              <a:t>pila</a:t>
            </a:r>
            <a:r>
              <a:rPr lang="en-US" sz="2400" dirty="0"/>
              <a:t> de la </a:t>
            </a:r>
            <a:r>
              <a:rPr lang="en-US" sz="2400" dirty="0" err="1"/>
              <a:t>que</a:t>
            </a:r>
            <a:r>
              <a:rPr lang="en-US" sz="2400" dirty="0"/>
              <a:t> se ha </a:t>
            </a:r>
            <a:r>
              <a:rPr lang="en-US" sz="2400" dirty="0" err="1"/>
              <a:t>reservado</a:t>
            </a:r>
            <a:endParaRPr lang="en-US" sz="2400" dirty="0"/>
          </a:p>
          <a:p>
            <a:endParaRPr lang="en-U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34</a:t>
            </a:fld>
            <a:endParaRPr lang="es-ES"/>
          </a:p>
        </p:txBody>
      </p:sp>
      <p:sp>
        <p:nvSpPr>
          <p:cNvPr id="5" name="4 Marcador de contenido"/>
          <p:cNvSpPr txBox="1">
            <a:spLocks/>
          </p:cNvSpPr>
          <p:nvPr/>
        </p:nvSpPr>
        <p:spPr>
          <a:xfrm>
            <a:off x="2279576" y="4077072"/>
            <a:ext cx="7992888" cy="2780928"/>
          </a:xfrm>
          <a:prstGeom prst="rect">
            <a:avLst/>
          </a:prstGeom>
          <a:gradFill flip="none" rotWithShape="1">
            <a:gsLst>
              <a:gs pos="0">
                <a:schemeClr val="accent6">
                  <a:lumMod val="60000"/>
                  <a:lumOff val="40000"/>
                  <a:tint val="66000"/>
                  <a:satMod val="160000"/>
                </a:schemeClr>
              </a:gs>
              <a:gs pos="50000">
                <a:schemeClr val="accent6">
                  <a:lumMod val="60000"/>
                  <a:lumOff val="40000"/>
                  <a:tint val="44500"/>
                  <a:satMod val="160000"/>
                </a:schemeClr>
              </a:gs>
              <a:gs pos="100000">
                <a:schemeClr val="accent6">
                  <a:lumMod val="60000"/>
                  <a:lumOff val="40000"/>
                  <a:tint val="23500"/>
                  <a:satMod val="160000"/>
                </a:schemeClr>
              </a:gs>
            </a:gsLst>
            <a:lin ang="5400000" scaled="1"/>
            <a:tileRect/>
          </a:gradFill>
        </p:spPr>
        <p:txBody>
          <a:bodyPr vert="horz" lIns="91440" tIns="45720" rIns="91440" bIns="45720" rtlCol="0">
            <a:normAutofit fontScale="62500" lnSpcReduction="20000"/>
          </a:bodyPr>
          <a:lstStyle/>
          <a:p>
            <a:r>
              <a:rPr lang="en-US" sz="3200" dirty="0" err="1"/>
              <a:t>Martyn</a:t>
            </a:r>
            <a:r>
              <a:rPr lang="en-US" sz="3200" dirty="0"/>
              <a:t> Thomas described an experiment wherein (GPS) signals were deliberately jammed in part of the North Sea and a ship was taken through the area to see what would happen. As expected, the position of the ship became imprecise (sometimes the ship was in the middle of Norway, sometimes in the middle of Germany!), but unexpectedly, the ship’s radar also stopped working. </a:t>
            </a:r>
          </a:p>
          <a:p>
            <a:endParaRPr lang="en-US" sz="3200" dirty="0"/>
          </a:p>
          <a:p>
            <a:r>
              <a:rPr lang="en-US" sz="3200" dirty="0"/>
              <a:t>The experimental team contacted the company that manufactured the radar and was told that GPS was not used within it. They then contacted </a:t>
            </a:r>
            <a:r>
              <a:rPr lang="en-US" sz="3200" dirty="0">
                <a:solidFill>
                  <a:srgbClr val="FF0000"/>
                </a:solidFill>
              </a:rPr>
              <a:t>the manufacturers of the components</a:t>
            </a:r>
            <a:r>
              <a:rPr lang="en-US" sz="3200" dirty="0"/>
              <a:t> in the radar and found that one small component was using GPS timing signals.</a:t>
            </a:r>
            <a:endParaRPr lang="es-ES" sz="3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dirty="0">
                <a:solidFill>
                  <a:srgbClr val="0070C0"/>
                </a:solidFill>
              </a:rPr>
              <a:t>¿Qué consideramos software?</a:t>
            </a:r>
          </a:p>
        </p:txBody>
      </p:sp>
      <p:sp>
        <p:nvSpPr>
          <p:cNvPr id="3" name="2 Marcador de contenido"/>
          <p:cNvSpPr>
            <a:spLocks noGrp="1"/>
          </p:cNvSpPr>
          <p:nvPr>
            <p:ph idx="1"/>
          </p:nvPr>
        </p:nvSpPr>
        <p:spPr/>
        <p:txBody>
          <a:bodyPr>
            <a:normAutofit fontScale="77500" lnSpcReduction="20000"/>
          </a:bodyPr>
          <a:lstStyle/>
          <a:p>
            <a:r>
              <a:rPr lang="en-US" dirty="0"/>
              <a:t>¿Es hardware un ASIC (Application Specific Integrated Circuit) </a:t>
            </a:r>
            <a:r>
              <a:rPr lang="en-US" dirty="0" err="1"/>
              <a:t>que</a:t>
            </a:r>
            <a:r>
              <a:rPr lang="en-US" dirty="0"/>
              <a:t> ha </a:t>
            </a:r>
            <a:r>
              <a:rPr lang="en-US" dirty="0" err="1"/>
              <a:t>sido</a:t>
            </a:r>
            <a:r>
              <a:rPr lang="en-US" dirty="0"/>
              <a:t> </a:t>
            </a:r>
            <a:r>
              <a:rPr lang="en-US" dirty="0" err="1"/>
              <a:t>diseñado</a:t>
            </a:r>
            <a:r>
              <a:rPr lang="en-US" dirty="0"/>
              <a:t> con </a:t>
            </a:r>
            <a:r>
              <a:rPr lang="en-US" dirty="0" err="1"/>
              <a:t>una</a:t>
            </a:r>
            <a:r>
              <a:rPr lang="en-US" dirty="0"/>
              <a:t> </a:t>
            </a:r>
            <a:r>
              <a:rPr lang="en-US" dirty="0" err="1"/>
              <a:t>herramienta</a:t>
            </a:r>
            <a:r>
              <a:rPr lang="en-US" dirty="0"/>
              <a:t> software?</a:t>
            </a:r>
          </a:p>
          <a:p>
            <a:r>
              <a:rPr lang="en-US" dirty="0"/>
              <a:t>¿Y un </a:t>
            </a:r>
            <a:r>
              <a:rPr lang="en-US" dirty="0" err="1"/>
              <a:t>componente</a:t>
            </a:r>
            <a:r>
              <a:rPr lang="en-US" dirty="0"/>
              <a:t> </a:t>
            </a:r>
            <a:r>
              <a:rPr lang="en-US" dirty="0" err="1"/>
              <a:t>generado</a:t>
            </a:r>
            <a:r>
              <a:rPr lang="en-US" dirty="0"/>
              <a:t> </a:t>
            </a:r>
            <a:r>
              <a:rPr lang="en-US" dirty="0" err="1"/>
              <a:t>por</a:t>
            </a:r>
            <a:r>
              <a:rPr lang="en-US" dirty="0"/>
              <a:t> </a:t>
            </a:r>
            <a:r>
              <a:rPr lang="en-US" dirty="0" err="1"/>
              <a:t>una</a:t>
            </a:r>
            <a:r>
              <a:rPr lang="en-US" dirty="0"/>
              <a:t> </a:t>
            </a:r>
            <a:r>
              <a:rPr lang="en-US" dirty="0" err="1"/>
              <a:t>herramienta</a:t>
            </a:r>
            <a:r>
              <a:rPr lang="en-US" dirty="0"/>
              <a:t> de </a:t>
            </a:r>
            <a:r>
              <a:rPr lang="en-US" dirty="0" err="1"/>
              <a:t>modelado</a:t>
            </a:r>
            <a:r>
              <a:rPr lang="en-US" dirty="0"/>
              <a:t> con 5000 </a:t>
            </a:r>
            <a:r>
              <a:rPr lang="en-US" dirty="0" err="1"/>
              <a:t>líneas</a:t>
            </a:r>
            <a:r>
              <a:rPr lang="en-US" dirty="0"/>
              <a:t> en C?</a:t>
            </a:r>
          </a:p>
          <a:p>
            <a:r>
              <a:rPr lang="en-US" dirty="0" err="1"/>
              <a:t>Siguiendo</a:t>
            </a:r>
            <a:r>
              <a:rPr lang="en-US" dirty="0"/>
              <a:t> la </a:t>
            </a:r>
            <a:r>
              <a:rPr lang="en-US" dirty="0" err="1"/>
              <a:t>norma</a:t>
            </a:r>
            <a:r>
              <a:rPr lang="en-US" dirty="0"/>
              <a:t> del </a:t>
            </a:r>
            <a:r>
              <a:rPr lang="en-US" i="1" dirty="0">
                <a:solidFill>
                  <a:srgbClr val="0070C0"/>
                </a:solidFill>
              </a:rPr>
              <a:t>Rail Safety and Standard </a:t>
            </a:r>
            <a:r>
              <a:rPr lang="en-US" i="1" dirty="0" err="1">
                <a:solidFill>
                  <a:srgbClr val="0070C0"/>
                </a:solidFill>
              </a:rPr>
              <a:t>Board,</a:t>
            </a:r>
            <a:r>
              <a:rPr lang="en-US" dirty="0" err="1"/>
              <a:t>como</a:t>
            </a:r>
            <a:r>
              <a:rPr lang="en-US" dirty="0"/>
              <a:t> </a:t>
            </a:r>
            <a:r>
              <a:rPr lang="en-US" dirty="0" err="1"/>
              <a:t>regla</a:t>
            </a:r>
            <a:r>
              <a:rPr lang="en-US" dirty="0"/>
              <a:t> general </a:t>
            </a:r>
            <a:r>
              <a:rPr lang="en-US" dirty="0" err="1"/>
              <a:t>consideraremos</a:t>
            </a:r>
            <a:r>
              <a:rPr lang="en-US" dirty="0"/>
              <a:t>:</a:t>
            </a:r>
          </a:p>
          <a:p>
            <a:pPr lvl="1"/>
            <a:r>
              <a:rPr lang="en-US" sz="3100" i="1" dirty="0">
                <a:solidFill>
                  <a:srgbClr val="0070C0"/>
                </a:solidFill>
              </a:rPr>
              <a:t>Hardware: </a:t>
            </a:r>
            <a:r>
              <a:rPr lang="en-US" dirty="0" err="1">
                <a:solidFill>
                  <a:srgbClr val="C00000"/>
                </a:solidFill>
              </a:rPr>
              <a:t>Número</a:t>
            </a:r>
            <a:r>
              <a:rPr lang="en-US" dirty="0">
                <a:solidFill>
                  <a:srgbClr val="C00000"/>
                </a:solidFill>
              </a:rPr>
              <a:t> </a:t>
            </a:r>
            <a:r>
              <a:rPr lang="en-US" dirty="0" err="1">
                <a:solidFill>
                  <a:srgbClr val="C00000"/>
                </a:solidFill>
              </a:rPr>
              <a:t>suficientemente</a:t>
            </a:r>
            <a:r>
              <a:rPr lang="en-US" dirty="0">
                <a:solidFill>
                  <a:srgbClr val="C00000"/>
                </a:solidFill>
              </a:rPr>
              <a:t> </a:t>
            </a:r>
            <a:r>
              <a:rPr lang="en-US" dirty="0" err="1">
                <a:solidFill>
                  <a:srgbClr val="C00000"/>
                </a:solidFill>
              </a:rPr>
              <a:t>pequeño</a:t>
            </a:r>
            <a:r>
              <a:rPr lang="en-US" dirty="0">
                <a:solidFill>
                  <a:srgbClr val="C00000"/>
                </a:solidFill>
              </a:rPr>
              <a:t> de </a:t>
            </a:r>
            <a:r>
              <a:rPr lang="en-US" dirty="0" err="1">
                <a:solidFill>
                  <a:srgbClr val="C00000"/>
                </a:solidFill>
              </a:rPr>
              <a:t>estados</a:t>
            </a:r>
            <a:r>
              <a:rPr lang="en-US" dirty="0">
                <a:solidFill>
                  <a:srgbClr val="C00000"/>
                </a:solidFill>
              </a:rPr>
              <a:t> </a:t>
            </a:r>
            <a:r>
              <a:rPr lang="en-US" dirty="0" err="1">
                <a:solidFill>
                  <a:srgbClr val="C00000"/>
                </a:solidFill>
              </a:rPr>
              <a:t>para</a:t>
            </a:r>
            <a:r>
              <a:rPr lang="en-US" dirty="0">
                <a:solidFill>
                  <a:srgbClr val="C00000"/>
                </a:solidFill>
              </a:rPr>
              <a:t> </a:t>
            </a:r>
            <a:r>
              <a:rPr lang="en-US" dirty="0" err="1">
                <a:solidFill>
                  <a:srgbClr val="C00000"/>
                </a:solidFill>
              </a:rPr>
              <a:t>poder</a:t>
            </a:r>
            <a:r>
              <a:rPr lang="en-US" dirty="0">
                <a:solidFill>
                  <a:srgbClr val="C00000"/>
                </a:solidFill>
              </a:rPr>
              <a:t> ser </a:t>
            </a:r>
            <a:r>
              <a:rPr lang="en-US" dirty="0" err="1">
                <a:solidFill>
                  <a:srgbClr val="C00000"/>
                </a:solidFill>
              </a:rPr>
              <a:t>cubiertos</a:t>
            </a:r>
            <a:r>
              <a:rPr lang="en-US" dirty="0">
                <a:solidFill>
                  <a:srgbClr val="C00000"/>
                </a:solidFill>
              </a:rPr>
              <a:t> </a:t>
            </a:r>
            <a:r>
              <a:rPr lang="en-US" dirty="0" err="1">
                <a:solidFill>
                  <a:srgbClr val="C00000"/>
                </a:solidFill>
              </a:rPr>
              <a:t>todos</a:t>
            </a:r>
            <a:r>
              <a:rPr lang="en-US" dirty="0">
                <a:solidFill>
                  <a:srgbClr val="C00000"/>
                </a:solidFill>
              </a:rPr>
              <a:t> </a:t>
            </a:r>
            <a:r>
              <a:rPr lang="en-US" dirty="0" err="1">
                <a:solidFill>
                  <a:srgbClr val="C00000"/>
                </a:solidFill>
              </a:rPr>
              <a:t>por</a:t>
            </a:r>
            <a:r>
              <a:rPr lang="en-US" dirty="0">
                <a:solidFill>
                  <a:srgbClr val="C00000"/>
                </a:solidFill>
              </a:rPr>
              <a:t> </a:t>
            </a:r>
            <a:r>
              <a:rPr lang="en-US" dirty="0" err="1">
                <a:solidFill>
                  <a:srgbClr val="C00000"/>
                </a:solidFill>
              </a:rPr>
              <a:t>técnicas</a:t>
            </a:r>
            <a:r>
              <a:rPr lang="en-US" dirty="0">
                <a:solidFill>
                  <a:srgbClr val="C00000"/>
                </a:solidFill>
              </a:rPr>
              <a:t> de testing </a:t>
            </a:r>
            <a:r>
              <a:rPr lang="en-US" dirty="0" err="1">
                <a:solidFill>
                  <a:srgbClr val="C00000"/>
                </a:solidFill>
              </a:rPr>
              <a:t>exahustivo</a:t>
            </a:r>
            <a:endParaRPr lang="en-US" dirty="0">
              <a:solidFill>
                <a:srgbClr val="C00000"/>
              </a:solidFill>
            </a:endParaRPr>
          </a:p>
          <a:p>
            <a:pPr lvl="1"/>
            <a:r>
              <a:rPr lang="en-US" dirty="0">
                <a:solidFill>
                  <a:srgbClr val="0070C0"/>
                </a:solidFill>
              </a:rPr>
              <a:t> </a:t>
            </a:r>
            <a:r>
              <a:rPr lang="en-US" sz="3100" i="1" dirty="0">
                <a:solidFill>
                  <a:srgbClr val="0070C0"/>
                </a:solidFill>
              </a:rPr>
              <a:t>Software</a:t>
            </a:r>
            <a:r>
              <a:rPr lang="en-US" dirty="0">
                <a:solidFill>
                  <a:srgbClr val="0070C0"/>
                </a:solidFill>
              </a:rPr>
              <a:t> </a:t>
            </a:r>
            <a:r>
              <a:rPr lang="en-US" dirty="0"/>
              <a:t>en </a:t>
            </a:r>
            <a:r>
              <a:rPr lang="en-US" dirty="0" err="1"/>
              <a:t>cualquier</a:t>
            </a:r>
            <a:r>
              <a:rPr lang="en-US" dirty="0"/>
              <a:t> </a:t>
            </a:r>
            <a:r>
              <a:rPr lang="en-US" dirty="0" err="1"/>
              <a:t>otro</a:t>
            </a:r>
            <a:r>
              <a:rPr lang="en-US" dirty="0"/>
              <a:t> </a:t>
            </a:r>
            <a:r>
              <a:rPr lang="en-US" dirty="0" err="1"/>
              <a:t>caso</a:t>
            </a:r>
            <a:endParaRPr lang="en-US" dirty="0"/>
          </a:p>
          <a:p>
            <a:r>
              <a:rPr lang="en-US" dirty="0" err="1"/>
              <a:t>Incluímos</a:t>
            </a:r>
            <a:r>
              <a:rPr lang="en-US" dirty="0"/>
              <a:t> en el </a:t>
            </a:r>
            <a:r>
              <a:rPr lang="en-US" dirty="0" err="1"/>
              <a:t>concepto</a:t>
            </a:r>
            <a:r>
              <a:rPr lang="en-US" dirty="0"/>
              <a:t> de software, los </a:t>
            </a:r>
            <a:r>
              <a:rPr lang="en-US" dirty="0" err="1"/>
              <a:t>datos</a:t>
            </a:r>
            <a:r>
              <a:rPr lang="en-US" dirty="0"/>
              <a:t> de </a:t>
            </a:r>
            <a:r>
              <a:rPr lang="en-US" dirty="0" err="1"/>
              <a:t>configuración</a:t>
            </a:r>
            <a:endParaRPr lang="en-US" dirty="0"/>
          </a:p>
          <a:p>
            <a:pPr lvl="1"/>
            <a:r>
              <a:rPr lang="en-US" i="1" dirty="0"/>
              <a:t>‘software’ means computer programs and corresponding configuration data . . .</a:t>
            </a:r>
            <a:endParaRPr lang="es-ES" dirty="0"/>
          </a:p>
          <a:p>
            <a:pPr lvl="1"/>
            <a:r>
              <a:rPr lang="en-US" i="1" dirty="0"/>
              <a:t>‘configuration data’ means data that configures a generic software system to a particular instance of its use;</a:t>
            </a:r>
            <a:endParaRPr lang="es-ES" dirty="0"/>
          </a:p>
          <a:p>
            <a:pPr lvl="1"/>
            <a:endParaRPr lang="en-U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35</a:t>
            </a:fld>
            <a:endParaRPr lang="es-E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i="1" dirty="0" err="1">
                <a:solidFill>
                  <a:srgbClr val="0070C0"/>
                </a:solidFill>
              </a:rPr>
              <a:t>Heisenbugs</a:t>
            </a:r>
            <a:r>
              <a:rPr lang="es-ES" sz="2800" dirty="0">
                <a:solidFill>
                  <a:srgbClr val="0070C0"/>
                </a:solidFill>
              </a:rPr>
              <a:t> y </a:t>
            </a:r>
            <a:r>
              <a:rPr lang="es-ES" sz="2800" i="1" dirty="0" err="1">
                <a:solidFill>
                  <a:srgbClr val="0070C0"/>
                </a:solidFill>
              </a:rPr>
              <a:t>Bohrbugs</a:t>
            </a:r>
            <a:endParaRPr lang="es-ES" sz="2800" i="1" dirty="0">
              <a:solidFill>
                <a:srgbClr val="0070C0"/>
              </a:solidFill>
            </a:endParaRPr>
          </a:p>
        </p:txBody>
      </p:sp>
      <p:sp>
        <p:nvSpPr>
          <p:cNvPr id="3" name="2 Marcador de contenido"/>
          <p:cNvSpPr>
            <a:spLocks noGrp="1"/>
          </p:cNvSpPr>
          <p:nvPr>
            <p:ph idx="1"/>
          </p:nvPr>
        </p:nvSpPr>
        <p:spPr/>
        <p:txBody>
          <a:bodyPr>
            <a:normAutofit/>
          </a:bodyPr>
          <a:lstStyle/>
          <a:p>
            <a:r>
              <a:rPr lang="es-ES" sz="2400" i="1" dirty="0" err="1">
                <a:solidFill>
                  <a:srgbClr val="0070C0"/>
                </a:solidFill>
              </a:rPr>
              <a:t>Bohrbug</a:t>
            </a:r>
            <a:r>
              <a:rPr lang="es-ES" sz="2400" dirty="0"/>
              <a:t>: error bien definido, determinista, con propiedades que no cambian cuando se añade código para depuración</a:t>
            </a:r>
            <a:endParaRPr lang="en-US" sz="2400" dirty="0"/>
          </a:p>
          <a:p>
            <a:r>
              <a:rPr lang="en-US" sz="2400" i="1" dirty="0" err="1">
                <a:solidFill>
                  <a:srgbClr val="0070C0"/>
                </a:solidFill>
              </a:rPr>
              <a:t>Heisenbug</a:t>
            </a:r>
            <a:r>
              <a:rPr lang="en-US" sz="2400" dirty="0"/>
              <a:t>: error </a:t>
            </a:r>
            <a:r>
              <a:rPr lang="en-US" sz="2400" dirty="0" err="1"/>
              <a:t>ocasional</a:t>
            </a:r>
            <a:r>
              <a:rPr lang="en-US" sz="2400" dirty="0"/>
              <a:t> </a:t>
            </a:r>
            <a:r>
              <a:rPr lang="en-US" sz="2400" dirty="0" err="1"/>
              <a:t>que</a:t>
            </a:r>
            <a:r>
              <a:rPr lang="en-US" sz="2400" dirty="0"/>
              <a:t> </a:t>
            </a:r>
            <a:r>
              <a:rPr lang="en-US" sz="2400" dirty="0" err="1"/>
              <a:t>aparece</a:t>
            </a:r>
            <a:r>
              <a:rPr lang="en-US" sz="2400" dirty="0"/>
              <a:t> y </a:t>
            </a:r>
            <a:r>
              <a:rPr lang="en-US" sz="2400" dirty="0" err="1"/>
              <a:t>desaparece</a:t>
            </a:r>
            <a:r>
              <a:rPr lang="en-US" sz="2400" dirty="0"/>
              <a:t>, </a:t>
            </a:r>
            <a:r>
              <a:rPr lang="en-US" sz="2400" dirty="0" err="1"/>
              <a:t>que</a:t>
            </a:r>
            <a:r>
              <a:rPr lang="en-US" sz="2400" dirty="0"/>
              <a:t> </a:t>
            </a:r>
            <a:r>
              <a:rPr lang="en-US" sz="2400" dirty="0" err="1"/>
              <a:t>puede</a:t>
            </a:r>
            <a:r>
              <a:rPr lang="en-US" sz="2400" dirty="0"/>
              <a:t> </a:t>
            </a:r>
            <a:r>
              <a:rPr lang="en-US" sz="2400" dirty="0" err="1"/>
              <a:t>cambiar</a:t>
            </a:r>
            <a:r>
              <a:rPr lang="en-US" sz="2400" dirty="0"/>
              <a:t> en </a:t>
            </a:r>
            <a:r>
              <a:rPr lang="en-US" sz="2400" dirty="0" err="1"/>
              <a:t>depuración</a:t>
            </a:r>
            <a:r>
              <a:rPr lang="en-US" sz="2400" dirty="0"/>
              <a:t>. </a:t>
            </a:r>
            <a:r>
              <a:rPr lang="en-US" sz="2400" dirty="0" err="1"/>
              <a:t>Suele</a:t>
            </a:r>
            <a:r>
              <a:rPr lang="en-US" sz="2400" dirty="0"/>
              <a:t> ser </a:t>
            </a:r>
            <a:r>
              <a:rPr lang="en-US" sz="2400" dirty="0" err="1"/>
              <a:t>causado</a:t>
            </a:r>
            <a:r>
              <a:rPr lang="en-US" sz="2400" dirty="0"/>
              <a:t> </a:t>
            </a:r>
            <a:r>
              <a:rPr lang="en-US" sz="2400" dirty="0" err="1"/>
              <a:t>por</a:t>
            </a:r>
            <a:r>
              <a:rPr lang="en-US" sz="2400" dirty="0"/>
              <a:t> </a:t>
            </a:r>
            <a:r>
              <a:rPr lang="en-US" sz="2400" dirty="0" err="1"/>
              <a:t>problemas</a:t>
            </a:r>
            <a:r>
              <a:rPr lang="en-US" sz="2400" dirty="0"/>
              <a:t> de </a:t>
            </a:r>
            <a:r>
              <a:rPr lang="en-US" sz="2400" dirty="0" err="1"/>
              <a:t>tiempo</a:t>
            </a:r>
            <a:r>
              <a:rPr lang="en-US" sz="2400" dirty="0"/>
              <a:t>, </a:t>
            </a:r>
            <a:r>
              <a:rPr lang="en-US" sz="2400" dirty="0" err="1"/>
              <a:t>concurrencia</a:t>
            </a:r>
            <a:r>
              <a:rPr lang="en-US" sz="2400" dirty="0"/>
              <a:t>,… </a:t>
            </a:r>
            <a:r>
              <a:rPr lang="en-US" sz="2400" dirty="0" err="1"/>
              <a:t>Típicamente</a:t>
            </a:r>
            <a:r>
              <a:rPr lang="en-US" sz="2400" dirty="0"/>
              <a:t> el error </a:t>
            </a:r>
            <a:r>
              <a:rPr lang="en-US" sz="2400" dirty="0" err="1"/>
              <a:t>sería</a:t>
            </a:r>
            <a:r>
              <a:rPr lang="en-US" sz="2400" dirty="0"/>
              <a:t> </a:t>
            </a:r>
            <a:r>
              <a:rPr lang="en-US" sz="2400" dirty="0" err="1"/>
              <a:t>reportado</a:t>
            </a:r>
            <a:r>
              <a:rPr lang="en-US" sz="2400" dirty="0"/>
              <a:t> </a:t>
            </a:r>
            <a:r>
              <a:rPr lang="en-US" sz="2400" dirty="0" err="1"/>
              <a:t>como</a:t>
            </a:r>
            <a:r>
              <a:rPr lang="en-US" sz="2400" dirty="0"/>
              <a:t>:</a:t>
            </a:r>
          </a:p>
          <a:p>
            <a:pPr lvl="1">
              <a:buNone/>
            </a:pPr>
            <a:r>
              <a:rPr lang="en-US" sz="1800" dirty="0">
                <a:solidFill>
                  <a:srgbClr val="0070C0"/>
                </a:solidFill>
              </a:rPr>
              <a:t>	“The eighth time that test case 1243 was run, the system crashed. We’ve run that test case several dozen times since, and no other failure has occurred. No memory dump is available. Please fix the bug.”</a:t>
            </a:r>
            <a:endParaRPr lang="es-ES" sz="1800" dirty="0">
              <a:solidFill>
                <a:srgbClr val="0070C0"/>
              </a:solidFill>
            </a:endParaRPr>
          </a:p>
          <a:p>
            <a:r>
              <a:rPr lang="en-US" sz="2400" dirty="0" err="1"/>
              <a:t>Una</a:t>
            </a:r>
            <a:r>
              <a:rPr lang="en-US" sz="2400" dirty="0"/>
              <a:t> </a:t>
            </a:r>
            <a:r>
              <a:rPr lang="en-US" sz="2400" dirty="0" err="1"/>
              <a:t>característica</a:t>
            </a:r>
            <a:r>
              <a:rPr lang="en-US" sz="2400" dirty="0"/>
              <a:t> de </a:t>
            </a:r>
            <a:r>
              <a:rPr lang="en-US" sz="2400" dirty="0" err="1"/>
              <a:t>estos</a:t>
            </a:r>
            <a:r>
              <a:rPr lang="en-US" sz="2400" dirty="0"/>
              <a:t> </a:t>
            </a:r>
            <a:r>
              <a:rPr lang="en-US" sz="2400" dirty="0" err="1"/>
              <a:t>defectos</a:t>
            </a:r>
            <a:r>
              <a:rPr lang="en-US" sz="2400" dirty="0"/>
              <a:t> </a:t>
            </a:r>
            <a:r>
              <a:rPr lang="en-US" sz="2400" dirty="0" err="1"/>
              <a:t>es</a:t>
            </a:r>
            <a:r>
              <a:rPr lang="en-US" sz="2400" dirty="0"/>
              <a:t> </a:t>
            </a:r>
            <a:r>
              <a:rPr lang="en-US" sz="2400" dirty="0" err="1"/>
              <a:t>que</a:t>
            </a:r>
            <a:r>
              <a:rPr lang="en-US" sz="2400" dirty="0"/>
              <a:t> el </a:t>
            </a:r>
            <a:r>
              <a:rPr lang="en-US" sz="2400" dirty="0" err="1"/>
              <a:t>mismo</a:t>
            </a:r>
            <a:r>
              <a:rPr lang="en-US" sz="2400" dirty="0"/>
              <a:t> error </a:t>
            </a:r>
            <a:r>
              <a:rPr lang="en-US" sz="2400" dirty="0" err="1"/>
              <a:t>interno</a:t>
            </a:r>
            <a:r>
              <a:rPr lang="en-US" sz="2400" dirty="0"/>
              <a:t> </a:t>
            </a:r>
            <a:r>
              <a:rPr lang="en-US" sz="2400" dirty="0" err="1"/>
              <a:t>puede</a:t>
            </a:r>
            <a:r>
              <a:rPr lang="en-US" sz="2400" dirty="0"/>
              <a:t> </a:t>
            </a:r>
            <a:r>
              <a:rPr lang="en-US" sz="2400" dirty="0" err="1"/>
              <a:t>dar</a:t>
            </a:r>
            <a:r>
              <a:rPr lang="en-US" sz="2400" dirty="0"/>
              <a:t> </a:t>
            </a:r>
            <a:r>
              <a:rPr lang="en-US" sz="2400" dirty="0" err="1"/>
              <a:t>lugar</a:t>
            </a:r>
            <a:r>
              <a:rPr lang="en-US" sz="2400" dirty="0"/>
              <a:t> a </a:t>
            </a:r>
            <a:r>
              <a:rPr lang="en-US" sz="2400" dirty="0" err="1"/>
              <a:t>diferentes</a:t>
            </a:r>
            <a:r>
              <a:rPr lang="en-US" sz="2400" dirty="0"/>
              <a:t> </a:t>
            </a:r>
            <a:r>
              <a:rPr lang="en-US" sz="2400" dirty="0" err="1"/>
              <a:t>fallos</a:t>
            </a:r>
            <a:r>
              <a:rPr lang="en-US" sz="2400" dirty="0"/>
              <a:t> y </a:t>
            </a:r>
            <a:r>
              <a:rPr lang="en-US" sz="2400" dirty="0" err="1"/>
              <a:t>que</a:t>
            </a:r>
            <a:r>
              <a:rPr lang="en-US" sz="2400" dirty="0"/>
              <a:t> </a:t>
            </a:r>
            <a:r>
              <a:rPr lang="en-US" sz="2400" dirty="0" err="1"/>
              <a:t>estos</a:t>
            </a:r>
            <a:r>
              <a:rPr lang="en-US" sz="2400" dirty="0"/>
              <a:t> </a:t>
            </a:r>
            <a:r>
              <a:rPr lang="en-US" sz="2400" dirty="0" err="1"/>
              <a:t>pueden</a:t>
            </a:r>
            <a:r>
              <a:rPr lang="en-US" sz="2400" dirty="0"/>
              <a:t> </a:t>
            </a:r>
            <a:r>
              <a:rPr lang="en-US" sz="2400" dirty="0" err="1"/>
              <a:t>aparecer</a:t>
            </a:r>
            <a:r>
              <a:rPr lang="en-US" sz="2400" dirty="0"/>
              <a:t> </a:t>
            </a:r>
            <a:r>
              <a:rPr lang="en-US" sz="2400" dirty="0" err="1"/>
              <a:t>más</a:t>
            </a:r>
            <a:r>
              <a:rPr lang="en-US" sz="2400" dirty="0"/>
              <a:t> </a:t>
            </a:r>
            <a:r>
              <a:rPr lang="en-US" sz="2400" dirty="0" err="1"/>
              <a:t>tarde</a:t>
            </a:r>
            <a:r>
              <a:rPr lang="en-US" sz="2400" dirty="0"/>
              <a:t> y en </a:t>
            </a:r>
            <a:r>
              <a:rPr lang="en-US" sz="2400" dirty="0" err="1"/>
              <a:t>otro</a:t>
            </a:r>
            <a:r>
              <a:rPr lang="en-US" sz="2400" dirty="0"/>
              <a:t> </a:t>
            </a:r>
            <a:r>
              <a:rPr lang="en-US" sz="2400" dirty="0" err="1"/>
              <a:t>lugar</a:t>
            </a:r>
            <a:r>
              <a:rPr lang="en-US" sz="2400" dirty="0"/>
              <a:t> del </a:t>
            </a:r>
            <a:r>
              <a:rPr lang="en-US" sz="2400" dirty="0" err="1"/>
              <a:t>código</a:t>
            </a:r>
            <a:endParaRPr lang="en-US" sz="2400" dirty="0"/>
          </a:p>
          <a:p>
            <a:endParaRPr lang="es-ES" dirty="0"/>
          </a:p>
          <a:p>
            <a:pPr lvl="1"/>
            <a:endParaRPr lang="en-U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36</a:t>
            </a:fld>
            <a:endParaRPr lang="es-E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Terminología</a:t>
            </a:r>
            <a:br>
              <a:rPr lang="es-ES" sz="2800" dirty="0">
                <a:solidFill>
                  <a:srgbClr val="0070C0"/>
                </a:solidFill>
              </a:rPr>
            </a:br>
            <a:r>
              <a:rPr lang="es-ES" sz="2800" i="1" dirty="0" err="1">
                <a:solidFill>
                  <a:srgbClr val="0070C0"/>
                </a:solidFill>
              </a:rPr>
              <a:t>Heisenbugs</a:t>
            </a:r>
            <a:r>
              <a:rPr lang="es-ES" sz="2800" dirty="0">
                <a:solidFill>
                  <a:srgbClr val="0070C0"/>
                </a:solidFill>
              </a:rPr>
              <a:t> y </a:t>
            </a:r>
            <a:r>
              <a:rPr lang="es-ES" sz="2800" i="1" dirty="0" err="1">
                <a:solidFill>
                  <a:srgbClr val="0070C0"/>
                </a:solidFill>
              </a:rPr>
              <a:t>Bohrbugs</a:t>
            </a:r>
            <a:endParaRPr lang="es-ES" sz="2800" i="1" dirty="0">
              <a:solidFill>
                <a:srgbClr val="0070C0"/>
              </a:solidFill>
            </a:endParaRP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37</a:t>
            </a:fld>
            <a:endParaRPr lang="es-ES"/>
          </a:p>
        </p:txBody>
      </p:sp>
      <p:pic>
        <p:nvPicPr>
          <p:cNvPr id="53274" name="Picture 26"/>
          <p:cNvPicPr>
            <a:picLocks noChangeAspect="1" noChangeArrowheads="1"/>
          </p:cNvPicPr>
          <p:nvPr/>
        </p:nvPicPr>
        <p:blipFill>
          <a:blip r:embed="rId2" cstate="print"/>
          <a:srcRect/>
          <a:stretch>
            <a:fillRect/>
          </a:stretch>
        </p:blipFill>
        <p:spPr bwMode="auto">
          <a:xfrm>
            <a:off x="3359696" y="1412776"/>
            <a:ext cx="5616624" cy="5249460"/>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Estándares de Seguridad y Certificación</a:t>
            </a:r>
          </a:p>
        </p:txBody>
      </p:sp>
      <p:sp>
        <p:nvSpPr>
          <p:cNvPr id="3" name="2 Marcador de contenido"/>
          <p:cNvSpPr>
            <a:spLocks noGrp="1"/>
          </p:cNvSpPr>
          <p:nvPr>
            <p:ph idx="1"/>
          </p:nvPr>
        </p:nvSpPr>
        <p:spPr/>
        <p:txBody>
          <a:bodyPr>
            <a:normAutofit/>
          </a:bodyPr>
          <a:lstStyle/>
          <a:p>
            <a:r>
              <a:rPr lang="es-ES" sz="2400" dirty="0"/>
              <a:t>Existen muchos estándares y no está clara la frontera entre muchos de ellos</a:t>
            </a:r>
          </a:p>
          <a:p>
            <a:r>
              <a:rPr lang="es-ES" sz="2400" dirty="0"/>
              <a:t>También existen muchas organizaciones diferentes que promulgan estándares</a:t>
            </a:r>
          </a:p>
          <a:p>
            <a:pPr lvl="1"/>
            <a:r>
              <a:rPr lang="es-ES" sz="1800" dirty="0"/>
              <a:t>Nos centraremos en solo los más </a:t>
            </a:r>
            <a:r>
              <a:rPr lang="es-ES" sz="1800" dirty="0" err="1"/>
              <a:t>relavantes</a:t>
            </a:r>
            <a:r>
              <a:rPr lang="es-ES" sz="1800" dirty="0"/>
              <a:t> de la International </a:t>
            </a:r>
            <a:r>
              <a:rPr lang="es-ES" sz="1800" dirty="0" err="1"/>
              <a:t>Electrotechnical</a:t>
            </a:r>
            <a:r>
              <a:rPr lang="es-ES" sz="1800" dirty="0"/>
              <a:t> </a:t>
            </a:r>
            <a:r>
              <a:rPr lang="es-ES" sz="1800" dirty="0" err="1"/>
              <a:t>Commission</a:t>
            </a:r>
            <a:r>
              <a:rPr lang="es-ES" sz="1800" dirty="0"/>
              <a:t> (IEC) </a:t>
            </a:r>
            <a:r>
              <a:rPr lang="en-US" sz="1800" dirty="0"/>
              <a:t>y la  International Organization for Standards (ISO)</a:t>
            </a:r>
          </a:p>
          <a:p>
            <a:pPr lvl="1"/>
            <a:r>
              <a:rPr lang="en-US" sz="1800" dirty="0" err="1"/>
              <a:t>Ambas</a:t>
            </a:r>
            <a:r>
              <a:rPr lang="en-US" sz="1800" dirty="0"/>
              <a:t> </a:t>
            </a:r>
            <a:r>
              <a:rPr lang="en-US" sz="1800" dirty="0" err="1"/>
              <a:t>están</a:t>
            </a:r>
            <a:r>
              <a:rPr lang="en-US" sz="1800" dirty="0"/>
              <a:t> </a:t>
            </a:r>
            <a:r>
              <a:rPr lang="en-US" sz="1800" dirty="0" err="1"/>
              <a:t>establecidas</a:t>
            </a:r>
            <a:r>
              <a:rPr lang="en-US" sz="1800" dirty="0"/>
              <a:t> en </a:t>
            </a:r>
            <a:r>
              <a:rPr lang="en-US" sz="1800" dirty="0" err="1"/>
              <a:t>Suiza</a:t>
            </a:r>
            <a:r>
              <a:rPr lang="en-US" sz="1800" dirty="0"/>
              <a:t> y en </a:t>
            </a:r>
            <a:r>
              <a:rPr lang="en-US" sz="1800" dirty="0" err="1"/>
              <a:t>muchas</a:t>
            </a:r>
            <a:r>
              <a:rPr lang="en-US" sz="1800" dirty="0"/>
              <a:t> </a:t>
            </a:r>
            <a:r>
              <a:rPr lang="en-US" sz="1800" dirty="0" err="1"/>
              <a:t>ocasiones</a:t>
            </a:r>
            <a:r>
              <a:rPr lang="en-US" sz="1800" dirty="0"/>
              <a:t> </a:t>
            </a:r>
            <a:r>
              <a:rPr lang="en-US" sz="1800" dirty="0" err="1"/>
              <a:t>colaboran</a:t>
            </a:r>
            <a:r>
              <a:rPr lang="en-US" sz="1800" dirty="0"/>
              <a:t> en </a:t>
            </a:r>
            <a:r>
              <a:rPr lang="en-US" sz="1800" dirty="0" err="1"/>
              <a:t>estándares</a:t>
            </a:r>
            <a:r>
              <a:rPr lang="en-US" sz="1800" dirty="0"/>
              <a:t> </a:t>
            </a:r>
            <a:r>
              <a:rPr lang="en-US" sz="1800" dirty="0" err="1"/>
              <a:t>conjuntos</a:t>
            </a:r>
            <a:r>
              <a:rPr lang="en-US" sz="1800" dirty="0"/>
              <a:t> (ISO/IEC 42010 </a:t>
            </a:r>
            <a:r>
              <a:rPr lang="en-US" sz="1800" dirty="0" err="1"/>
              <a:t>sobre</a:t>
            </a:r>
            <a:r>
              <a:rPr lang="en-US" sz="1800" dirty="0"/>
              <a:t> </a:t>
            </a:r>
            <a:r>
              <a:rPr lang="en-US" sz="1800" dirty="0" err="1"/>
              <a:t>descripción</a:t>
            </a:r>
            <a:r>
              <a:rPr lang="en-US" sz="1800" dirty="0"/>
              <a:t> de </a:t>
            </a:r>
            <a:r>
              <a:rPr lang="en-US" sz="1800" dirty="0" err="1"/>
              <a:t>arquitecturas</a:t>
            </a:r>
            <a:r>
              <a:rPr lang="en-US" sz="1800" dirty="0"/>
              <a:t>)</a:t>
            </a:r>
          </a:p>
          <a:p>
            <a:pPr lvl="1"/>
            <a:r>
              <a:rPr lang="en-US" sz="1800" dirty="0" err="1">
                <a:solidFill>
                  <a:srgbClr val="FF0000"/>
                </a:solidFill>
              </a:rPr>
              <a:t>Ambas</a:t>
            </a:r>
            <a:r>
              <a:rPr lang="en-US" sz="1800" dirty="0">
                <a:solidFill>
                  <a:srgbClr val="FF0000"/>
                </a:solidFill>
              </a:rPr>
              <a:t> </a:t>
            </a:r>
            <a:r>
              <a:rPr lang="en-US" sz="1800" dirty="0" err="1">
                <a:solidFill>
                  <a:srgbClr val="FF0000"/>
                </a:solidFill>
              </a:rPr>
              <a:t>organizaciones</a:t>
            </a:r>
            <a:r>
              <a:rPr lang="en-US" sz="1800" dirty="0">
                <a:solidFill>
                  <a:srgbClr val="FF0000"/>
                </a:solidFill>
              </a:rPr>
              <a:t> </a:t>
            </a:r>
            <a:r>
              <a:rPr lang="en-US" sz="1800" dirty="0" err="1">
                <a:solidFill>
                  <a:srgbClr val="FF0000"/>
                </a:solidFill>
              </a:rPr>
              <a:t>cobran</a:t>
            </a:r>
            <a:r>
              <a:rPr lang="en-US" sz="1800" dirty="0">
                <a:solidFill>
                  <a:srgbClr val="FF0000"/>
                </a:solidFill>
              </a:rPr>
              <a:t> </a:t>
            </a:r>
            <a:r>
              <a:rPr lang="en-US" sz="1800" dirty="0"/>
              <a:t>(</a:t>
            </a:r>
            <a:r>
              <a:rPr lang="en-US" sz="1800" dirty="0" err="1"/>
              <a:t>además</a:t>
            </a:r>
            <a:r>
              <a:rPr lang="en-US" sz="1800" dirty="0"/>
              <a:t> un </a:t>
            </a:r>
            <a:r>
              <a:rPr lang="en-US" sz="1800" dirty="0" err="1"/>
              <a:t>precio</a:t>
            </a:r>
            <a:r>
              <a:rPr lang="en-US" sz="1800" dirty="0"/>
              <a:t> alto) </a:t>
            </a:r>
            <a:r>
              <a:rPr lang="en-US" sz="1800" dirty="0" err="1"/>
              <a:t>por</a:t>
            </a:r>
            <a:r>
              <a:rPr lang="en-US" sz="1800" dirty="0"/>
              <a:t> el </a:t>
            </a:r>
            <a:r>
              <a:rPr lang="en-US" sz="1800" dirty="0" err="1"/>
              <a:t>acceso</a:t>
            </a:r>
            <a:r>
              <a:rPr lang="en-US" sz="1800" dirty="0"/>
              <a:t> a los </a:t>
            </a:r>
            <a:r>
              <a:rPr lang="en-US" sz="1800" dirty="0" err="1"/>
              <a:t>estándares</a:t>
            </a:r>
            <a:r>
              <a:rPr lang="en-US" sz="1800" dirty="0"/>
              <a:t> (</a:t>
            </a:r>
            <a:r>
              <a:rPr lang="en-US" sz="1800" dirty="0" err="1"/>
              <a:t>otras</a:t>
            </a:r>
            <a:r>
              <a:rPr lang="en-US" sz="1800" dirty="0"/>
              <a:t> </a:t>
            </a:r>
            <a:r>
              <a:rPr lang="en-US" sz="1800" dirty="0" err="1"/>
              <a:t>como</a:t>
            </a:r>
            <a:r>
              <a:rPr lang="en-US" sz="1800" dirty="0"/>
              <a:t> IETF o DMTF no lo </a:t>
            </a:r>
            <a:r>
              <a:rPr lang="en-US" sz="1800" dirty="0" err="1"/>
              <a:t>hacen</a:t>
            </a:r>
            <a:r>
              <a:rPr lang="en-US" sz="1800" dirty="0"/>
              <a:t>)</a:t>
            </a:r>
          </a:p>
          <a:p>
            <a:pPr lvl="1"/>
            <a:r>
              <a:rPr lang="en-US" sz="1800" dirty="0"/>
              <a:t>¿</a:t>
            </a:r>
            <a:r>
              <a:rPr lang="en-US" sz="1800" dirty="0" err="1"/>
              <a:t>Por</a:t>
            </a:r>
            <a:r>
              <a:rPr lang="en-US" sz="1800" dirty="0"/>
              <a:t> </a:t>
            </a:r>
            <a:r>
              <a:rPr lang="en-US" sz="1800" dirty="0" err="1"/>
              <a:t>qué</a:t>
            </a:r>
            <a:r>
              <a:rPr lang="en-US" sz="1800" dirty="0"/>
              <a:t>? Para </a:t>
            </a:r>
            <a:r>
              <a:rPr lang="en-US" sz="1800" dirty="0" err="1"/>
              <a:t>evitar</a:t>
            </a:r>
            <a:r>
              <a:rPr lang="en-US" sz="1800" dirty="0"/>
              <a:t> </a:t>
            </a:r>
            <a:r>
              <a:rPr lang="en-US" sz="1800" dirty="0" err="1"/>
              <a:t>otras</a:t>
            </a:r>
            <a:r>
              <a:rPr lang="en-US" sz="1800" dirty="0"/>
              <a:t> </a:t>
            </a:r>
            <a:r>
              <a:rPr lang="en-US" sz="1800" dirty="0" err="1"/>
              <a:t>fuentes</a:t>
            </a:r>
            <a:r>
              <a:rPr lang="en-US" sz="1800" dirty="0"/>
              <a:t> de </a:t>
            </a:r>
            <a:r>
              <a:rPr lang="en-US" sz="1800" dirty="0" err="1"/>
              <a:t>financiación</a:t>
            </a:r>
            <a:r>
              <a:rPr lang="en-US" sz="1800" dirty="0"/>
              <a:t> </a:t>
            </a:r>
            <a:r>
              <a:rPr lang="en-US" sz="1800" dirty="0" err="1"/>
              <a:t>como</a:t>
            </a:r>
            <a:r>
              <a:rPr lang="en-US" sz="1800" dirty="0"/>
              <a:t> los </a:t>
            </a:r>
            <a:r>
              <a:rPr lang="en-US" sz="1800" dirty="0">
                <a:solidFill>
                  <a:srgbClr val="FF0000"/>
                </a:solidFill>
              </a:rPr>
              <a:t>royalties</a:t>
            </a:r>
            <a:r>
              <a:rPr lang="en-US" sz="1800" dirty="0"/>
              <a:t> </a:t>
            </a:r>
            <a:r>
              <a:rPr lang="en-US" sz="1800" dirty="0" err="1"/>
              <a:t>por</a:t>
            </a:r>
            <a:r>
              <a:rPr lang="en-US" sz="1800" dirty="0"/>
              <a:t> </a:t>
            </a:r>
            <a:r>
              <a:rPr lang="en-US" sz="1800" dirty="0" err="1"/>
              <a:t>las</a:t>
            </a:r>
            <a:r>
              <a:rPr lang="en-US" sz="1800" dirty="0"/>
              <a:t> </a:t>
            </a:r>
            <a:r>
              <a:rPr lang="en-US" sz="1800" dirty="0" err="1"/>
              <a:t>certificaciones</a:t>
            </a:r>
            <a:r>
              <a:rPr lang="en-US" sz="1800" dirty="0"/>
              <a:t>, </a:t>
            </a:r>
            <a:r>
              <a:rPr lang="en-US" sz="1800" dirty="0" err="1"/>
              <a:t>que</a:t>
            </a:r>
            <a:r>
              <a:rPr lang="en-US" sz="1800" dirty="0"/>
              <a:t> </a:t>
            </a:r>
            <a:r>
              <a:rPr lang="en-US" sz="1800" dirty="0" err="1"/>
              <a:t>podrían</a:t>
            </a:r>
            <a:r>
              <a:rPr lang="en-US" sz="1800" dirty="0"/>
              <a:t> </a:t>
            </a:r>
            <a:r>
              <a:rPr lang="en-US" sz="1800" dirty="0" err="1"/>
              <a:t>ocasionar</a:t>
            </a:r>
            <a:r>
              <a:rPr lang="en-US" sz="1800" dirty="0"/>
              <a:t> </a:t>
            </a:r>
            <a:r>
              <a:rPr lang="en-US" sz="1800" dirty="0" err="1">
                <a:solidFill>
                  <a:srgbClr val="FF0000"/>
                </a:solidFill>
              </a:rPr>
              <a:t>conflictos</a:t>
            </a:r>
            <a:r>
              <a:rPr lang="en-US" sz="1800" dirty="0">
                <a:solidFill>
                  <a:srgbClr val="FF0000"/>
                </a:solidFill>
              </a:rPr>
              <a:t> de </a:t>
            </a:r>
            <a:r>
              <a:rPr lang="en-US" sz="1800" dirty="0" err="1">
                <a:solidFill>
                  <a:srgbClr val="FF0000"/>
                </a:solidFill>
              </a:rPr>
              <a:t>interés</a:t>
            </a:r>
            <a:endParaRPr lang="en-US" sz="1800" dirty="0">
              <a:solidFill>
                <a:srgbClr val="FF0000"/>
              </a:solidFill>
            </a:endParaRPr>
          </a:p>
          <a:p>
            <a:pPr lvl="1"/>
            <a:r>
              <a:rPr lang="en-US" sz="1800" dirty="0"/>
              <a:t>El </a:t>
            </a:r>
            <a:r>
              <a:rPr lang="en-US" sz="1800" dirty="0" err="1"/>
              <a:t>proceso</a:t>
            </a:r>
            <a:r>
              <a:rPr lang="en-US" sz="1800" dirty="0"/>
              <a:t> de </a:t>
            </a:r>
            <a:r>
              <a:rPr lang="en-US" sz="1800" dirty="0" err="1"/>
              <a:t>elaboración</a:t>
            </a:r>
            <a:r>
              <a:rPr lang="en-US" sz="1800" dirty="0"/>
              <a:t> de los </a:t>
            </a:r>
            <a:r>
              <a:rPr lang="en-US" sz="1800" dirty="0" err="1"/>
              <a:t>estándares</a:t>
            </a:r>
            <a:r>
              <a:rPr lang="en-US" sz="1800" dirty="0"/>
              <a:t> </a:t>
            </a:r>
            <a:r>
              <a:rPr lang="en-US" sz="1800" dirty="0" err="1"/>
              <a:t>es</a:t>
            </a:r>
            <a:r>
              <a:rPr lang="en-US" sz="1800" dirty="0"/>
              <a:t> similar (un </a:t>
            </a:r>
            <a:r>
              <a:rPr lang="en-US" sz="1800" dirty="0" err="1"/>
              <a:t>país</a:t>
            </a:r>
            <a:r>
              <a:rPr lang="en-US" sz="1800" dirty="0"/>
              <a:t>, un </a:t>
            </a:r>
            <a:r>
              <a:rPr lang="en-US" sz="1800" dirty="0" err="1"/>
              <a:t>voto</a:t>
            </a:r>
            <a:r>
              <a:rPr lang="en-US" sz="1800" dirty="0"/>
              <a:t>).</a:t>
            </a:r>
          </a:p>
          <a:p>
            <a:endParaRPr lang="es-ES" sz="24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38</a:t>
            </a:fld>
            <a:endParaRPr lang="es-E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El Proceso de Certificación</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39</a:t>
            </a:fld>
            <a:endParaRPr lang="es-ES"/>
          </a:p>
        </p:txBody>
      </p:sp>
      <p:pic>
        <p:nvPicPr>
          <p:cNvPr id="54274" name="Picture 2"/>
          <p:cNvPicPr>
            <a:picLocks noGrp="1" noChangeAspect="1" noChangeArrowheads="1"/>
          </p:cNvPicPr>
          <p:nvPr>
            <p:ph idx="1"/>
          </p:nvPr>
        </p:nvPicPr>
        <p:blipFill>
          <a:blip r:embed="rId2" cstate="print"/>
          <a:srcRect/>
          <a:stretch>
            <a:fillRect/>
          </a:stretch>
        </p:blipFill>
        <p:spPr bwMode="auto">
          <a:xfrm>
            <a:off x="2689505" y="1484785"/>
            <a:ext cx="6812990" cy="4525963"/>
          </a:xfrm>
          <a:prstGeom prst="rect">
            <a:avLst/>
          </a:prstGeom>
          <a:noFill/>
          <a:ln w="9525">
            <a:noFill/>
            <a:miter lim="800000"/>
            <a:headEnd/>
            <a:tailEnd/>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Estándares de Seguridad y Certificación</a:t>
            </a:r>
          </a:p>
        </p:txBody>
      </p:sp>
      <p:sp>
        <p:nvSpPr>
          <p:cNvPr id="3" name="2 Marcador de contenido"/>
          <p:cNvSpPr>
            <a:spLocks noGrp="1"/>
          </p:cNvSpPr>
          <p:nvPr>
            <p:ph idx="1"/>
          </p:nvPr>
        </p:nvSpPr>
        <p:spPr/>
        <p:txBody>
          <a:bodyPr>
            <a:normAutofit/>
          </a:bodyPr>
          <a:lstStyle/>
          <a:p>
            <a:r>
              <a:rPr lang="es-ES" sz="2400" dirty="0"/>
              <a:t>Según el estándar se requerirá:</a:t>
            </a:r>
          </a:p>
          <a:p>
            <a:pPr lvl="1"/>
            <a:r>
              <a:rPr lang="es-ES" sz="2000" dirty="0"/>
              <a:t>El uso de diferentes </a:t>
            </a:r>
            <a:r>
              <a:rPr lang="es-ES" sz="2000" dirty="0">
                <a:solidFill>
                  <a:srgbClr val="FF0000"/>
                </a:solidFill>
              </a:rPr>
              <a:t>técnicas</a:t>
            </a:r>
            <a:r>
              <a:rPr lang="es-ES" sz="2000" dirty="0"/>
              <a:t> (prevención, tolerancia, análisis y eliminación) en las </a:t>
            </a:r>
            <a:r>
              <a:rPr lang="es-ES" sz="2000" dirty="0">
                <a:solidFill>
                  <a:srgbClr val="FF0000"/>
                </a:solidFill>
              </a:rPr>
              <a:t>diferentes etapas del ciclo de vida del software </a:t>
            </a:r>
            <a:r>
              <a:rPr lang="es-ES" sz="2000" dirty="0"/>
              <a:t>para cada nivel de criticidad</a:t>
            </a:r>
          </a:p>
          <a:p>
            <a:pPr lvl="1"/>
            <a:r>
              <a:rPr lang="es-ES" sz="2000" dirty="0"/>
              <a:t>Que las mismas actividades, técnicas y métodos se utilicen para el </a:t>
            </a:r>
            <a:r>
              <a:rPr lang="es-ES" sz="2000" dirty="0">
                <a:solidFill>
                  <a:srgbClr val="FF0000"/>
                </a:solidFill>
              </a:rPr>
              <a:t>software configurable y sus datos</a:t>
            </a:r>
            <a:r>
              <a:rPr lang="es-ES" sz="2000" dirty="0"/>
              <a:t>. Hay sistemas críticos que reutilizan software crítico genérico, pero configurable a través de sus datos y estos son críticos también</a:t>
            </a:r>
          </a:p>
          <a:p>
            <a:pPr lvl="1"/>
            <a:r>
              <a:rPr lang="es-ES" sz="2000" dirty="0"/>
              <a:t>Diferentes niveles de </a:t>
            </a:r>
            <a:r>
              <a:rPr lang="es-ES" sz="2000" dirty="0">
                <a:solidFill>
                  <a:srgbClr val="FF0000"/>
                </a:solidFill>
              </a:rPr>
              <a:t>independencia del personal </a:t>
            </a:r>
            <a:r>
              <a:rPr lang="es-ES" sz="2000" dirty="0"/>
              <a:t>para realizar algunas actividades</a:t>
            </a:r>
          </a:p>
          <a:p>
            <a:pPr lvl="1"/>
            <a:r>
              <a:rPr lang="es-ES" sz="2000" dirty="0"/>
              <a:t>Exigencias respecto a la confianza necesaria respecto a la </a:t>
            </a:r>
            <a:r>
              <a:rPr lang="es-ES" sz="2000" dirty="0">
                <a:solidFill>
                  <a:srgbClr val="FF0000"/>
                </a:solidFill>
              </a:rPr>
              <a:t>reutilización </a:t>
            </a:r>
            <a:r>
              <a:rPr lang="es-ES" sz="2000" dirty="0"/>
              <a:t>como parte del software crítico</a:t>
            </a:r>
          </a:p>
          <a:p>
            <a:pPr lvl="1"/>
            <a:r>
              <a:rPr lang="es-ES" sz="2000" dirty="0"/>
              <a:t>Exigencias respecto a las </a:t>
            </a:r>
            <a:r>
              <a:rPr lang="es-ES" sz="2000" dirty="0">
                <a:solidFill>
                  <a:srgbClr val="FF0000"/>
                </a:solidFill>
              </a:rPr>
              <a:t>herramientas utilizadas </a:t>
            </a:r>
            <a:r>
              <a:rPr lang="es-ES" sz="2000" dirty="0"/>
              <a:t>en el desarrollo, verificación y validación</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40</a:t>
            </a:fld>
            <a:endParaRPr lang="es-E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pPr lvl="1" algn="ctr"/>
            <a:r>
              <a:rPr lang="es-ES" sz="2800" dirty="0">
                <a:solidFill>
                  <a:srgbClr val="0070C0"/>
                </a:solidFill>
              </a:rPr>
              <a:t>Estándares de Seguridad y Certificación</a:t>
            </a:r>
          </a:p>
        </p:txBody>
      </p:sp>
      <p:sp>
        <p:nvSpPr>
          <p:cNvPr id="3" name="2 Marcador de contenido"/>
          <p:cNvSpPr>
            <a:spLocks noGrp="1"/>
          </p:cNvSpPr>
          <p:nvPr>
            <p:ph idx="1"/>
          </p:nvPr>
        </p:nvSpPr>
        <p:spPr/>
        <p:txBody>
          <a:bodyPr>
            <a:normAutofit/>
          </a:bodyPr>
          <a:lstStyle/>
          <a:p>
            <a:r>
              <a:rPr lang="en-US" sz="2400" dirty="0" err="1">
                <a:solidFill>
                  <a:srgbClr val="0070C0"/>
                </a:solidFill>
              </a:rPr>
              <a:t>Certificación</a:t>
            </a:r>
            <a:r>
              <a:rPr lang="en-US" sz="2400" dirty="0">
                <a:solidFill>
                  <a:srgbClr val="0070C0"/>
                </a:solidFill>
              </a:rPr>
              <a:t> de un </a:t>
            </a:r>
            <a:r>
              <a:rPr lang="en-US" sz="2400" dirty="0" err="1">
                <a:solidFill>
                  <a:srgbClr val="0070C0"/>
                </a:solidFill>
              </a:rPr>
              <a:t>producto</a:t>
            </a:r>
            <a:r>
              <a:rPr lang="en-US" sz="2400" dirty="0">
                <a:solidFill>
                  <a:srgbClr val="0070C0"/>
                </a:solidFill>
              </a:rPr>
              <a:t> o </a:t>
            </a:r>
            <a:r>
              <a:rPr lang="en-US" sz="2400" dirty="0" err="1">
                <a:solidFill>
                  <a:srgbClr val="0070C0"/>
                </a:solidFill>
              </a:rPr>
              <a:t>proceso</a:t>
            </a:r>
            <a:r>
              <a:rPr lang="en-US" sz="2400" dirty="0">
                <a:solidFill>
                  <a:srgbClr val="0070C0"/>
                </a:solidFill>
              </a:rPr>
              <a:t>:</a:t>
            </a:r>
          </a:p>
          <a:p>
            <a:pPr lvl="1"/>
            <a:r>
              <a:rPr lang="en-US" sz="2000" dirty="0" err="1"/>
              <a:t>Una</a:t>
            </a:r>
            <a:r>
              <a:rPr lang="en-US" sz="2000" dirty="0"/>
              <a:t> </a:t>
            </a:r>
            <a:r>
              <a:rPr lang="en-US" sz="2000" dirty="0" err="1"/>
              <a:t>empresa</a:t>
            </a:r>
            <a:r>
              <a:rPr lang="en-US" sz="2000" dirty="0"/>
              <a:t> </a:t>
            </a:r>
            <a:r>
              <a:rPr lang="en-US" sz="2000" dirty="0" err="1"/>
              <a:t>puede</a:t>
            </a:r>
            <a:r>
              <a:rPr lang="en-US" sz="2000" dirty="0"/>
              <a:t> auto-</a:t>
            </a:r>
            <a:r>
              <a:rPr lang="en-US" sz="2000" dirty="0" err="1"/>
              <a:t>declarar</a:t>
            </a:r>
            <a:r>
              <a:rPr lang="en-US" sz="2000" dirty="0"/>
              <a:t> </a:t>
            </a:r>
            <a:r>
              <a:rPr lang="en-US" sz="2000" dirty="0" err="1"/>
              <a:t>que</a:t>
            </a:r>
            <a:r>
              <a:rPr lang="en-US" sz="2000" dirty="0"/>
              <a:t> un </a:t>
            </a:r>
            <a:r>
              <a:rPr lang="en-US" sz="2000" dirty="0" err="1"/>
              <a:t>producto</a:t>
            </a:r>
            <a:r>
              <a:rPr lang="en-US" sz="2000" dirty="0"/>
              <a:t> o </a:t>
            </a:r>
            <a:r>
              <a:rPr lang="en-US" sz="2000" dirty="0" err="1"/>
              <a:t>proceso</a:t>
            </a:r>
            <a:r>
              <a:rPr lang="en-US" sz="2000" dirty="0"/>
              <a:t> </a:t>
            </a:r>
            <a:r>
              <a:rPr lang="en-US" sz="2000" dirty="0" err="1"/>
              <a:t>cumple</a:t>
            </a:r>
            <a:r>
              <a:rPr lang="en-US" sz="2000" dirty="0"/>
              <a:t> un </a:t>
            </a:r>
            <a:r>
              <a:rPr lang="en-US" sz="2000" dirty="0" err="1"/>
              <a:t>determinado</a:t>
            </a:r>
            <a:r>
              <a:rPr lang="en-US" sz="2000" dirty="0"/>
              <a:t> </a:t>
            </a:r>
            <a:r>
              <a:rPr lang="en-US" sz="2000" dirty="0" err="1"/>
              <a:t>estándar</a:t>
            </a:r>
            <a:r>
              <a:rPr lang="en-US" sz="2000" dirty="0"/>
              <a:t> </a:t>
            </a:r>
            <a:r>
              <a:rPr lang="en-US" sz="2000" dirty="0" err="1"/>
              <a:t>mediante</a:t>
            </a:r>
            <a:r>
              <a:rPr lang="en-US" sz="2000" dirty="0"/>
              <a:t> la </a:t>
            </a:r>
            <a:r>
              <a:rPr lang="en-US" sz="2000" dirty="0" err="1"/>
              <a:t>confirmación</a:t>
            </a:r>
            <a:r>
              <a:rPr lang="en-US" sz="2000" dirty="0"/>
              <a:t> de </a:t>
            </a:r>
            <a:r>
              <a:rPr lang="en-US" sz="2000" dirty="0" err="1"/>
              <a:t>una</a:t>
            </a:r>
            <a:r>
              <a:rPr lang="en-US" sz="2000" dirty="0"/>
              <a:t> </a:t>
            </a:r>
            <a:r>
              <a:rPr lang="en-US" sz="2000" dirty="0" err="1"/>
              <a:t>compañia</a:t>
            </a:r>
            <a:r>
              <a:rPr lang="en-US" sz="2000" dirty="0"/>
              <a:t> </a:t>
            </a:r>
            <a:r>
              <a:rPr lang="en-US" sz="2000" dirty="0" err="1"/>
              <a:t>auditora</a:t>
            </a:r>
            <a:endParaRPr lang="en-US" sz="2000" dirty="0"/>
          </a:p>
          <a:p>
            <a:pPr lvl="1"/>
            <a:r>
              <a:rPr lang="en-US" sz="2000" dirty="0" err="1"/>
              <a:t>Alternativamente</a:t>
            </a:r>
            <a:r>
              <a:rPr lang="en-US" sz="2000" dirty="0"/>
              <a:t> </a:t>
            </a:r>
            <a:r>
              <a:rPr lang="en-US" sz="2000" dirty="0" err="1"/>
              <a:t>puede</a:t>
            </a:r>
            <a:r>
              <a:rPr lang="en-US" sz="2000" dirty="0"/>
              <a:t> </a:t>
            </a:r>
            <a:r>
              <a:rPr lang="en-US" sz="2000" dirty="0" err="1"/>
              <a:t>llevar</a:t>
            </a:r>
            <a:r>
              <a:rPr lang="en-US" sz="2000" dirty="0"/>
              <a:t> a </a:t>
            </a:r>
            <a:r>
              <a:rPr lang="en-US" sz="2000" dirty="0" err="1"/>
              <a:t>cabo</a:t>
            </a:r>
            <a:r>
              <a:rPr lang="en-US" sz="2000" dirty="0"/>
              <a:t> la </a:t>
            </a:r>
            <a:r>
              <a:rPr lang="en-US" sz="2000" dirty="0" err="1"/>
              <a:t>certificación</a:t>
            </a:r>
            <a:r>
              <a:rPr lang="en-US" sz="2000" dirty="0"/>
              <a:t> </a:t>
            </a:r>
            <a:r>
              <a:rPr lang="en-US" sz="2000" dirty="0" err="1"/>
              <a:t>frente</a:t>
            </a:r>
            <a:r>
              <a:rPr lang="en-US" sz="2000" dirty="0"/>
              <a:t> a un </a:t>
            </a:r>
            <a:r>
              <a:rPr lang="en-US" sz="2000" dirty="0" err="1"/>
              <a:t>organismo</a:t>
            </a:r>
            <a:r>
              <a:rPr lang="en-US" sz="2000" dirty="0"/>
              <a:t> de </a:t>
            </a:r>
            <a:r>
              <a:rPr lang="en-US" sz="2000" dirty="0" err="1"/>
              <a:t>certificación</a:t>
            </a:r>
            <a:endParaRPr lang="en-US" sz="2000" dirty="0"/>
          </a:p>
          <a:p>
            <a:r>
              <a:rPr lang="es-ES" sz="2400" dirty="0">
                <a:solidFill>
                  <a:srgbClr val="0070C0"/>
                </a:solidFill>
              </a:rPr>
              <a:t>Acreditación de los organismos de certificación</a:t>
            </a:r>
          </a:p>
          <a:p>
            <a:pPr lvl="1"/>
            <a:r>
              <a:rPr lang="es-ES" sz="2000" dirty="0"/>
              <a:t>Cualquier empresa, en principio, puede acreditarse como organismo de certificación</a:t>
            </a:r>
          </a:p>
          <a:p>
            <a:pPr lvl="1"/>
            <a:r>
              <a:rPr lang="es-ES" sz="2000" dirty="0"/>
              <a:t>La acreditación se lleva a cabo frente a las autoridades nacionales de certificación</a:t>
            </a:r>
          </a:p>
          <a:p>
            <a:pPr lvl="1"/>
            <a:r>
              <a:rPr lang="es-ES" sz="2000" dirty="0"/>
              <a:t>La acreditación es para un objetivo específico (ej. Hardware -no software- bajo el IEC 61508, SIL)</a:t>
            </a:r>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41</a:t>
            </a:fld>
            <a:endParaRPr lang="es-E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solidFill>
                  <a:srgbClr val="0070C0"/>
                </a:solidFill>
              </a:rPr>
              <a:t>Estándares de Seguridad y Certificación</a:t>
            </a:r>
            <a:endParaRPr lang="es-ES" dirty="0"/>
          </a:p>
        </p:txBody>
      </p:sp>
      <p:sp>
        <p:nvSpPr>
          <p:cNvPr id="3" name="2 Marcador de contenido"/>
          <p:cNvSpPr>
            <a:spLocks noGrp="1"/>
          </p:cNvSpPr>
          <p:nvPr>
            <p:ph idx="1"/>
          </p:nvPr>
        </p:nvSpPr>
        <p:spPr>
          <a:xfrm>
            <a:off x="609600" y="1639341"/>
            <a:ext cx="10972800" cy="4525963"/>
          </a:xfrm>
        </p:spPr>
        <p:txBody>
          <a:bodyPr>
            <a:normAutofit/>
          </a:bodyPr>
          <a:lstStyle/>
          <a:p>
            <a:r>
              <a:rPr lang="es-ES" sz="2800" dirty="0">
                <a:solidFill>
                  <a:srgbClr val="0070C0"/>
                </a:solidFill>
              </a:rPr>
              <a:t>Acreditación de los acreditadores</a:t>
            </a:r>
          </a:p>
          <a:p>
            <a:pPr lvl="1"/>
            <a:r>
              <a:rPr lang="en-US" sz="2400" dirty="0" err="1"/>
              <a:t>Cada</a:t>
            </a:r>
            <a:r>
              <a:rPr lang="en-US" sz="2400" dirty="0"/>
              <a:t> </a:t>
            </a:r>
            <a:r>
              <a:rPr lang="en-US" sz="2400" dirty="0" err="1"/>
              <a:t>uno</a:t>
            </a:r>
            <a:r>
              <a:rPr lang="en-US" sz="2400" dirty="0"/>
              <a:t> de los </a:t>
            </a:r>
            <a:r>
              <a:rPr lang="en-US" sz="2400" dirty="0" err="1"/>
              <a:t>paises</a:t>
            </a:r>
            <a:r>
              <a:rPr lang="en-US" sz="2400" dirty="0"/>
              <a:t> </a:t>
            </a:r>
            <a:r>
              <a:rPr lang="en-US" sz="2400" dirty="0" err="1"/>
              <a:t>que</a:t>
            </a:r>
            <a:r>
              <a:rPr lang="en-US" sz="2400" dirty="0"/>
              <a:t> </a:t>
            </a:r>
            <a:r>
              <a:rPr lang="en-US" sz="2400" dirty="0" err="1"/>
              <a:t>forman</a:t>
            </a:r>
            <a:r>
              <a:rPr lang="en-US" sz="2400" dirty="0"/>
              <a:t> parte del International Accreditation Forum (IAF), </a:t>
            </a:r>
            <a:r>
              <a:rPr lang="en-US" sz="2400" dirty="0" err="1"/>
              <a:t>tiene</a:t>
            </a:r>
            <a:r>
              <a:rPr lang="en-US" sz="2400" dirty="0"/>
              <a:t> </a:t>
            </a:r>
            <a:r>
              <a:rPr lang="en-US" sz="2400" dirty="0" err="1"/>
              <a:t>uno</a:t>
            </a:r>
            <a:r>
              <a:rPr lang="en-US" sz="2400" dirty="0"/>
              <a:t> o </a:t>
            </a:r>
            <a:r>
              <a:rPr lang="en-US" sz="2400" dirty="0" err="1"/>
              <a:t>más</a:t>
            </a:r>
            <a:r>
              <a:rPr lang="en-US" sz="2400" dirty="0"/>
              <a:t> </a:t>
            </a:r>
            <a:r>
              <a:rPr lang="en-US" sz="2400" dirty="0" err="1"/>
              <a:t>miembro</a:t>
            </a:r>
            <a:r>
              <a:rPr lang="en-US" sz="2400" dirty="0"/>
              <a:t> </a:t>
            </a:r>
            <a:r>
              <a:rPr lang="en-US" sz="2400" dirty="0" err="1"/>
              <a:t>que</a:t>
            </a:r>
            <a:r>
              <a:rPr lang="en-US" sz="2400" dirty="0"/>
              <a:t> </a:t>
            </a:r>
            <a:r>
              <a:rPr lang="en-US" sz="2400" dirty="0" err="1"/>
              <a:t>acreditan</a:t>
            </a:r>
            <a:r>
              <a:rPr lang="en-US" sz="2400" dirty="0"/>
              <a:t> </a:t>
            </a:r>
            <a:r>
              <a:rPr lang="en-US" sz="2400" dirty="0" err="1"/>
              <a:t>organismos</a:t>
            </a:r>
            <a:r>
              <a:rPr lang="en-US" sz="2400" dirty="0"/>
              <a:t> de </a:t>
            </a:r>
            <a:r>
              <a:rPr lang="en-US" sz="2400" dirty="0" err="1"/>
              <a:t>certificación</a:t>
            </a:r>
            <a:endParaRPr lang="en-US" sz="2400" dirty="0"/>
          </a:p>
          <a:p>
            <a:pPr lvl="1"/>
            <a:r>
              <a:rPr lang="en-US" sz="2400" dirty="0"/>
              <a:t>No hay </a:t>
            </a:r>
            <a:r>
              <a:rPr lang="en-US" sz="2400" dirty="0" err="1"/>
              <a:t>ningún</a:t>
            </a:r>
            <a:r>
              <a:rPr lang="en-US" sz="2400" dirty="0"/>
              <a:t> </a:t>
            </a:r>
            <a:r>
              <a:rPr lang="en-US" sz="2400" dirty="0" err="1"/>
              <a:t>ente</a:t>
            </a:r>
            <a:r>
              <a:rPr lang="en-US" sz="2400" dirty="0"/>
              <a:t> superior, </a:t>
            </a:r>
            <a:r>
              <a:rPr lang="en-US" sz="2400" dirty="0" err="1"/>
              <a:t>así</a:t>
            </a:r>
            <a:r>
              <a:rPr lang="en-US" sz="2400" dirty="0"/>
              <a:t> </a:t>
            </a:r>
            <a:r>
              <a:rPr lang="en-US" sz="2400" dirty="0" err="1"/>
              <a:t>qué</a:t>
            </a:r>
            <a:endParaRPr lang="en-US" sz="2400" dirty="0"/>
          </a:p>
          <a:p>
            <a:pPr lvl="2">
              <a:buNone/>
            </a:pPr>
            <a:r>
              <a:rPr lang="en-US" dirty="0">
                <a:solidFill>
                  <a:srgbClr val="FF0000"/>
                </a:solidFill>
              </a:rPr>
              <a:t>		</a:t>
            </a:r>
            <a:r>
              <a:rPr lang="en-US" dirty="0" err="1">
                <a:solidFill>
                  <a:srgbClr val="FF0000"/>
                </a:solidFill>
              </a:rPr>
              <a:t>quis</a:t>
            </a:r>
            <a:r>
              <a:rPr lang="en-US" dirty="0">
                <a:solidFill>
                  <a:srgbClr val="FF0000"/>
                </a:solidFill>
              </a:rPr>
              <a:t> </a:t>
            </a:r>
            <a:r>
              <a:rPr lang="en-US" dirty="0" err="1">
                <a:solidFill>
                  <a:srgbClr val="FF0000"/>
                </a:solidFill>
              </a:rPr>
              <a:t>custodiet</a:t>
            </a:r>
            <a:r>
              <a:rPr lang="en-US" dirty="0">
                <a:solidFill>
                  <a:srgbClr val="FF0000"/>
                </a:solidFill>
              </a:rPr>
              <a:t> </a:t>
            </a:r>
            <a:r>
              <a:rPr lang="en-US" dirty="0" err="1">
                <a:solidFill>
                  <a:srgbClr val="FF0000"/>
                </a:solidFill>
              </a:rPr>
              <a:t>ipsos</a:t>
            </a:r>
            <a:r>
              <a:rPr lang="en-US" dirty="0">
                <a:solidFill>
                  <a:srgbClr val="FF0000"/>
                </a:solidFill>
              </a:rPr>
              <a:t> </a:t>
            </a:r>
            <a:r>
              <a:rPr lang="en-US" dirty="0" err="1">
                <a:solidFill>
                  <a:srgbClr val="FF0000"/>
                </a:solidFill>
              </a:rPr>
              <a:t>custodes</a:t>
            </a:r>
            <a:r>
              <a:rPr lang="en-US" dirty="0">
                <a:solidFill>
                  <a:srgbClr val="FF0000"/>
                </a:solidFill>
              </a:rPr>
              <a:t>?</a:t>
            </a:r>
          </a:p>
          <a:p>
            <a:pPr lvl="1"/>
            <a:r>
              <a:rPr lang="en-US" sz="2400" dirty="0" err="1"/>
              <a:t>Cada</a:t>
            </a:r>
            <a:r>
              <a:rPr lang="en-US" sz="2400" dirty="0"/>
              <a:t> </a:t>
            </a:r>
            <a:r>
              <a:rPr lang="en-US" sz="2400" dirty="0" err="1"/>
              <a:t>miembro</a:t>
            </a:r>
            <a:r>
              <a:rPr lang="en-US" sz="2400" dirty="0"/>
              <a:t> </a:t>
            </a:r>
            <a:r>
              <a:rPr lang="en-US" sz="2400" dirty="0" err="1"/>
              <a:t>examina</a:t>
            </a:r>
            <a:r>
              <a:rPr lang="en-US" sz="2400" dirty="0"/>
              <a:t> a los </a:t>
            </a:r>
            <a:r>
              <a:rPr lang="en-US" sz="2400" dirty="0" err="1"/>
              <a:t>demás</a:t>
            </a:r>
            <a:r>
              <a:rPr lang="en-US" sz="2400" dirty="0"/>
              <a:t> en un </a:t>
            </a:r>
            <a:r>
              <a:rPr lang="en-US" sz="2400" dirty="0" err="1"/>
              <a:t>ciclo</a:t>
            </a:r>
            <a:r>
              <a:rPr lang="en-US" sz="2400" dirty="0"/>
              <a:t> continuo de </a:t>
            </a:r>
            <a:r>
              <a:rPr lang="en-US" sz="2400" dirty="0" err="1"/>
              <a:t>evaluaciones</a:t>
            </a:r>
            <a:r>
              <a:rPr lang="en-US" sz="2400" dirty="0"/>
              <a:t> </a:t>
            </a:r>
            <a:r>
              <a:rPr lang="en-US" sz="2400" dirty="0" err="1"/>
              <a:t>mutuas</a:t>
            </a:r>
            <a:endParaRPr lang="en-US" sz="2400" dirty="0"/>
          </a:p>
          <a:p>
            <a:pPr lvl="1"/>
            <a:r>
              <a:rPr lang="en-US" sz="2400" dirty="0"/>
              <a:t>Los </a:t>
            </a:r>
            <a:r>
              <a:rPr lang="en-US" sz="2400" dirty="0" err="1"/>
              <a:t>costes</a:t>
            </a:r>
            <a:r>
              <a:rPr lang="en-US" sz="2400" dirty="0"/>
              <a:t> de </a:t>
            </a:r>
            <a:r>
              <a:rPr lang="en-US" sz="2400" dirty="0" err="1"/>
              <a:t>certificación</a:t>
            </a:r>
            <a:r>
              <a:rPr lang="en-US" sz="2400" dirty="0"/>
              <a:t> son </a:t>
            </a:r>
            <a:r>
              <a:rPr lang="en-US" sz="2400" dirty="0" err="1"/>
              <a:t>elevados</a:t>
            </a:r>
            <a:r>
              <a:rPr lang="en-US" sz="2400" dirty="0"/>
              <a:t> y la </a:t>
            </a:r>
            <a:r>
              <a:rPr lang="en-US" sz="2400" dirty="0" err="1"/>
              <a:t>tasa</a:t>
            </a:r>
            <a:r>
              <a:rPr lang="en-US" sz="2400" dirty="0"/>
              <a:t> de </a:t>
            </a:r>
            <a:r>
              <a:rPr lang="en-US" sz="2400" dirty="0" err="1"/>
              <a:t>éxito</a:t>
            </a:r>
            <a:r>
              <a:rPr lang="en-US" sz="2400" dirty="0"/>
              <a:t> </a:t>
            </a:r>
            <a:r>
              <a:rPr lang="en-US" sz="2400" dirty="0" err="1"/>
              <a:t>es</a:t>
            </a:r>
            <a:r>
              <a:rPr lang="en-US" sz="2400" dirty="0"/>
              <a:t> </a:t>
            </a:r>
            <a:r>
              <a:rPr lang="en-US" sz="2400" dirty="0" err="1"/>
              <a:t>baja</a:t>
            </a:r>
            <a:r>
              <a:rPr lang="en-US" sz="2400" dirty="0"/>
              <a:t> (</a:t>
            </a:r>
            <a:r>
              <a:rPr lang="en-US" sz="2400" dirty="0" err="1"/>
              <a:t>ej</a:t>
            </a:r>
            <a:r>
              <a:rPr lang="en-US" sz="2400" dirty="0"/>
              <a:t>. IEC 61508 </a:t>
            </a:r>
            <a:r>
              <a:rPr lang="en-US" sz="2400" dirty="0" err="1"/>
              <a:t>alrededor</a:t>
            </a:r>
            <a:r>
              <a:rPr lang="en-US" sz="2400" dirty="0"/>
              <a:t> del 25% en 2010)</a:t>
            </a:r>
            <a:endParaRPr lang="es-ES" sz="24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42</a:t>
            </a:fld>
            <a:endParaRPr lang="es-E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a:bodyPr>
          <a:lstStyle/>
          <a:p>
            <a:r>
              <a:rPr lang="es-ES" dirty="0">
                <a:solidFill>
                  <a:srgbClr val="0070C0"/>
                </a:solidFill>
              </a:rPr>
              <a:t>Estándares de Seguridad y Certificación</a:t>
            </a:r>
            <a:endParaRPr lang="es-ES" dirty="0"/>
          </a:p>
        </p:txBody>
      </p:sp>
      <p:sp>
        <p:nvSpPr>
          <p:cNvPr id="3" name="2 Marcador de contenido"/>
          <p:cNvSpPr>
            <a:spLocks noGrp="1"/>
          </p:cNvSpPr>
          <p:nvPr>
            <p:ph idx="1"/>
          </p:nvPr>
        </p:nvSpPr>
        <p:spPr/>
        <p:txBody>
          <a:bodyPr>
            <a:normAutofit/>
          </a:bodyPr>
          <a:lstStyle/>
          <a:p>
            <a:r>
              <a:rPr lang="es-ES" sz="2400" dirty="0"/>
              <a:t>¿Por qué necesitamos estándares?</a:t>
            </a:r>
          </a:p>
          <a:p>
            <a:pPr lvl="1"/>
            <a:r>
              <a:rPr lang="es-ES" sz="2000" dirty="0"/>
              <a:t>Obvio en conectores, protocolos,..</a:t>
            </a:r>
          </a:p>
          <a:p>
            <a:pPr lvl="1"/>
            <a:r>
              <a:rPr lang="es-ES" sz="2000" dirty="0"/>
              <a:t>En el caso de la seguridad es menos obvio y generalmente se generan como respuesta a accidentes:</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43</a:t>
            </a:fld>
            <a:endParaRPr lang="es-ES"/>
          </a:p>
        </p:txBody>
      </p:sp>
      <p:sp>
        <p:nvSpPr>
          <p:cNvPr id="5" name="4 Rectángulo"/>
          <p:cNvSpPr/>
          <p:nvPr/>
        </p:nvSpPr>
        <p:spPr>
          <a:xfrm>
            <a:off x="2315580" y="3789040"/>
            <a:ext cx="7560840" cy="2031325"/>
          </a:xfrm>
          <a:prstGeom prst="rect">
            <a:avLst/>
          </a:pr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lin ang="5400000" scaled="1"/>
            <a:tileRect/>
          </a:gradFill>
        </p:spPr>
        <p:txBody>
          <a:bodyPr wrap="square">
            <a:spAutoFit/>
          </a:bodyPr>
          <a:lstStyle/>
          <a:p>
            <a:r>
              <a:rPr lang="en-US" dirty="0"/>
              <a:t>Historically, the creation of standards (and not just safety-related ones) has often been driven by disasters.  A disaster occurs and the public demands that it never occur again….</a:t>
            </a:r>
          </a:p>
          <a:p>
            <a:r>
              <a:rPr lang="en-US" dirty="0"/>
              <a:t>The response is the creation of a standard to which industry must comply, with the intent of raising the quality of products and reducing the chance of a repetition. In this sense, </a:t>
            </a:r>
            <a:r>
              <a:rPr lang="en-US" dirty="0">
                <a:solidFill>
                  <a:srgbClr val="FF0000"/>
                </a:solidFill>
              </a:rPr>
              <a:t>the standard provides protection for a public that does not </a:t>
            </a:r>
            <a:r>
              <a:rPr lang="es-ES" dirty="0" err="1">
                <a:solidFill>
                  <a:srgbClr val="FF0000"/>
                </a:solidFill>
              </a:rPr>
              <a:t>understand</a:t>
            </a:r>
            <a:r>
              <a:rPr lang="es-ES" dirty="0">
                <a:solidFill>
                  <a:srgbClr val="FF0000"/>
                </a:solidFill>
              </a:rPr>
              <a:t> </a:t>
            </a:r>
            <a:r>
              <a:rPr lang="es-ES" dirty="0" err="1">
                <a:solidFill>
                  <a:srgbClr val="FF0000"/>
                </a:solidFill>
              </a:rPr>
              <a:t>the</a:t>
            </a:r>
            <a:r>
              <a:rPr lang="es-ES" dirty="0">
                <a:solidFill>
                  <a:srgbClr val="FF0000"/>
                </a:solidFill>
              </a:rPr>
              <a:t> </a:t>
            </a:r>
            <a:r>
              <a:rPr lang="es-ES" dirty="0" err="1">
                <a:solidFill>
                  <a:srgbClr val="FF0000"/>
                </a:solidFill>
              </a:rPr>
              <a:t>engineering</a:t>
            </a:r>
            <a:r>
              <a:rPr lang="es-ES" dirty="0">
                <a:solidFill>
                  <a:srgbClr val="FF0000"/>
                </a:solidFill>
              </a:rPr>
              <a:t> </a:t>
            </a:r>
            <a:r>
              <a:rPr lang="es-ES" dirty="0" err="1">
                <a:solidFill>
                  <a:srgbClr val="FF0000"/>
                </a:solidFill>
              </a:rPr>
              <a:t>process</a:t>
            </a:r>
            <a:r>
              <a:rPr lang="es-ES" dirty="0">
                <a:solidFill>
                  <a:srgbClr val="FF0000"/>
                </a:solidFill>
              </a:rPr>
              <a:t>.</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Estándares de Seguridad Funcional</a:t>
            </a:r>
            <a:br>
              <a:rPr lang="es-ES" dirty="0">
                <a:solidFill>
                  <a:srgbClr val="0070C0"/>
                </a:solidFill>
              </a:rPr>
            </a:br>
            <a:r>
              <a:rPr lang="es-ES" dirty="0">
                <a:solidFill>
                  <a:srgbClr val="0070C0"/>
                </a:solidFill>
              </a:rPr>
              <a:t>IEC 61508</a:t>
            </a:r>
            <a:endParaRPr lang="es-ES" dirty="0"/>
          </a:p>
        </p:txBody>
      </p:sp>
      <p:sp>
        <p:nvSpPr>
          <p:cNvPr id="3" name="2 Marcador de contenido"/>
          <p:cNvSpPr>
            <a:spLocks noGrp="1"/>
          </p:cNvSpPr>
          <p:nvPr>
            <p:ph idx="1"/>
          </p:nvPr>
        </p:nvSpPr>
        <p:spPr/>
        <p:txBody>
          <a:bodyPr>
            <a:normAutofit/>
          </a:bodyPr>
          <a:lstStyle/>
          <a:p>
            <a:r>
              <a:rPr lang="es-ES" sz="2400" i="1" dirty="0" err="1"/>
              <a:t>Functional</a:t>
            </a:r>
            <a:r>
              <a:rPr lang="es-ES" sz="2400" i="1" dirty="0"/>
              <a:t> safety </a:t>
            </a:r>
            <a:r>
              <a:rPr lang="en-US" sz="2400" i="1" dirty="0"/>
              <a:t>of electrical/electronic/programmable electronic safety-related systems</a:t>
            </a:r>
            <a:endParaRPr lang="es-ES" sz="2800" i="1" dirty="0"/>
          </a:p>
          <a:p>
            <a:pPr lvl="1"/>
            <a:r>
              <a:rPr lang="es-ES" sz="2400" dirty="0"/>
              <a:t>Tiene 7 partes, las tres primeras normativas y las demás informativas</a:t>
            </a:r>
          </a:p>
          <a:p>
            <a:pPr lvl="1"/>
            <a:r>
              <a:rPr lang="es-ES" sz="2400" dirty="0"/>
              <a:t>La parte normativa cubre todos los aspectos de gestión de proyectos y desarrollo de hardware y software</a:t>
            </a:r>
          </a:p>
          <a:p>
            <a:pPr lvl="1"/>
            <a:r>
              <a:rPr lang="es-ES" sz="2400" dirty="0"/>
              <a:t>Dos ediciones hasta el momento: 2000 y 2010</a:t>
            </a:r>
          </a:p>
          <a:p>
            <a:pPr lvl="1"/>
            <a:r>
              <a:rPr lang="es-ES" sz="2400" dirty="0"/>
              <a:t>El modelo utiliza como referencia un equipo industrial que contiene hardware y software que puede dar lugar a distintos fallos y una </a:t>
            </a:r>
            <a:r>
              <a:rPr lang="es-ES" sz="2400" dirty="0">
                <a:solidFill>
                  <a:schemeClr val="accent1"/>
                </a:solidFill>
              </a:rPr>
              <a:t>función de seguridad </a:t>
            </a:r>
            <a:r>
              <a:rPr lang="es-ES" sz="2400" dirty="0"/>
              <a:t>que lo monitoriza y lo mueve a un </a:t>
            </a:r>
            <a:r>
              <a:rPr lang="es-ES" sz="2400" dirty="0">
                <a:solidFill>
                  <a:schemeClr val="accent1"/>
                </a:solidFill>
              </a:rPr>
              <a:t>estado seguro </a:t>
            </a:r>
            <a:r>
              <a:rPr lang="es-ES" sz="2400" dirty="0"/>
              <a:t>cuando una situación de peligro aparece.</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44</a:t>
            </a:fld>
            <a:endParaRPr lang="es-ES"/>
          </a:p>
        </p:txBody>
      </p:sp>
      <p:pic>
        <p:nvPicPr>
          <p:cNvPr id="5" name="Imagen 4">
            <a:extLst>
              <a:ext uri="{FF2B5EF4-FFF2-40B4-BE49-F238E27FC236}">
                <a16:creationId xmlns:a16="http://schemas.microsoft.com/office/drawing/2014/main" id="{09C20F8B-86D7-0C80-7030-01233BA4BE71}"/>
              </a:ext>
            </a:extLst>
          </p:cNvPr>
          <p:cNvPicPr>
            <a:picLocks noChangeAspect="1"/>
          </p:cNvPicPr>
          <p:nvPr/>
        </p:nvPicPr>
        <p:blipFill>
          <a:blip r:embed="rId3"/>
          <a:stretch>
            <a:fillRect/>
          </a:stretch>
        </p:blipFill>
        <p:spPr>
          <a:xfrm>
            <a:off x="2783148" y="5257799"/>
            <a:ext cx="2664296" cy="1585671"/>
          </a:xfrm>
          <a:prstGeom prst="rect">
            <a:avLst/>
          </a:prstGeom>
        </p:spPr>
      </p:pic>
      <p:sp>
        <p:nvSpPr>
          <p:cNvPr id="6" name="CuadroTexto 5">
            <a:extLst>
              <a:ext uri="{FF2B5EF4-FFF2-40B4-BE49-F238E27FC236}">
                <a16:creationId xmlns:a16="http://schemas.microsoft.com/office/drawing/2014/main" id="{A56284DD-F0C4-3B0F-63B7-0C91DC56558D}"/>
              </a:ext>
            </a:extLst>
          </p:cNvPr>
          <p:cNvSpPr txBox="1"/>
          <p:nvPr/>
        </p:nvSpPr>
        <p:spPr>
          <a:xfrm>
            <a:off x="5447444" y="5257799"/>
            <a:ext cx="6744556" cy="1754326"/>
          </a:xfrm>
          <a:prstGeom prst="rect">
            <a:avLst/>
          </a:prstGeom>
          <a:noFill/>
        </p:spPr>
        <p:txBody>
          <a:bodyPr wrap="square" rtlCol="0">
            <a:spAutoFit/>
          </a:bodyPr>
          <a:lstStyle/>
          <a:p>
            <a:pPr algn="l"/>
            <a:endParaRPr lang="es-ES" b="1" i="0" u="none" strike="noStrike" dirty="0">
              <a:solidFill>
                <a:srgbClr val="373A3C"/>
              </a:solidFill>
              <a:effectLst/>
              <a:latin typeface="Open Sans" panose="020B0606030504020204" pitchFamily="34" charset="0"/>
            </a:endParaRPr>
          </a:p>
          <a:p>
            <a:pPr algn="l"/>
            <a:r>
              <a:rPr lang="es-ES" b="1" i="0" u="none" strike="noStrike" dirty="0">
                <a:solidFill>
                  <a:srgbClr val="373A3C"/>
                </a:solidFill>
                <a:effectLst/>
                <a:latin typeface="Open Sans" panose="020B0606030504020204" pitchFamily="34" charset="0"/>
                <a:hlinkClick r:id="rId4"/>
              </a:rPr>
              <a:t>IEC TS 61508-3-2:2024</a:t>
            </a:r>
            <a:r>
              <a:rPr lang="es-ES" b="1" i="0" u="none" strike="noStrike" dirty="0">
                <a:solidFill>
                  <a:srgbClr val="373A3C"/>
                </a:solidFill>
                <a:effectLst/>
                <a:latin typeface="Open Sans" panose="020B0606030504020204" pitchFamily="34" charset="0"/>
              </a:rPr>
              <a:t> 26/8/2024</a:t>
            </a:r>
          </a:p>
          <a:p>
            <a:pPr algn="l"/>
            <a:endParaRPr lang="es-ES" b="1" dirty="0">
              <a:solidFill>
                <a:srgbClr val="373A3C"/>
              </a:solidFill>
              <a:latin typeface="Open Sans" panose="020B0606030504020204" pitchFamily="34" charset="0"/>
            </a:endParaRPr>
          </a:p>
          <a:p>
            <a:pPr algn="l"/>
            <a:r>
              <a:rPr lang="es-ES" b="1" i="0" u="none" strike="noStrike" dirty="0" err="1">
                <a:solidFill>
                  <a:srgbClr val="373A3C"/>
                </a:solidFill>
                <a:effectLst/>
                <a:latin typeface="Open Sans" panose="020B0606030504020204" pitchFamily="34" charset="0"/>
              </a:rPr>
              <a:t>Requirements</a:t>
            </a:r>
            <a:r>
              <a:rPr lang="es-ES" b="1" i="0" u="none" strike="noStrike" dirty="0">
                <a:solidFill>
                  <a:srgbClr val="373A3C"/>
                </a:solidFill>
                <a:effectLst/>
                <a:latin typeface="Open Sans" panose="020B0606030504020204" pitchFamily="34" charset="0"/>
              </a:rPr>
              <a:t> and </a:t>
            </a:r>
            <a:r>
              <a:rPr lang="es-ES" b="1" i="0" u="none" strike="noStrike" dirty="0" err="1">
                <a:solidFill>
                  <a:srgbClr val="373A3C"/>
                </a:solidFill>
                <a:effectLst/>
                <a:latin typeface="Open Sans" panose="020B0606030504020204" pitchFamily="34" charset="0"/>
              </a:rPr>
              <a:t>guidance</a:t>
            </a:r>
            <a:r>
              <a:rPr lang="es-ES" b="1" i="0" u="none" strike="noStrike" dirty="0">
                <a:solidFill>
                  <a:srgbClr val="373A3C"/>
                </a:solidFill>
                <a:effectLst/>
                <a:latin typeface="Open Sans" panose="020B0606030504020204" pitchFamily="34" charset="0"/>
              </a:rPr>
              <a:t> in </a:t>
            </a:r>
            <a:r>
              <a:rPr lang="es-ES" b="1" i="0" u="none" strike="noStrike" dirty="0" err="1">
                <a:solidFill>
                  <a:srgbClr val="373A3C"/>
                </a:solidFill>
                <a:effectLst/>
                <a:latin typeface="Open Sans" panose="020B0606030504020204" pitchFamily="34" charset="0"/>
              </a:rPr>
              <a:t>the</a:t>
            </a:r>
            <a:r>
              <a:rPr lang="es-ES" b="1" i="0" u="none" strike="noStrike" dirty="0">
                <a:solidFill>
                  <a:srgbClr val="373A3C"/>
                </a:solidFill>
                <a:effectLst/>
                <a:latin typeface="Open Sans" panose="020B0606030504020204" pitchFamily="34" charset="0"/>
              </a:rPr>
              <a:t> use </a:t>
            </a:r>
            <a:r>
              <a:rPr lang="es-ES" b="1" i="0" u="none" strike="noStrike" dirty="0" err="1">
                <a:solidFill>
                  <a:srgbClr val="373A3C"/>
                </a:solidFill>
                <a:effectLst/>
                <a:latin typeface="Open Sans" panose="020B0606030504020204" pitchFamily="34" charset="0"/>
              </a:rPr>
              <a:t>of</a:t>
            </a:r>
            <a:r>
              <a:rPr lang="es-ES" b="1" i="0" u="none" strike="noStrike" dirty="0">
                <a:solidFill>
                  <a:srgbClr val="373A3C"/>
                </a:solidFill>
                <a:effectLst/>
                <a:latin typeface="Open Sans" panose="020B0606030504020204" pitchFamily="34" charset="0"/>
              </a:rPr>
              <a:t> </a:t>
            </a:r>
            <a:r>
              <a:rPr lang="es-ES" b="1" i="0" u="none" strike="noStrike" dirty="0" err="1">
                <a:solidFill>
                  <a:srgbClr val="373A3C"/>
                </a:solidFill>
                <a:effectLst/>
                <a:latin typeface="Open Sans" panose="020B0606030504020204" pitchFamily="34" charset="0"/>
              </a:rPr>
              <a:t>mathematical</a:t>
            </a:r>
            <a:r>
              <a:rPr lang="es-ES" b="1" i="0" u="none" strike="noStrike" dirty="0">
                <a:solidFill>
                  <a:srgbClr val="373A3C"/>
                </a:solidFill>
                <a:effectLst/>
                <a:latin typeface="Open Sans" panose="020B0606030504020204" pitchFamily="34" charset="0"/>
              </a:rPr>
              <a:t> and </a:t>
            </a:r>
            <a:r>
              <a:rPr lang="es-ES" b="1" i="0" u="none" strike="noStrike" dirty="0" err="1">
                <a:solidFill>
                  <a:srgbClr val="373A3C"/>
                </a:solidFill>
                <a:effectLst/>
                <a:latin typeface="Open Sans" panose="020B0606030504020204" pitchFamily="34" charset="0"/>
              </a:rPr>
              <a:t>logical</a:t>
            </a:r>
            <a:r>
              <a:rPr lang="es-ES" b="1" i="0" u="none" strike="noStrike" dirty="0">
                <a:solidFill>
                  <a:srgbClr val="373A3C"/>
                </a:solidFill>
                <a:effectLst/>
                <a:latin typeface="Open Sans" panose="020B0606030504020204" pitchFamily="34" charset="0"/>
              </a:rPr>
              <a:t> </a:t>
            </a:r>
            <a:r>
              <a:rPr lang="es-ES" b="1" i="0" u="none" strike="noStrike" dirty="0" err="1">
                <a:solidFill>
                  <a:srgbClr val="373A3C"/>
                </a:solidFill>
                <a:effectLst/>
                <a:latin typeface="Open Sans" panose="020B0606030504020204" pitchFamily="34" charset="0"/>
              </a:rPr>
              <a:t>techniques</a:t>
            </a:r>
            <a:r>
              <a:rPr lang="es-ES" b="1" i="0" u="none" strike="noStrike" dirty="0">
                <a:solidFill>
                  <a:srgbClr val="373A3C"/>
                </a:solidFill>
                <a:effectLst/>
                <a:latin typeface="Open Sans" panose="020B0606030504020204" pitchFamily="34" charset="0"/>
              </a:rPr>
              <a:t> </a:t>
            </a:r>
            <a:r>
              <a:rPr lang="es-ES" b="1" i="0" u="none" strike="noStrike" dirty="0" err="1">
                <a:solidFill>
                  <a:srgbClr val="373A3C"/>
                </a:solidFill>
                <a:effectLst/>
                <a:latin typeface="Open Sans" panose="020B0606030504020204" pitchFamily="34" charset="0"/>
              </a:rPr>
              <a:t>for</a:t>
            </a:r>
            <a:r>
              <a:rPr lang="es-ES" b="1" i="0" u="none" strike="noStrike" dirty="0">
                <a:solidFill>
                  <a:srgbClr val="373A3C"/>
                </a:solidFill>
                <a:effectLst/>
                <a:latin typeface="Open Sans" panose="020B0606030504020204" pitchFamily="34" charset="0"/>
              </a:rPr>
              <a:t> </a:t>
            </a:r>
            <a:r>
              <a:rPr lang="es-ES" b="1" i="0" u="none" strike="noStrike" dirty="0" err="1">
                <a:solidFill>
                  <a:srgbClr val="373A3C"/>
                </a:solidFill>
                <a:effectLst/>
                <a:latin typeface="Open Sans" panose="020B0606030504020204" pitchFamily="34" charset="0"/>
              </a:rPr>
              <a:t>establishing</a:t>
            </a:r>
            <a:r>
              <a:rPr lang="es-ES" b="1" i="0" u="none" strike="noStrike" dirty="0">
                <a:solidFill>
                  <a:srgbClr val="373A3C"/>
                </a:solidFill>
                <a:effectLst/>
                <a:latin typeface="Open Sans" panose="020B0606030504020204" pitchFamily="34" charset="0"/>
              </a:rPr>
              <a:t> </a:t>
            </a:r>
            <a:r>
              <a:rPr lang="es-ES" b="1" i="0" u="none" strike="noStrike" dirty="0" err="1">
                <a:solidFill>
                  <a:srgbClr val="373A3C"/>
                </a:solidFill>
                <a:effectLst/>
                <a:latin typeface="Open Sans" panose="020B0606030504020204" pitchFamily="34" charset="0"/>
              </a:rPr>
              <a:t>exact</a:t>
            </a:r>
            <a:r>
              <a:rPr lang="es-ES" b="1" i="0" u="none" strike="noStrike" dirty="0">
                <a:solidFill>
                  <a:srgbClr val="373A3C"/>
                </a:solidFill>
                <a:effectLst/>
                <a:latin typeface="Open Sans" panose="020B0606030504020204" pitchFamily="34" charset="0"/>
              </a:rPr>
              <a:t> </a:t>
            </a:r>
            <a:r>
              <a:rPr lang="es-ES" b="1" i="0" u="none" strike="noStrike" dirty="0" err="1">
                <a:solidFill>
                  <a:srgbClr val="373A3C"/>
                </a:solidFill>
                <a:effectLst/>
                <a:latin typeface="Open Sans" panose="020B0606030504020204" pitchFamily="34" charset="0"/>
              </a:rPr>
              <a:t>properties</a:t>
            </a:r>
            <a:r>
              <a:rPr lang="es-ES" b="1" i="0" u="none" strike="noStrike" dirty="0">
                <a:solidFill>
                  <a:srgbClr val="373A3C"/>
                </a:solidFill>
                <a:effectLst/>
                <a:latin typeface="Open Sans" panose="020B0606030504020204" pitchFamily="34" charset="0"/>
              </a:rPr>
              <a:t> </a:t>
            </a:r>
            <a:r>
              <a:rPr lang="es-ES" b="1" i="0" u="none" strike="noStrike" dirty="0" err="1">
                <a:solidFill>
                  <a:srgbClr val="373A3C"/>
                </a:solidFill>
                <a:effectLst/>
                <a:latin typeface="Open Sans" panose="020B0606030504020204" pitchFamily="34" charset="0"/>
              </a:rPr>
              <a:t>of</a:t>
            </a:r>
            <a:r>
              <a:rPr lang="es-ES" b="1" i="0" u="none" strike="noStrike" dirty="0">
                <a:solidFill>
                  <a:srgbClr val="373A3C"/>
                </a:solidFill>
                <a:effectLst/>
                <a:latin typeface="Open Sans" panose="020B0606030504020204" pitchFamily="34" charset="0"/>
              </a:rPr>
              <a:t> software and </a:t>
            </a:r>
            <a:r>
              <a:rPr lang="es-ES" b="1" i="0" u="none" strike="noStrike" dirty="0" err="1">
                <a:solidFill>
                  <a:srgbClr val="373A3C"/>
                </a:solidFill>
                <a:effectLst/>
                <a:latin typeface="Open Sans" panose="020B0606030504020204" pitchFamily="34" charset="0"/>
              </a:rPr>
              <a:t>its</a:t>
            </a:r>
            <a:r>
              <a:rPr lang="es-ES" b="1" i="0" u="none" strike="noStrike" dirty="0">
                <a:solidFill>
                  <a:srgbClr val="373A3C"/>
                </a:solidFill>
                <a:effectLst/>
                <a:latin typeface="Open Sans" panose="020B0606030504020204" pitchFamily="34" charset="0"/>
              </a:rPr>
              <a:t> </a:t>
            </a:r>
            <a:r>
              <a:rPr lang="es-ES" b="1" i="0" u="none" strike="noStrike" dirty="0" err="1">
                <a:solidFill>
                  <a:srgbClr val="373A3C"/>
                </a:solidFill>
                <a:effectLst/>
                <a:latin typeface="Open Sans" panose="020B0606030504020204" pitchFamily="34" charset="0"/>
              </a:rPr>
              <a:t>documentation</a:t>
            </a:r>
            <a:endParaRPr lang="es-ES" b="1" i="0" u="none" strike="noStrike" dirty="0">
              <a:solidFill>
                <a:srgbClr val="373A3C"/>
              </a:solidFill>
              <a:effectLst/>
              <a:latin typeface="Open Sans" panose="020B0606030504020204" pitchFamily="34"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Estándares de Seguridad Funcional</a:t>
            </a:r>
            <a:br>
              <a:rPr lang="es-ES" dirty="0">
                <a:solidFill>
                  <a:srgbClr val="0070C0"/>
                </a:solidFill>
              </a:rPr>
            </a:br>
            <a:r>
              <a:rPr lang="es-ES" dirty="0">
                <a:solidFill>
                  <a:srgbClr val="0070C0"/>
                </a:solidFill>
              </a:rPr>
              <a:t>IEC 61508</a:t>
            </a:r>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45</a:t>
            </a:fld>
            <a:endParaRPr lang="es-ES"/>
          </a:p>
        </p:txBody>
      </p:sp>
      <p:pic>
        <p:nvPicPr>
          <p:cNvPr id="55298" name="Picture 2"/>
          <p:cNvPicPr>
            <a:picLocks noChangeAspect="1" noChangeArrowheads="1"/>
          </p:cNvPicPr>
          <p:nvPr/>
        </p:nvPicPr>
        <p:blipFill>
          <a:blip r:embed="rId2" cstate="print"/>
          <a:srcRect/>
          <a:stretch>
            <a:fillRect/>
          </a:stretch>
        </p:blipFill>
        <p:spPr bwMode="auto">
          <a:xfrm>
            <a:off x="1524000" y="1700808"/>
            <a:ext cx="9144000" cy="5157192"/>
          </a:xfrm>
          <a:prstGeom prst="rect">
            <a:avLst/>
          </a:prstGeom>
          <a:noFill/>
          <a:ln w="9525">
            <a:noFill/>
            <a:miter lim="800000"/>
            <a:headEnd/>
            <a:tailEnd/>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Estándares de Seguridad Funcional</a:t>
            </a:r>
            <a:br>
              <a:rPr lang="es-ES" dirty="0">
                <a:solidFill>
                  <a:srgbClr val="0070C0"/>
                </a:solidFill>
              </a:rPr>
            </a:br>
            <a:r>
              <a:rPr lang="es-ES" dirty="0">
                <a:solidFill>
                  <a:srgbClr val="0070C0"/>
                </a:solidFill>
              </a:rPr>
              <a:t>IEC 61508</a:t>
            </a:r>
            <a:endParaRPr lang="es-ES" dirty="0"/>
          </a:p>
        </p:txBody>
      </p:sp>
      <p:sp>
        <p:nvSpPr>
          <p:cNvPr id="3" name="2 Marcador de contenido"/>
          <p:cNvSpPr>
            <a:spLocks noGrp="1"/>
          </p:cNvSpPr>
          <p:nvPr>
            <p:ph idx="1"/>
          </p:nvPr>
        </p:nvSpPr>
        <p:spPr/>
        <p:txBody>
          <a:bodyPr>
            <a:normAutofit/>
          </a:bodyPr>
          <a:lstStyle/>
          <a:p>
            <a:r>
              <a:rPr lang="es-ES" sz="2400" dirty="0"/>
              <a:t>El nivel de dependencia entre el IEC 61508 y otros estándares específicos de la industria varía entre éstas.</a:t>
            </a:r>
          </a:p>
          <a:p>
            <a:r>
              <a:rPr lang="es-ES" sz="2400" dirty="0"/>
              <a:t>En el de ferrocarriles EN 5012x, el estándar está fuertemente basado en el mismo y hay múltiples tablas directamente copiadas sin modificación.</a:t>
            </a:r>
          </a:p>
          <a:p>
            <a:r>
              <a:rPr lang="es-ES" sz="2400" dirty="0"/>
              <a:t>El de automoción ISO 26262, también copia muchas de las tablas, con cambios de distinta entidad.</a:t>
            </a:r>
          </a:p>
          <a:p>
            <a:r>
              <a:rPr lang="es-ES" sz="2400" dirty="0"/>
              <a:t>Sin embargo, otros como el ISO 13482 (Robótica) están mucho menos basados en él.</a:t>
            </a:r>
          </a:p>
          <a:p>
            <a:endParaRPr lang="es-ES" sz="24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46</a:t>
            </a:fld>
            <a:endParaRPr lang="es-E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IEC 61508</a:t>
            </a:r>
            <a:br>
              <a:rPr lang="es-ES" dirty="0">
                <a:solidFill>
                  <a:srgbClr val="0070C0"/>
                </a:solidFill>
              </a:rPr>
            </a:br>
            <a:r>
              <a:rPr lang="es-ES" dirty="0">
                <a:solidFill>
                  <a:srgbClr val="0070C0"/>
                </a:solidFill>
              </a:rPr>
              <a:t>SIL: Safety </a:t>
            </a:r>
            <a:r>
              <a:rPr lang="es-ES" dirty="0" err="1">
                <a:solidFill>
                  <a:srgbClr val="0070C0"/>
                </a:solidFill>
              </a:rPr>
              <a:t>Integrity</a:t>
            </a:r>
            <a:r>
              <a:rPr lang="es-ES" dirty="0">
                <a:solidFill>
                  <a:srgbClr val="0070C0"/>
                </a:solidFill>
              </a:rPr>
              <a:t> </a:t>
            </a:r>
            <a:r>
              <a:rPr lang="es-ES" dirty="0" err="1">
                <a:solidFill>
                  <a:srgbClr val="0070C0"/>
                </a:solidFill>
              </a:rPr>
              <a:t>Level</a:t>
            </a:r>
            <a:endParaRPr lang="es-ES" dirty="0"/>
          </a:p>
        </p:txBody>
      </p:sp>
      <p:sp>
        <p:nvSpPr>
          <p:cNvPr id="3" name="2 Marcador de contenido"/>
          <p:cNvSpPr>
            <a:spLocks noGrp="1"/>
          </p:cNvSpPr>
          <p:nvPr>
            <p:ph idx="1"/>
          </p:nvPr>
        </p:nvSpPr>
        <p:spPr/>
        <p:txBody>
          <a:bodyPr>
            <a:normAutofit/>
          </a:bodyPr>
          <a:lstStyle/>
          <a:p>
            <a:r>
              <a:rPr lang="es-ES" sz="2400" dirty="0"/>
              <a:t>IEC 61508 define un conjunto de niveles de integridad (</a:t>
            </a:r>
            <a:r>
              <a:rPr lang="es-ES" sz="2400" dirty="0" err="1"/>
              <a:t>SILs</a:t>
            </a:r>
            <a:r>
              <a:rPr lang="es-ES" sz="2400" dirty="0"/>
              <a:t>) que se basan puramente en la probabilidad de fallo, ligando los conceptos de fallos y seguridad (modelo causal, no basado en teoría de procesos como STAMP)</a:t>
            </a:r>
          </a:p>
          <a:p>
            <a:r>
              <a:rPr lang="es-ES" sz="2400" dirty="0"/>
              <a:t>Se distinguen dos tipos de sistemas de seguridad:</a:t>
            </a:r>
          </a:p>
          <a:p>
            <a:pPr lvl="1"/>
            <a:r>
              <a:rPr lang="es-ES" sz="2000" dirty="0"/>
              <a:t>Sistemas que solo se ejecutan bajo demanda. Se dividen a su vez entre aquellos que se ejecutan de forma infrecuente (menos de una vez al año) y aquellos que se invocan con más frecuencia.</a:t>
            </a:r>
          </a:p>
          <a:p>
            <a:pPr lvl="2"/>
            <a:r>
              <a:rPr lang="es-ES" sz="1600" dirty="0" err="1"/>
              <a:t>Ej</a:t>
            </a:r>
            <a:r>
              <a:rPr lang="es-ES" sz="1600" dirty="0"/>
              <a:t>, un sistema de defensa contra la fusión del núcleo de un reactor nuclear. SIL 1 en este sistema significa una probabilidad de fallo menor a 0.1 y SIL4 menor que 0.0001</a:t>
            </a:r>
          </a:p>
          <a:p>
            <a:pPr lvl="1"/>
            <a:r>
              <a:rPr lang="es-ES" sz="2000" dirty="0"/>
              <a:t>Sistemas que se ejecutan de forma continua o bajo frecuencia con una demanda mayor que una vez a la año</a:t>
            </a:r>
          </a:p>
          <a:p>
            <a:pPr lvl="2"/>
            <a:r>
              <a:rPr lang="es-ES" sz="1600" dirty="0"/>
              <a:t>Aquí SIL1 significa probabilidad de fallo menor que 10</a:t>
            </a:r>
            <a:r>
              <a:rPr lang="es-ES" sz="1600" baseline="30000" dirty="0"/>
              <a:t>-5</a:t>
            </a:r>
            <a:r>
              <a:rPr lang="es-ES" sz="1600" dirty="0"/>
              <a:t> por hora de funcionamiento y SIL4 10</a:t>
            </a:r>
            <a:r>
              <a:rPr lang="es-ES" sz="1600" baseline="30000" dirty="0"/>
              <a:t>-8</a:t>
            </a:r>
          </a:p>
          <a:p>
            <a:pPr lvl="2"/>
            <a:endParaRPr lang="es-ES" sz="1600" dirty="0"/>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47</a:t>
            </a:fld>
            <a:endParaRPr lang="es-E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IEC 61508</a:t>
            </a:r>
            <a:br>
              <a:rPr lang="es-ES" dirty="0">
                <a:solidFill>
                  <a:srgbClr val="0070C0"/>
                </a:solidFill>
              </a:rPr>
            </a:br>
            <a:r>
              <a:rPr lang="es-ES" dirty="0">
                <a:solidFill>
                  <a:srgbClr val="0070C0"/>
                </a:solidFill>
              </a:rPr>
              <a:t>Probabilidades de fallo SIL4</a:t>
            </a:r>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48</a:t>
            </a:fld>
            <a:endParaRPr lang="es-ES"/>
          </a:p>
        </p:txBody>
      </p:sp>
      <p:pic>
        <p:nvPicPr>
          <p:cNvPr id="56322" name="Picture 2"/>
          <p:cNvPicPr>
            <a:picLocks noChangeAspect="1" noChangeArrowheads="1"/>
          </p:cNvPicPr>
          <p:nvPr/>
        </p:nvPicPr>
        <p:blipFill>
          <a:blip r:embed="rId2" cstate="print"/>
          <a:srcRect/>
          <a:stretch>
            <a:fillRect/>
          </a:stretch>
        </p:blipFill>
        <p:spPr bwMode="auto">
          <a:xfrm>
            <a:off x="2855641" y="2060849"/>
            <a:ext cx="6425145" cy="2108923"/>
          </a:xfrm>
          <a:prstGeom prst="rect">
            <a:avLst/>
          </a:prstGeom>
          <a:noFill/>
          <a:ln w="9525">
            <a:noFill/>
            <a:miter lim="800000"/>
            <a:headEnd/>
            <a:tailEnd/>
          </a:ln>
        </p:spPr>
      </p:pic>
      <p:sp>
        <p:nvSpPr>
          <p:cNvPr id="7" name="2 Marcador de contenido"/>
          <p:cNvSpPr>
            <a:spLocks noGrp="1"/>
          </p:cNvSpPr>
          <p:nvPr>
            <p:ph idx="1"/>
          </p:nvPr>
        </p:nvSpPr>
        <p:spPr>
          <a:xfrm>
            <a:off x="1919536" y="4509120"/>
            <a:ext cx="8229600" cy="1900808"/>
          </a:xfrm>
        </p:spPr>
        <p:txBody>
          <a:bodyPr>
            <a:normAutofit lnSpcReduction="10000"/>
          </a:bodyPr>
          <a:lstStyle/>
          <a:p>
            <a:r>
              <a:rPr lang="es-ES" sz="2400" dirty="0"/>
              <a:t>Esto son estadísticas, por lo que para poder discutir sobre ellas necesitamos muestras de fallos para el análisis</a:t>
            </a:r>
          </a:p>
          <a:p>
            <a:r>
              <a:rPr lang="es-ES" sz="2400" dirty="0"/>
              <a:t>Claramente esto parece imposible para dispositivos de SIL4, salvo excepciones como los componentes usados en coches (si se realizara una monitorización efectiva…)</a:t>
            </a:r>
          </a:p>
          <a:p>
            <a:endParaRPr lang="es-ES" sz="1600" dirty="0"/>
          </a:p>
          <a:p>
            <a:pPr lvl="2"/>
            <a:endParaRPr lang="es-ES" sz="1600" dirty="0"/>
          </a:p>
          <a:p>
            <a:pPr lvl="1"/>
            <a:endParaRPr lang="es-ES" sz="2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IEC 61508</a:t>
            </a:r>
            <a:br>
              <a:rPr lang="es-ES" dirty="0">
                <a:solidFill>
                  <a:srgbClr val="0070C0"/>
                </a:solidFill>
              </a:rPr>
            </a:br>
            <a:r>
              <a:rPr lang="es-ES" dirty="0">
                <a:solidFill>
                  <a:srgbClr val="0070C0"/>
                </a:solidFill>
              </a:rPr>
              <a:t>SIL: Safety </a:t>
            </a:r>
            <a:r>
              <a:rPr lang="es-ES" dirty="0" err="1">
                <a:solidFill>
                  <a:srgbClr val="0070C0"/>
                </a:solidFill>
              </a:rPr>
              <a:t>Integrity</a:t>
            </a:r>
            <a:r>
              <a:rPr lang="es-ES" dirty="0">
                <a:solidFill>
                  <a:srgbClr val="0070C0"/>
                </a:solidFill>
              </a:rPr>
              <a:t> </a:t>
            </a:r>
            <a:r>
              <a:rPr lang="es-ES" dirty="0" err="1">
                <a:solidFill>
                  <a:srgbClr val="0070C0"/>
                </a:solidFill>
              </a:rPr>
              <a:t>Level</a:t>
            </a:r>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49</a:t>
            </a:fld>
            <a:endParaRPr lang="es-ES" dirty="0"/>
          </a:p>
        </p:txBody>
      </p:sp>
      <p:pic>
        <p:nvPicPr>
          <p:cNvPr id="57346" name="Picture 2"/>
          <p:cNvPicPr>
            <a:picLocks noChangeAspect="1" noChangeArrowheads="1"/>
          </p:cNvPicPr>
          <p:nvPr/>
        </p:nvPicPr>
        <p:blipFill>
          <a:blip r:embed="rId2" cstate="print"/>
          <a:srcRect/>
          <a:stretch>
            <a:fillRect/>
          </a:stretch>
        </p:blipFill>
        <p:spPr bwMode="auto">
          <a:xfrm>
            <a:off x="2063553" y="1412776"/>
            <a:ext cx="6840759" cy="3036728"/>
          </a:xfrm>
          <a:prstGeom prst="rect">
            <a:avLst/>
          </a:prstGeom>
          <a:noFill/>
          <a:ln w="9525">
            <a:noFill/>
            <a:miter lim="800000"/>
            <a:headEnd/>
            <a:tailEnd/>
          </a:ln>
        </p:spPr>
      </p:pic>
      <p:pic>
        <p:nvPicPr>
          <p:cNvPr id="57348" name="Picture 4"/>
          <p:cNvPicPr>
            <a:picLocks noChangeAspect="1" noChangeArrowheads="1"/>
          </p:cNvPicPr>
          <p:nvPr/>
        </p:nvPicPr>
        <p:blipFill>
          <a:blip r:embed="rId3" cstate="print"/>
          <a:srcRect/>
          <a:stretch>
            <a:fillRect/>
          </a:stretch>
        </p:blipFill>
        <p:spPr bwMode="auto">
          <a:xfrm>
            <a:off x="2063553" y="4437112"/>
            <a:ext cx="8604448" cy="2160240"/>
          </a:xfrm>
          <a:prstGeom prst="rect">
            <a:avLst/>
          </a:prstGeom>
          <a:noFill/>
          <a:ln w="9525">
            <a:noFill/>
            <a:miter lim="800000"/>
            <a:headEnd/>
            <a:tailEnd/>
          </a:ln>
        </p:spPr>
      </p:pic>
      <p:sp>
        <p:nvSpPr>
          <p:cNvPr id="9" name="8 Rectángulo"/>
          <p:cNvSpPr/>
          <p:nvPr/>
        </p:nvSpPr>
        <p:spPr>
          <a:xfrm>
            <a:off x="2063552" y="6021288"/>
            <a:ext cx="1152128" cy="648072"/>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ISO 26262</a:t>
            </a:r>
            <a:br>
              <a:rPr lang="es-ES" dirty="0">
                <a:solidFill>
                  <a:srgbClr val="0070C0"/>
                </a:solidFill>
              </a:rPr>
            </a:br>
            <a:endParaRPr lang="es-ES" dirty="0"/>
          </a:p>
        </p:txBody>
      </p:sp>
      <p:sp>
        <p:nvSpPr>
          <p:cNvPr id="3" name="2 Marcador de contenido"/>
          <p:cNvSpPr>
            <a:spLocks noGrp="1"/>
          </p:cNvSpPr>
          <p:nvPr>
            <p:ph idx="1"/>
          </p:nvPr>
        </p:nvSpPr>
        <p:spPr/>
        <p:txBody>
          <a:bodyPr>
            <a:normAutofit/>
          </a:bodyPr>
          <a:lstStyle/>
          <a:p>
            <a:r>
              <a:rPr lang="es-ES" sz="2400" dirty="0"/>
              <a:t>Especialización de IEC 61508 para coches (no autobuses o camiones)</a:t>
            </a:r>
          </a:p>
          <a:p>
            <a:r>
              <a:rPr lang="es-ES" sz="2400" dirty="0"/>
              <a:t>Tiene 10 partes, las primeras nueve publicadas en 2011 y la 10 que es una guía para aplicar las anteriores en 2012</a:t>
            </a:r>
          </a:p>
          <a:p>
            <a:r>
              <a:rPr lang="es-ES" sz="2400" dirty="0"/>
              <a:t>Las partes 2-7 describen los procesos  para desarrollo de productos:</a:t>
            </a:r>
          </a:p>
          <a:p>
            <a:pPr lvl="1"/>
            <a:r>
              <a:rPr lang="es-ES" sz="1800" dirty="0"/>
              <a:t>Gestión de la seguridad (Parte 2)</a:t>
            </a:r>
          </a:p>
          <a:p>
            <a:pPr lvl="1"/>
            <a:r>
              <a:rPr lang="es-ES" sz="1800" dirty="0"/>
              <a:t>Concepto del producto (Parte 3)</a:t>
            </a:r>
          </a:p>
          <a:p>
            <a:pPr lvl="1"/>
            <a:r>
              <a:rPr lang="es-ES" sz="1800" dirty="0"/>
              <a:t>Desarrollo a nivel de sistema (Parte 4)</a:t>
            </a:r>
          </a:p>
          <a:p>
            <a:pPr lvl="1"/>
            <a:r>
              <a:rPr lang="es-ES" sz="1800" dirty="0"/>
              <a:t>Desarrollo de hardware (Parte 5)</a:t>
            </a:r>
          </a:p>
          <a:p>
            <a:pPr lvl="1"/>
            <a:r>
              <a:rPr lang="es-ES" sz="1800" dirty="0"/>
              <a:t>Desarrollo de software (Parte 6)</a:t>
            </a:r>
          </a:p>
          <a:p>
            <a:pPr lvl="1"/>
            <a:r>
              <a:rPr lang="es-ES" sz="1800" dirty="0"/>
              <a:t>Producción (parte 7)</a:t>
            </a:r>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50</a:t>
            </a:fld>
            <a:endParaRPr lang="es-E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ISO 26262</a:t>
            </a:r>
            <a:br>
              <a:rPr lang="es-ES" dirty="0">
                <a:solidFill>
                  <a:srgbClr val="0070C0"/>
                </a:solidFill>
              </a:rPr>
            </a:br>
            <a:endParaRPr lang="es-ES" dirty="0"/>
          </a:p>
        </p:txBody>
      </p:sp>
      <p:sp>
        <p:nvSpPr>
          <p:cNvPr id="3" name="2 Marcador de contenido"/>
          <p:cNvSpPr>
            <a:spLocks noGrp="1"/>
          </p:cNvSpPr>
          <p:nvPr>
            <p:ph idx="1"/>
          </p:nvPr>
        </p:nvSpPr>
        <p:spPr/>
        <p:txBody>
          <a:bodyPr>
            <a:normAutofit lnSpcReduction="10000"/>
          </a:bodyPr>
          <a:lstStyle/>
          <a:p>
            <a:r>
              <a:rPr lang="es-ES" sz="2400" dirty="0"/>
              <a:t>La parte 6, como el estándar anterior incluye tablas de técnicas recomendadas y altamente recomendadas para cada ASIL (</a:t>
            </a:r>
            <a:r>
              <a:rPr lang="es-ES" sz="2400" dirty="0" err="1"/>
              <a:t>Automotive</a:t>
            </a:r>
            <a:r>
              <a:rPr lang="es-ES" sz="2400" dirty="0"/>
              <a:t> </a:t>
            </a:r>
            <a:r>
              <a:rPr lang="es-ES" sz="2400" dirty="0" err="1"/>
              <a:t>Satety</a:t>
            </a:r>
            <a:r>
              <a:rPr lang="es-ES" sz="2400" dirty="0"/>
              <a:t> </a:t>
            </a:r>
            <a:r>
              <a:rPr lang="es-ES" sz="2400" dirty="0" err="1"/>
              <a:t>Integrity</a:t>
            </a:r>
            <a:r>
              <a:rPr lang="es-ES" sz="2400" dirty="0"/>
              <a:t> </a:t>
            </a:r>
            <a:r>
              <a:rPr lang="es-ES" sz="2400" dirty="0" err="1"/>
              <a:t>Level</a:t>
            </a:r>
            <a:r>
              <a:rPr lang="es-ES" sz="2400" dirty="0"/>
              <a:t>). Existen 16 tablas con solapamientos, pero no idénticas.</a:t>
            </a:r>
          </a:p>
          <a:p>
            <a:r>
              <a:rPr lang="es-ES" sz="2400" dirty="0"/>
              <a:t>Los ASIL no están basados en probabilidad de fallo por hora de uso, sino que se consideran tres aspectos:</a:t>
            </a:r>
          </a:p>
          <a:p>
            <a:pPr lvl="1"/>
            <a:endParaRPr lang="es-ES" sz="1400" dirty="0"/>
          </a:p>
          <a:p>
            <a:pPr lvl="1"/>
            <a:r>
              <a:rPr lang="es-ES" sz="2000" dirty="0"/>
              <a:t>¿Qué tipo de heridas puede provocar este evento? S0(sin heridas) a S3( pone en peligro la vida)</a:t>
            </a:r>
          </a:p>
          <a:p>
            <a:pPr lvl="1"/>
            <a:r>
              <a:rPr lang="es-ES" sz="2000" dirty="0"/>
              <a:t>¿Qué probabilidad de ocurrir el evento tiene en condiciones normales? E0 (</a:t>
            </a:r>
            <a:r>
              <a:rPr lang="es-ES" sz="2000" dirty="0" err="1"/>
              <a:t>increible</a:t>
            </a:r>
            <a:r>
              <a:rPr lang="es-ES" sz="2000" dirty="0"/>
              <a:t>) a E4 (alta probabilidad). E1 se aplica a eventos que ocurren menos de una vez al año y E2 varias veces al año.</a:t>
            </a:r>
          </a:p>
          <a:p>
            <a:pPr lvl="2"/>
            <a:r>
              <a:rPr lang="es-ES" sz="1600" dirty="0"/>
              <a:t>Este índice dependen de la localización</a:t>
            </a:r>
          </a:p>
          <a:p>
            <a:pPr lvl="1"/>
            <a:r>
              <a:rPr lang="es-ES" sz="2000" dirty="0"/>
              <a:t>¿Cuántos conductores podrían controlar el evento? C0 (controlable en general) a C3 (difícil de controlar o incontrolable)</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51</a:t>
            </a:fld>
            <a:endParaRPr lang="es-E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ISO 26262</a:t>
            </a:r>
            <a:br>
              <a:rPr lang="es-ES" dirty="0">
                <a:solidFill>
                  <a:srgbClr val="0070C0"/>
                </a:solidFill>
              </a:rPr>
            </a:br>
            <a:endParaRPr lang="es-ES"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52</a:t>
            </a:fld>
            <a:endParaRPr lang="es-ES"/>
          </a:p>
        </p:txBody>
      </p:sp>
      <p:pic>
        <p:nvPicPr>
          <p:cNvPr id="1026" name="Picture 2"/>
          <p:cNvPicPr>
            <a:picLocks noChangeAspect="1" noChangeArrowheads="1"/>
          </p:cNvPicPr>
          <p:nvPr/>
        </p:nvPicPr>
        <p:blipFill>
          <a:blip r:embed="rId2" cstate="print"/>
          <a:srcRect/>
          <a:stretch>
            <a:fillRect/>
          </a:stretch>
        </p:blipFill>
        <p:spPr bwMode="auto">
          <a:xfrm>
            <a:off x="2351584" y="1052736"/>
            <a:ext cx="7772400" cy="556260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ISO 26262</a:t>
            </a:r>
            <a:br>
              <a:rPr lang="es-ES" dirty="0">
                <a:solidFill>
                  <a:srgbClr val="0070C0"/>
                </a:solidFill>
              </a:rPr>
            </a:br>
            <a:endParaRPr lang="es-ES" dirty="0"/>
          </a:p>
        </p:txBody>
      </p:sp>
      <p:sp>
        <p:nvSpPr>
          <p:cNvPr id="3" name="2 Marcador de contenido"/>
          <p:cNvSpPr>
            <a:spLocks noGrp="1"/>
          </p:cNvSpPr>
          <p:nvPr>
            <p:ph idx="1"/>
          </p:nvPr>
        </p:nvSpPr>
        <p:spPr/>
        <p:txBody>
          <a:bodyPr>
            <a:normAutofit fontScale="92500"/>
          </a:bodyPr>
          <a:lstStyle/>
          <a:p>
            <a:r>
              <a:rPr lang="es-ES" sz="2400" dirty="0"/>
              <a:t>La tabla indica los requisitos frente a los que la función de seguridad tiene que ser evaluada</a:t>
            </a:r>
          </a:p>
          <a:p>
            <a:r>
              <a:rPr lang="es-ES" sz="2400" dirty="0"/>
              <a:t>Muchas de las entradas indican QM (</a:t>
            </a:r>
            <a:r>
              <a:rPr lang="es-ES" sz="2400" dirty="0" err="1"/>
              <a:t>Quality</a:t>
            </a:r>
            <a:r>
              <a:rPr lang="es-ES" sz="2400" dirty="0"/>
              <a:t> Management) y lo que indican es que no hay requisito de seguridad funcional asociado según el estándar y que el componente tiene que ser desarrollado según el proceso de gestión de la calidad establecido (ej. IATF 16949)</a:t>
            </a:r>
          </a:p>
          <a:p>
            <a:r>
              <a:rPr lang="es-ES" sz="2400" dirty="0"/>
              <a:t>Un sistema completo normalmente presenta una mezcla de </a:t>
            </a:r>
            <a:r>
              <a:rPr lang="es-ES" sz="2400" dirty="0" err="1"/>
              <a:t>ASILs</a:t>
            </a:r>
            <a:endParaRPr lang="es-ES" sz="2400" dirty="0"/>
          </a:p>
          <a:p>
            <a:pPr lvl="1"/>
            <a:r>
              <a:rPr lang="es-ES" sz="2000" dirty="0"/>
              <a:t>Tradicionalmente ha existido una división (normalmente física) entre las funciones relativas a seguridad y otras como entretenimiento, navegación </a:t>
            </a:r>
            <a:r>
              <a:rPr lang="es-ES" sz="2000" dirty="0" err="1"/>
              <a:t>etc</a:t>
            </a:r>
            <a:r>
              <a:rPr lang="es-ES" sz="2000" dirty="0"/>
              <a:t>,</a:t>
            </a:r>
          </a:p>
          <a:p>
            <a:pPr lvl="1"/>
            <a:r>
              <a:rPr lang="es-ES" sz="2000" dirty="0" err="1"/>
              <a:t>AutoSAR</a:t>
            </a:r>
            <a:r>
              <a:rPr lang="es-ES" sz="2000" dirty="0"/>
              <a:t> (</a:t>
            </a:r>
            <a:r>
              <a:rPr lang="es-ES" sz="2000" dirty="0" err="1"/>
              <a:t>AUTomotive</a:t>
            </a:r>
            <a:r>
              <a:rPr lang="es-ES" sz="2000" dirty="0"/>
              <a:t> Open </a:t>
            </a:r>
            <a:r>
              <a:rPr lang="es-ES" sz="2000" dirty="0" err="1"/>
              <a:t>System</a:t>
            </a:r>
            <a:r>
              <a:rPr lang="es-ES" sz="2000" dirty="0"/>
              <a:t> </a:t>
            </a:r>
            <a:r>
              <a:rPr lang="es-ES" sz="2000" dirty="0" err="1"/>
              <a:t>Architectura</a:t>
            </a:r>
            <a:r>
              <a:rPr lang="es-ES" sz="2000" dirty="0"/>
              <a:t>) indica el tipo de separación que debe existir entre los componentes según los requisitos</a:t>
            </a:r>
          </a:p>
          <a:p>
            <a:pPr lvl="1"/>
            <a:r>
              <a:rPr lang="es-ES" sz="2000" dirty="0"/>
              <a:t>Hoy en día el aislamiento “físico” de los componentes es imposible debido a la reducción de costes obtenida mediante la combinación de componentes hardware (cada vez más potentes) y técnicas como la fusión de sensores </a:t>
            </a:r>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53</a:t>
            </a:fld>
            <a:endParaRPr lang="es-E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ISO 26262</a:t>
            </a:r>
            <a:br>
              <a:rPr lang="es-ES" dirty="0">
                <a:solidFill>
                  <a:srgbClr val="0070C0"/>
                </a:solidFill>
              </a:rPr>
            </a:br>
            <a:endParaRPr lang="es-ES" dirty="0"/>
          </a:p>
        </p:txBody>
      </p:sp>
      <p:sp>
        <p:nvSpPr>
          <p:cNvPr id="3" name="2 Marcador de contenido"/>
          <p:cNvSpPr>
            <a:spLocks noGrp="1"/>
          </p:cNvSpPr>
          <p:nvPr>
            <p:ph idx="1"/>
          </p:nvPr>
        </p:nvSpPr>
        <p:spPr/>
        <p:txBody>
          <a:bodyPr>
            <a:normAutofit lnSpcReduction="10000"/>
          </a:bodyPr>
          <a:lstStyle/>
          <a:p>
            <a:r>
              <a:rPr lang="es-ES" sz="2800" dirty="0"/>
              <a:t>¿Cómo puede un diseño garantizar que los subsistemas no interfieren?</a:t>
            </a:r>
          </a:p>
          <a:p>
            <a:pPr lvl="1"/>
            <a:r>
              <a:rPr lang="es-ES" sz="2400" dirty="0"/>
              <a:t>El anexo D de ISO 26262-6 y el anexo F de IEC 61508-3 consideran esta cuestión y listan las fuentes principales de interacción que deben ser evitadas durante el diseño</a:t>
            </a:r>
          </a:p>
          <a:p>
            <a:pPr lvl="2"/>
            <a:r>
              <a:rPr lang="es-ES" dirty="0">
                <a:solidFill>
                  <a:schemeClr val="accent1"/>
                </a:solidFill>
              </a:rPr>
              <a:t>Tiempo</a:t>
            </a:r>
            <a:r>
              <a:rPr lang="es-ES" dirty="0"/>
              <a:t>:  ¿Cómo podemos garantizar que un subsistema no absorbe el tiempo del procesador y provoca postergación en otro?</a:t>
            </a:r>
          </a:p>
          <a:p>
            <a:pPr lvl="2"/>
            <a:r>
              <a:rPr lang="es-ES" dirty="0" err="1">
                <a:solidFill>
                  <a:schemeClr val="accent1"/>
                </a:solidFill>
              </a:rPr>
              <a:t>Deadlocks</a:t>
            </a:r>
            <a:r>
              <a:rPr lang="es-ES" dirty="0">
                <a:solidFill>
                  <a:schemeClr val="accent1"/>
                </a:solidFill>
              </a:rPr>
              <a:t> y </a:t>
            </a:r>
            <a:r>
              <a:rPr lang="es-ES" dirty="0" err="1">
                <a:solidFill>
                  <a:schemeClr val="accent1"/>
                </a:solidFill>
              </a:rPr>
              <a:t>livelocks</a:t>
            </a:r>
            <a:r>
              <a:rPr lang="es-ES" dirty="0"/>
              <a:t>: ¿Cómo los prevenimos por diseño?</a:t>
            </a:r>
          </a:p>
          <a:p>
            <a:pPr lvl="2"/>
            <a:r>
              <a:rPr lang="es-ES" dirty="0">
                <a:solidFill>
                  <a:schemeClr val="accent1"/>
                </a:solidFill>
              </a:rPr>
              <a:t>Memoria</a:t>
            </a:r>
            <a:r>
              <a:rPr lang="es-ES" dirty="0"/>
              <a:t>: ¿Cómo garantizamos que un sistema no </a:t>
            </a:r>
            <a:r>
              <a:rPr lang="es-ES" dirty="0" err="1"/>
              <a:t>sobreescribe</a:t>
            </a:r>
            <a:r>
              <a:rPr lang="es-ES" dirty="0"/>
              <a:t> la memoria de otro?</a:t>
            </a:r>
          </a:p>
          <a:p>
            <a:pPr lvl="2"/>
            <a:r>
              <a:rPr lang="es-ES" dirty="0">
                <a:solidFill>
                  <a:schemeClr val="accent1"/>
                </a:solidFill>
              </a:rPr>
              <a:t>Mensajes</a:t>
            </a:r>
            <a:r>
              <a:rPr lang="es-ES" dirty="0"/>
              <a:t>: si dos sistemas intercambian mensajes, ¿cómo mantenemos la seguridad ante la perdida, corrupción, retraso o duplicación de éstos?</a:t>
            </a:r>
          </a:p>
          <a:p>
            <a:endParaRPr lang="es-ES" sz="16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54</a:t>
            </a:fld>
            <a:endParaRPr lang="es-ES"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p:txBody>
          <a:bodyPr>
            <a:normAutofit fontScale="90000"/>
          </a:bodyPr>
          <a:lstStyle/>
          <a:p>
            <a:r>
              <a:rPr lang="es-ES" dirty="0">
                <a:solidFill>
                  <a:srgbClr val="0070C0"/>
                </a:solidFill>
              </a:rPr>
              <a:t>ISO 26262</a:t>
            </a:r>
            <a:br>
              <a:rPr lang="es-ES" dirty="0">
                <a:solidFill>
                  <a:srgbClr val="0070C0"/>
                </a:solidFill>
              </a:rPr>
            </a:br>
            <a:endParaRPr lang="es-ES" dirty="0"/>
          </a:p>
        </p:txBody>
      </p:sp>
      <p:sp>
        <p:nvSpPr>
          <p:cNvPr id="3" name="2 Marcador de contenido"/>
          <p:cNvSpPr>
            <a:spLocks noGrp="1"/>
          </p:cNvSpPr>
          <p:nvPr>
            <p:ph idx="1"/>
          </p:nvPr>
        </p:nvSpPr>
        <p:spPr/>
        <p:txBody>
          <a:bodyPr>
            <a:normAutofit/>
          </a:bodyPr>
          <a:lstStyle/>
          <a:p>
            <a:r>
              <a:rPr lang="es-ES" sz="2400" dirty="0"/>
              <a:t>Aunque la lista es útil no es completa.</a:t>
            </a:r>
          </a:p>
          <a:p>
            <a:r>
              <a:rPr lang="es-ES" sz="2400" dirty="0"/>
              <a:t>La mayor parte de los sistemas operativos modernos proporcionan soporte para solucionar los problemas (protección de memoria, protocolos de herencia de prioridad,..)</a:t>
            </a:r>
          </a:p>
          <a:p>
            <a:r>
              <a:rPr lang="es-ES" sz="2400" dirty="0"/>
              <a:t>No está resuelto el problema en el caso de los sistemas </a:t>
            </a:r>
            <a:r>
              <a:rPr lang="es-ES" sz="2400" dirty="0" err="1"/>
              <a:t>multi</a:t>
            </a:r>
            <a:r>
              <a:rPr lang="es-ES" sz="2400" dirty="0"/>
              <a:t>-núcleo</a:t>
            </a:r>
          </a:p>
          <a:p>
            <a:pPr lvl="1"/>
            <a:r>
              <a:rPr lang="es-ES" sz="2000" dirty="0"/>
              <a:t>Existen resultados de imposibilidad de diseño para la solución de algunos de estos problemas</a:t>
            </a:r>
          </a:p>
          <a:p>
            <a:r>
              <a:rPr lang="es-ES" sz="2400" dirty="0"/>
              <a:t>Hay interacciones que no están bajo el control de los subsistemas y del propio sistema operativo:</a:t>
            </a:r>
          </a:p>
          <a:p>
            <a:pPr lvl="1"/>
            <a:r>
              <a:rPr lang="es-ES" sz="2000" dirty="0"/>
              <a:t>Caches de instrucciones y datos</a:t>
            </a:r>
          </a:p>
          <a:p>
            <a:pPr lvl="1"/>
            <a:r>
              <a:rPr lang="es-ES" sz="2000" dirty="0"/>
              <a:t>Técnicas como la reordenación de las instrucciones en los pipelines, pre-</a:t>
            </a:r>
            <a:r>
              <a:rPr lang="es-ES" sz="2000" dirty="0" err="1"/>
              <a:t>fetching</a:t>
            </a:r>
            <a:r>
              <a:rPr lang="es-ES" sz="2000" dirty="0"/>
              <a:t> complejo,…</a:t>
            </a:r>
          </a:p>
          <a:p>
            <a:pPr lvl="1"/>
            <a:r>
              <a:rPr lang="es-ES" sz="2000" dirty="0"/>
              <a:t>Coprocesadores gráficos, controladores NVRAM,…</a:t>
            </a:r>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55</a:t>
            </a:fld>
            <a:endParaRPr lang="es-E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60648"/>
            <a:ext cx="8229600" cy="1143000"/>
          </a:xfrm>
        </p:spPr>
        <p:txBody>
          <a:bodyPr>
            <a:noAutofit/>
          </a:bodyPr>
          <a:lstStyle/>
          <a:p>
            <a:br>
              <a:rPr lang="es-ES" sz="3600" dirty="0">
                <a:solidFill>
                  <a:srgbClr val="0070C0"/>
                </a:solidFill>
              </a:rPr>
            </a:br>
            <a:r>
              <a:rPr lang="es-ES" sz="3600" dirty="0">
                <a:solidFill>
                  <a:srgbClr val="0070C0"/>
                </a:solidFill>
              </a:rPr>
              <a:t>ISO 26262</a:t>
            </a:r>
            <a:br>
              <a:rPr lang="es-ES" sz="3600" dirty="0">
                <a:solidFill>
                  <a:srgbClr val="0070C0"/>
                </a:solidFill>
              </a:rPr>
            </a:br>
            <a:r>
              <a:rPr lang="es-ES" sz="3600" dirty="0" err="1">
                <a:solidFill>
                  <a:srgbClr val="0070C0"/>
                </a:solidFill>
              </a:rPr>
              <a:t>SEooCs</a:t>
            </a:r>
            <a:br>
              <a:rPr lang="es-ES" sz="3600" dirty="0">
                <a:solidFill>
                  <a:srgbClr val="0070C0"/>
                </a:solidFill>
              </a:rPr>
            </a:br>
            <a:endParaRPr lang="es-ES" sz="3600" dirty="0"/>
          </a:p>
        </p:txBody>
      </p:sp>
      <p:sp>
        <p:nvSpPr>
          <p:cNvPr id="3" name="2 Marcador de contenido"/>
          <p:cNvSpPr>
            <a:spLocks noGrp="1"/>
          </p:cNvSpPr>
          <p:nvPr>
            <p:ph idx="1"/>
          </p:nvPr>
        </p:nvSpPr>
        <p:spPr>
          <a:xfrm>
            <a:off x="609600" y="1600201"/>
            <a:ext cx="10972800" cy="4756150"/>
          </a:xfrm>
        </p:spPr>
        <p:txBody>
          <a:bodyPr>
            <a:normAutofit lnSpcReduction="10000"/>
          </a:bodyPr>
          <a:lstStyle/>
          <a:p>
            <a:r>
              <a:rPr lang="es-ES" sz="2400" b="1" dirty="0" err="1"/>
              <a:t>SEooC</a:t>
            </a:r>
            <a:r>
              <a:rPr lang="es-ES" sz="2400" b="1" dirty="0"/>
              <a:t>: Safety </a:t>
            </a:r>
            <a:r>
              <a:rPr lang="es-ES" sz="2400" b="1" dirty="0" err="1"/>
              <a:t>Element</a:t>
            </a:r>
            <a:r>
              <a:rPr lang="es-ES" sz="2400" b="1" dirty="0"/>
              <a:t> </a:t>
            </a:r>
            <a:r>
              <a:rPr lang="es-ES" sz="2400" b="1" dirty="0" err="1"/>
              <a:t>out</a:t>
            </a:r>
            <a:r>
              <a:rPr lang="es-ES" sz="2400" b="1" dirty="0"/>
              <a:t> of </a:t>
            </a:r>
            <a:r>
              <a:rPr lang="es-ES" sz="2400" b="1" dirty="0" err="1"/>
              <a:t>Context</a:t>
            </a:r>
            <a:endParaRPr lang="es-ES" sz="2400" b="1" dirty="0"/>
          </a:p>
          <a:p>
            <a:r>
              <a:rPr lang="es-ES" sz="2400" dirty="0"/>
              <a:t>Un </a:t>
            </a:r>
            <a:r>
              <a:rPr lang="es-ES" sz="2400" dirty="0" err="1"/>
              <a:t>SEooC</a:t>
            </a:r>
            <a:r>
              <a:rPr lang="es-ES" sz="2400" dirty="0"/>
              <a:t> es un elemento que va a ser usado en un sistema del automóvil, pero que no ha sido específicamente diseñado para ese sistema</a:t>
            </a:r>
          </a:p>
          <a:p>
            <a:pPr lvl="1"/>
            <a:r>
              <a:rPr lang="es-ES" sz="2000" dirty="0"/>
              <a:t>Ej. Necesitamos una base de dato y queremos usar </a:t>
            </a:r>
            <a:r>
              <a:rPr lang="es-ES" sz="2000" dirty="0" err="1"/>
              <a:t>MySQL</a:t>
            </a:r>
            <a:endParaRPr lang="es-ES" sz="2000" dirty="0"/>
          </a:p>
          <a:p>
            <a:r>
              <a:rPr lang="es-ES" sz="2400" dirty="0"/>
              <a:t>En este caso hay que especificar claramente que se espera del elemento y garantizar que el </a:t>
            </a:r>
            <a:r>
              <a:rPr lang="es-ES" sz="2400" dirty="0" err="1"/>
              <a:t>SEooC</a:t>
            </a:r>
            <a:r>
              <a:rPr lang="es-ES" sz="2400" dirty="0"/>
              <a:t> cumple los requisitos, bien por si mismo (</a:t>
            </a:r>
            <a:r>
              <a:rPr lang="es-ES" sz="2400" dirty="0" err="1"/>
              <a:t>out</a:t>
            </a:r>
            <a:r>
              <a:rPr lang="es-ES" sz="2400" dirty="0"/>
              <a:t> of </a:t>
            </a:r>
            <a:r>
              <a:rPr lang="es-ES" sz="2400" dirty="0" err="1"/>
              <a:t>the</a:t>
            </a:r>
            <a:r>
              <a:rPr lang="es-ES" sz="2400" dirty="0"/>
              <a:t> box) o después de una modificación</a:t>
            </a:r>
          </a:p>
          <a:p>
            <a:r>
              <a:rPr lang="es-ES" sz="2400" dirty="0"/>
              <a:t>Si el </a:t>
            </a:r>
            <a:r>
              <a:rPr lang="es-ES" sz="2400" dirty="0" err="1"/>
              <a:t>SEooC</a:t>
            </a:r>
            <a:r>
              <a:rPr lang="es-ES" sz="2400" dirty="0"/>
              <a:t> ha sido desarrollado por una tercera parte, entonces, hay que monitorizar el informe de errores proporcionado y llevar a cabo un análisis de impacto para determinar si alguno de ellos afecta a la seguridad del sistema</a:t>
            </a:r>
          </a:p>
          <a:p>
            <a:pPr lvl="1"/>
            <a:r>
              <a:rPr lang="es-ES" sz="2000" dirty="0"/>
              <a:t>Imaginemos un componente como un </a:t>
            </a:r>
            <a:r>
              <a:rPr lang="es-ES" sz="2000" dirty="0" err="1"/>
              <a:t>kernel</a:t>
            </a:r>
            <a:r>
              <a:rPr lang="es-ES" sz="2000" dirty="0"/>
              <a:t> de Linux, con listas de errores muy largas y dinámicas….</a:t>
            </a:r>
          </a:p>
          <a:p>
            <a:pPr lvl="1"/>
            <a:r>
              <a:rPr lang="es-ES" sz="2000" dirty="0"/>
              <a:t>El término SOUP en IEC 62304 (estándar para dispositivos médicos) de forma similar</a:t>
            </a:r>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56</a:t>
            </a:fld>
            <a:endParaRPr lang="es-E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60648"/>
            <a:ext cx="8229600" cy="864096"/>
          </a:xfrm>
        </p:spPr>
        <p:txBody>
          <a:bodyPr>
            <a:noAutofit/>
          </a:bodyPr>
          <a:lstStyle/>
          <a:p>
            <a:br>
              <a:rPr lang="es-ES" sz="3600" dirty="0">
                <a:solidFill>
                  <a:srgbClr val="0070C0"/>
                </a:solidFill>
              </a:rPr>
            </a:br>
            <a:br>
              <a:rPr lang="es-ES" sz="3600" dirty="0">
                <a:solidFill>
                  <a:srgbClr val="0070C0"/>
                </a:solidFill>
              </a:rPr>
            </a:br>
            <a:r>
              <a:rPr lang="es-ES" sz="3600" dirty="0">
                <a:solidFill>
                  <a:srgbClr val="0070C0"/>
                </a:solidFill>
              </a:rPr>
              <a:t>IEC 62304</a:t>
            </a:r>
            <a:br>
              <a:rPr lang="es-ES" sz="3600" dirty="0">
                <a:solidFill>
                  <a:srgbClr val="0070C0"/>
                </a:solidFill>
              </a:rPr>
            </a:br>
            <a:br>
              <a:rPr lang="es-ES" sz="3600" dirty="0">
                <a:solidFill>
                  <a:srgbClr val="0070C0"/>
                </a:solidFill>
              </a:rPr>
            </a:br>
            <a:endParaRPr lang="es-ES" sz="3600" dirty="0"/>
          </a:p>
        </p:txBody>
      </p:sp>
      <p:sp>
        <p:nvSpPr>
          <p:cNvPr id="3" name="2 Marcador de contenido"/>
          <p:cNvSpPr>
            <a:spLocks noGrp="1"/>
          </p:cNvSpPr>
          <p:nvPr>
            <p:ph idx="1"/>
          </p:nvPr>
        </p:nvSpPr>
        <p:spPr>
          <a:xfrm>
            <a:off x="547936" y="1334175"/>
            <a:ext cx="10972800" cy="4525963"/>
          </a:xfrm>
        </p:spPr>
        <p:txBody>
          <a:bodyPr>
            <a:normAutofit/>
          </a:bodyPr>
          <a:lstStyle/>
          <a:p>
            <a:r>
              <a:rPr lang="es-ES" sz="2400" dirty="0"/>
              <a:t>Este estándar no es estrictamente un estándar de seguridad funcional</a:t>
            </a:r>
          </a:p>
          <a:p>
            <a:pPr lvl="1"/>
            <a:r>
              <a:rPr lang="es-ES" sz="2000" dirty="0"/>
              <a:t>Se centra más en el ciclo de vida de los procesos de desarrollo software para dispositivos médicos</a:t>
            </a:r>
            <a:endParaRPr lang="es-ES" sz="1800" dirty="0"/>
          </a:p>
          <a:p>
            <a:r>
              <a:rPr lang="es-ES" sz="2400" dirty="0"/>
              <a:t>Define tres clases de riesgos equivalentes a los </a:t>
            </a:r>
            <a:r>
              <a:rPr lang="es-ES" sz="2400" dirty="0" err="1"/>
              <a:t>SILs</a:t>
            </a:r>
            <a:r>
              <a:rPr lang="es-ES" sz="2400" dirty="0"/>
              <a:t>/</a:t>
            </a:r>
            <a:r>
              <a:rPr lang="es-ES" sz="2400" dirty="0" err="1"/>
              <a:t>ASILs</a:t>
            </a:r>
            <a:endParaRPr lang="es-ES" sz="2400" dirty="0"/>
          </a:p>
          <a:p>
            <a:pPr lvl="1"/>
            <a:r>
              <a:rPr lang="es-ES" sz="2000" dirty="0"/>
              <a:t>Clase A: no hay posibilidad de herir o dañar al paciente, al operador o a los acompañantes por fallo en el software</a:t>
            </a:r>
          </a:p>
          <a:p>
            <a:pPr lvl="1"/>
            <a:r>
              <a:rPr lang="es-ES" sz="2000" dirty="0"/>
              <a:t>Clase B: existe la posibilidad, pero los daños/heridas no son graves</a:t>
            </a:r>
          </a:p>
          <a:p>
            <a:pPr lvl="1"/>
            <a:r>
              <a:rPr lang="es-ES" sz="2000" dirty="0"/>
              <a:t>Clase C: en otro caso</a:t>
            </a:r>
          </a:p>
          <a:p>
            <a:r>
              <a:rPr lang="es-ES" sz="2400" dirty="0"/>
              <a:t>El debate más interesante es el relativo a un comentario adicional sobre el software</a:t>
            </a:r>
          </a:p>
          <a:p>
            <a:endParaRPr lang="es-ES" sz="1800" dirty="0"/>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57</a:t>
            </a:fld>
            <a:endParaRPr lang="es-ES" dirty="0"/>
          </a:p>
        </p:txBody>
      </p:sp>
      <p:sp>
        <p:nvSpPr>
          <p:cNvPr id="5" name="4 Rectángulo"/>
          <p:cNvSpPr/>
          <p:nvPr/>
        </p:nvSpPr>
        <p:spPr>
          <a:xfrm>
            <a:off x="1991544" y="4971356"/>
            <a:ext cx="8208912" cy="1384995"/>
          </a:xfrm>
          <a:prstGeom prst="rect">
            <a:avLst/>
          </a:pr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lin ang="5400000" scaled="1"/>
            <a:tileRect/>
          </a:gradFill>
        </p:spPr>
        <p:txBody>
          <a:bodyPr wrap="square">
            <a:spAutoFit/>
          </a:bodyPr>
          <a:lstStyle/>
          <a:p>
            <a:r>
              <a:rPr lang="es-ES" sz="2800" dirty="0" err="1"/>
              <a:t>If</a:t>
            </a:r>
            <a:r>
              <a:rPr lang="es-ES" sz="2800" dirty="0"/>
              <a:t> a </a:t>
            </a:r>
            <a:r>
              <a:rPr lang="es-ES" sz="2800" dirty="0" err="1"/>
              <a:t>dangerous</a:t>
            </a:r>
            <a:r>
              <a:rPr lang="es-ES" sz="2800" dirty="0"/>
              <a:t> </a:t>
            </a:r>
            <a:r>
              <a:rPr lang="en-US" sz="2800" dirty="0"/>
              <a:t>condition may arise from a failure of the software system to behave as specified, the probability of such failure shall be assumed to be 100 </a:t>
            </a:r>
            <a:r>
              <a:rPr lang="es-ES" sz="2800" dirty="0"/>
              <a:t>%</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60648"/>
            <a:ext cx="8229600" cy="864096"/>
          </a:xfrm>
        </p:spPr>
        <p:txBody>
          <a:bodyPr>
            <a:noAutofit/>
          </a:bodyPr>
          <a:lstStyle/>
          <a:p>
            <a:br>
              <a:rPr lang="es-ES" sz="3600" dirty="0">
                <a:solidFill>
                  <a:srgbClr val="0070C0"/>
                </a:solidFill>
              </a:rPr>
            </a:br>
            <a:br>
              <a:rPr lang="es-ES" sz="3600" dirty="0">
                <a:solidFill>
                  <a:srgbClr val="0070C0"/>
                </a:solidFill>
              </a:rPr>
            </a:br>
            <a:r>
              <a:rPr lang="es-ES" sz="3600" dirty="0">
                <a:solidFill>
                  <a:srgbClr val="0070C0"/>
                </a:solidFill>
              </a:rPr>
              <a:t>IEC 62304</a:t>
            </a:r>
            <a:br>
              <a:rPr lang="es-ES" sz="3600" dirty="0">
                <a:solidFill>
                  <a:srgbClr val="0070C0"/>
                </a:solidFill>
              </a:rPr>
            </a:br>
            <a:br>
              <a:rPr lang="es-ES" sz="3600" dirty="0">
                <a:solidFill>
                  <a:srgbClr val="0070C0"/>
                </a:solidFill>
              </a:rPr>
            </a:br>
            <a:endParaRPr lang="es-ES" sz="3600" dirty="0"/>
          </a:p>
        </p:txBody>
      </p:sp>
      <p:sp>
        <p:nvSpPr>
          <p:cNvPr id="3" name="2 Marcador de contenido"/>
          <p:cNvSpPr>
            <a:spLocks noGrp="1"/>
          </p:cNvSpPr>
          <p:nvPr>
            <p:ph idx="1"/>
          </p:nvPr>
        </p:nvSpPr>
        <p:spPr>
          <a:xfrm>
            <a:off x="551384" y="1398476"/>
            <a:ext cx="11521280" cy="2620888"/>
          </a:xfrm>
        </p:spPr>
        <p:txBody>
          <a:bodyPr>
            <a:normAutofit fontScale="85000" lnSpcReduction="20000"/>
          </a:bodyPr>
          <a:lstStyle/>
          <a:p>
            <a:r>
              <a:rPr lang="es-ES" sz="3000" dirty="0"/>
              <a:t>No se indica en que periodo de tiempo</a:t>
            </a:r>
          </a:p>
          <a:p>
            <a:pPr lvl="1"/>
            <a:r>
              <a:rPr lang="es-ES" sz="2200" dirty="0"/>
              <a:t>Esto es necesario para incorporarlo en el modelo de fallos</a:t>
            </a:r>
          </a:p>
          <a:p>
            <a:r>
              <a:rPr lang="es-ES" sz="3000" dirty="0"/>
              <a:t>El estándar se centra en los procesos y define los siguientes:</a:t>
            </a:r>
          </a:p>
          <a:p>
            <a:pPr lvl="1"/>
            <a:r>
              <a:rPr lang="es-ES" sz="2200" dirty="0"/>
              <a:t>Proceso de desarrollo</a:t>
            </a:r>
          </a:p>
          <a:p>
            <a:pPr lvl="1"/>
            <a:r>
              <a:rPr lang="es-ES" sz="2200" dirty="0"/>
              <a:t>Mantenimiento</a:t>
            </a:r>
          </a:p>
          <a:p>
            <a:pPr lvl="1"/>
            <a:r>
              <a:rPr lang="es-ES" sz="2200" dirty="0"/>
              <a:t>Gestión de la configuración</a:t>
            </a:r>
          </a:p>
          <a:p>
            <a:pPr lvl="1"/>
            <a:r>
              <a:rPr lang="es-ES" sz="2200" dirty="0"/>
              <a:t>Resolución de problemas, incluyendo la obligación de información al usuario de errores potencialmente peligrosos</a:t>
            </a:r>
          </a:p>
          <a:p>
            <a:pPr lvl="1"/>
            <a:endParaRPr lang="es-ES" sz="1600" dirty="0"/>
          </a:p>
          <a:p>
            <a:endParaRPr lang="es-ES" sz="1600" dirty="0"/>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58</a:t>
            </a:fld>
            <a:endParaRPr lang="es-ES"/>
          </a:p>
        </p:txBody>
      </p:sp>
      <p:pic>
        <p:nvPicPr>
          <p:cNvPr id="2052" name="Picture 4"/>
          <p:cNvPicPr>
            <a:picLocks noChangeAspect="1" noChangeArrowheads="1"/>
          </p:cNvPicPr>
          <p:nvPr/>
        </p:nvPicPr>
        <p:blipFill>
          <a:blip r:embed="rId2" cstate="print"/>
          <a:srcRect/>
          <a:stretch>
            <a:fillRect/>
          </a:stretch>
        </p:blipFill>
        <p:spPr bwMode="auto">
          <a:xfrm>
            <a:off x="3071664" y="3826161"/>
            <a:ext cx="5474670" cy="3031839"/>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1919536" y="260648"/>
            <a:ext cx="8229600" cy="1143000"/>
          </a:xfrm>
        </p:spPr>
        <p:txBody>
          <a:bodyPr>
            <a:noAutofit/>
          </a:bodyPr>
          <a:lstStyle/>
          <a:p>
            <a:r>
              <a:rPr lang="es-ES" sz="3600" dirty="0">
                <a:solidFill>
                  <a:srgbClr val="0070C0"/>
                </a:solidFill>
              </a:rPr>
              <a:t>Procesos y Estándares</a:t>
            </a:r>
            <a:endParaRPr lang="es-ES" sz="3600" dirty="0"/>
          </a:p>
        </p:txBody>
      </p:sp>
      <p:sp>
        <p:nvSpPr>
          <p:cNvPr id="3" name="2 Marcador de contenido"/>
          <p:cNvSpPr>
            <a:spLocks noGrp="1"/>
          </p:cNvSpPr>
          <p:nvPr>
            <p:ph idx="1"/>
          </p:nvPr>
        </p:nvSpPr>
        <p:spPr/>
        <p:txBody>
          <a:bodyPr>
            <a:normAutofit/>
          </a:bodyPr>
          <a:lstStyle/>
          <a:p>
            <a:r>
              <a:rPr lang="es-ES" sz="2800" dirty="0"/>
              <a:t>En esta asignatura nos centramos más en los aspectos técnicos que en los relativos a procedimientos y procesos, lo que no quiere decir que estos no sean relevantes…</a:t>
            </a:r>
            <a:endParaRPr lang="es-ES" sz="2000" dirty="0"/>
          </a:p>
          <a:p>
            <a:pPr lvl="1"/>
            <a:endParaRPr lang="es-ES" sz="2000" dirty="0"/>
          </a:p>
        </p:txBody>
      </p:sp>
      <p:sp>
        <p:nvSpPr>
          <p:cNvPr id="4" name="3 Marcador de número de diapositiva"/>
          <p:cNvSpPr>
            <a:spLocks noGrp="1"/>
          </p:cNvSpPr>
          <p:nvPr>
            <p:ph type="sldNum" sz="quarter" idx="12"/>
          </p:nvPr>
        </p:nvSpPr>
        <p:spPr/>
        <p:txBody>
          <a:bodyPr/>
          <a:lstStyle/>
          <a:p>
            <a:fld id="{132FADFE-3B8F-471C-ABF0-DBC7717ECBBC}" type="slidenum">
              <a:rPr lang="es-ES" smtClean="0"/>
              <a:pPr/>
              <a:t>59</a:t>
            </a:fld>
            <a:endParaRPr lang="es-ES"/>
          </a:p>
        </p:txBody>
      </p:sp>
      <p:sp>
        <p:nvSpPr>
          <p:cNvPr id="5" name="4 Rectángulo"/>
          <p:cNvSpPr/>
          <p:nvPr/>
        </p:nvSpPr>
        <p:spPr>
          <a:xfrm>
            <a:off x="2639616" y="3356992"/>
            <a:ext cx="8064896" cy="2308324"/>
          </a:xfrm>
          <a:prstGeom prst="rect">
            <a:avLst/>
          </a:prstGeom>
          <a:gradFill flip="none" rotWithShape="1">
            <a:gsLst>
              <a:gs pos="0">
                <a:schemeClr val="accent6">
                  <a:tint val="66000"/>
                  <a:satMod val="160000"/>
                </a:schemeClr>
              </a:gs>
              <a:gs pos="50000">
                <a:schemeClr val="accent6">
                  <a:tint val="44500"/>
                  <a:satMod val="160000"/>
                </a:schemeClr>
              </a:gs>
              <a:gs pos="100000">
                <a:schemeClr val="accent6">
                  <a:tint val="23500"/>
                  <a:satMod val="160000"/>
                </a:schemeClr>
              </a:gs>
            </a:gsLst>
            <a:lin ang="5400000" scaled="1"/>
            <a:tileRect/>
          </a:gradFill>
        </p:spPr>
        <p:txBody>
          <a:bodyPr wrap="square">
            <a:spAutoFit/>
          </a:bodyPr>
          <a:lstStyle/>
          <a:p>
            <a:r>
              <a:rPr lang="en-US" sz="2400" dirty="0"/>
              <a:t>“…strong, auditable processes are necessary if we are to have</a:t>
            </a:r>
          </a:p>
          <a:p>
            <a:r>
              <a:rPr lang="en-US" sz="2400" dirty="0"/>
              <a:t>confidence in the product, but the fact that a process has been followed in developing a product does not tell you anything about the properties of the </a:t>
            </a:r>
            <a:r>
              <a:rPr lang="es-ES" sz="2400" dirty="0" err="1"/>
              <a:t>product</a:t>
            </a:r>
            <a:r>
              <a:rPr lang="es-ES" sz="2400" dirty="0"/>
              <a:t> </a:t>
            </a:r>
            <a:r>
              <a:rPr lang="es-ES" sz="2400" dirty="0" err="1"/>
              <a:t>itself</a:t>
            </a:r>
            <a:r>
              <a:rPr lang="es-ES" sz="2400" dirty="0"/>
              <a:t>.”</a:t>
            </a:r>
          </a:p>
          <a:p>
            <a:endParaRPr lang="es-ES" sz="2400" dirty="0"/>
          </a:p>
          <a:p>
            <a:pPr marL="342900" indent="-342900" algn="r"/>
            <a:r>
              <a:rPr lang="es-ES" sz="2400" dirty="0" err="1"/>
              <a:t>Martyn</a:t>
            </a:r>
            <a:r>
              <a:rPr lang="es-ES" sz="2400" dirty="0"/>
              <a:t> Thomas, “</a:t>
            </a:r>
            <a:r>
              <a:rPr lang="es-ES" sz="2400" dirty="0" err="1"/>
              <a:t>Engineering</a:t>
            </a:r>
            <a:r>
              <a:rPr lang="es-ES" sz="2400" dirty="0"/>
              <a:t> </a:t>
            </a:r>
            <a:r>
              <a:rPr lang="es-ES" sz="2400" dirty="0" err="1"/>
              <a:t>Judgement</a:t>
            </a:r>
            <a:r>
              <a:rPr lang="es-ES" sz="2400" dirty="0"/>
              <a:t>”, 2004</a:t>
            </a:r>
            <a:endParaRPr lang="es-ES" dirty="0"/>
          </a:p>
        </p:txBody>
      </p:sp>
    </p:spTree>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73322</TotalTime>
  <Words>5313</Words>
  <Application>Microsoft Macintosh PowerPoint</Application>
  <PresentationFormat>Panorámica</PresentationFormat>
  <Paragraphs>495</Paragraphs>
  <Slides>59</Slides>
  <Notes>12</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59</vt:i4>
      </vt:variant>
    </vt:vector>
  </HeadingPairs>
  <TitlesOfParts>
    <vt:vector size="63" baseType="lpstr">
      <vt:lpstr>Arial</vt:lpstr>
      <vt:lpstr>Calibri</vt:lpstr>
      <vt:lpstr>Open Sans</vt:lpstr>
      <vt:lpstr>Tema de Office</vt:lpstr>
      <vt:lpstr>Tema 1. Introducción a los Sistemas Críticos</vt:lpstr>
      <vt:lpstr>Introducción a los Sistemas Críticos</vt:lpstr>
      <vt:lpstr>Sistemas Críticos</vt:lpstr>
      <vt:lpstr>El Software en los Accidentes</vt:lpstr>
      <vt:lpstr>Seguridad y Fallos</vt:lpstr>
      <vt:lpstr>Propiedades Emergentes</vt:lpstr>
      <vt:lpstr>Propiedades Emergentes</vt:lpstr>
      <vt:lpstr>Modelos Causales</vt:lpstr>
      <vt:lpstr>Cadenas de Eventos Causales</vt:lpstr>
      <vt:lpstr>Ejemplo de Análisis Causal</vt:lpstr>
      <vt:lpstr>Objetivos Análisis Causal</vt:lpstr>
      <vt:lpstr>Seguridad y Análisis Causal</vt:lpstr>
      <vt:lpstr>Safety I vs Safety II</vt:lpstr>
      <vt:lpstr>Safety I vs Safety II</vt:lpstr>
      <vt:lpstr>Safety I vs Safety II</vt:lpstr>
      <vt:lpstr>Safety I vs Safety II</vt:lpstr>
      <vt:lpstr>Más allá de los accidentes SOTIF: Safety of the Intended Functionality</vt:lpstr>
      <vt:lpstr>Más allá de los accidentes SOTIF: Safety of the Intended Functionality</vt:lpstr>
      <vt:lpstr> Machine Learning y SOTIF  </vt:lpstr>
      <vt:lpstr> Machine Learning y SOTIF  </vt:lpstr>
      <vt:lpstr> Machine Learning y SOTIF  </vt:lpstr>
      <vt:lpstr> Machine Learning y SOTIF  </vt:lpstr>
      <vt:lpstr>Terminología Peligro, Riesgo, Mitigación y Riesgo Residual</vt:lpstr>
      <vt:lpstr>Terminología Peligro, Riesgo, Mitigación y Riesgo Residual</vt:lpstr>
      <vt:lpstr>Terminología Peligro, Riesgo, Mitigación y Riesgo Residual</vt:lpstr>
      <vt:lpstr>Terminología Peligro, Riesgo, Mitigación y Riesgo Residual</vt:lpstr>
      <vt:lpstr>Terminología Disponibilidad, Fiabilidad y Predecibilidad</vt:lpstr>
      <vt:lpstr>Terminología Disponibilidad, Fiabilidad y Predecibilidad</vt:lpstr>
      <vt:lpstr>Disponibilidad</vt:lpstr>
      <vt:lpstr>Seguridad funcional</vt:lpstr>
      <vt:lpstr>Defectos, Errores y Fallos Fault, Error, Failure</vt:lpstr>
      <vt:lpstr>Fallos y Errores Fault, Failure, Error</vt:lpstr>
      <vt:lpstr>Recuperación de errores  hacia atrás y hacia adelante</vt:lpstr>
      <vt:lpstr>Terminología Sistemas Accidentales</vt:lpstr>
      <vt:lpstr>Terminología ¿Qué consideramos software?</vt:lpstr>
      <vt:lpstr>Terminología Heisenbugs y Bohrbugs</vt:lpstr>
      <vt:lpstr>Terminología Heisenbugs y Bohrbugs</vt:lpstr>
      <vt:lpstr>Estándares de Seguridad y Certificación</vt:lpstr>
      <vt:lpstr>El Proceso de Certificación</vt:lpstr>
      <vt:lpstr>Estándares de Seguridad y Certificación</vt:lpstr>
      <vt:lpstr>Estándares de Seguridad y Certificación</vt:lpstr>
      <vt:lpstr>Estándares de Seguridad y Certificación</vt:lpstr>
      <vt:lpstr>Estándares de Seguridad y Certificación</vt:lpstr>
      <vt:lpstr>Estándares de Seguridad Funcional IEC 61508</vt:lpstr>
      <vt:lpstr>Estándares de Seguridad Funcional IEC 61508</vt:lpstr>
      <vt:lpstr>Estándares de Seguridad Funcional IEC 61508</vt:lpstr>
      <vt:lpstr>IEC 61508 SIL: Safety Integrity Level</vt:lpstr>
      <vt:lpstr>IEC 61508 Probabilidades de fallo SIL4</vt:lpstr>
      <vt:lpstr>IEC 61508 SIL: Safety Integrity Level</vt:lpstr>
      <vt:lpstr>ISO 26262 </vt:lpstr>
      <vt:lpstr>ISO 26262 </vt:lpstr>
      <vt:lpstr>ISO 26262 </vt:lpstr>
      <vt:lpstr>ISO 26262 </vt:lpstr>
      <vt:lpstr>ISO 26262 </vt:lpstr>
      <vt:lpstr>ISO 26262 </vt:lpstr>
      <vt:lpstr> ISO 26262 SEooCs </vt:lpstr>
      <vt:lpstr>  IEC 62304  </vt:lpstr>
      <vt:lpstr>  IEC 62304  </vt:lpstr>
      <vt:lpstr>Procesos y Estándares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 safety: avoiding overturns and farmland monitoring using WSANs and the USEME framework</dc:title>
  <dc:creator>MDR</dc:creator>
  <cp:lastModifiedBy>Juan Carlos Alcausa Luque</cp:lastModifiedBy>
  <cp:revision>1695</cp:revision>
  <cp:lastPrinted>2013-09-03T09:57:40Z</cp:lastPrinted>
  <dcterms:modified xsi:type="dcterms:W3CDTF">2025-11-09T23:04:41Z</dcterms:modified>
</cp:coreProperties>
</file>